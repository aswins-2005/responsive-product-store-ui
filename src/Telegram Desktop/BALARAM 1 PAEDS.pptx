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5113000" cy="10693400"/>
  <p:notesSz cx="6858000" cy="9144000"/>
  <p:embeddedFontLst>
    <p:embeddedFont>
      <p:font typeface="IBM Plex Sans Bold" charset="0"/>
      <p:regular r:id="rId11"/>
    </p:embeddedFont>
    <p:embeddedFont>
      <p:font typeface="IBM Plex Sans" charset="0"/>
      <p:regular r:id="rId12"/>
    </p:embeddedFont>
    <p:embeddedFont>
      <p:font typeface="Calibri (MS) Bold" charset="0"/>
      <p:regular r:id="rId13"/>
    </p:embeddedFont>
    <p:embeddedFont>
      <p:font typeface="Calibri (MS)" charset="0"/>
      <p:regular r:id="rId14"/>
    </p:embeddedFont>
    <p:embeddedFont>
      <p:font typeface="Cambria Bold" charset="0"/>
      <p:regular r:id="rId15"/>
    </p:embeddedFont>
    <p:embeddedFont>
      <p:font typeface="Calibri" pitchFamily="34" charset="0"/>
      <p:regular r:id="rId16"/>
      <p:bold r:id="rId17"/>
      <p:italic r:id="rId18"/>
      <p:boldItalic r:id="rId19"/>
    </p:embeddedFont>
    <p:embeddedFont>
      <p:font typeface="Cambria Bold Italics" charset="0"/>
      <p:regular r:id="rId20"/>
    </p:embeddedFont>
    <p:embeddedFont>
      <p:font typeface="Cambria" pitchFamily="18"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15" autoAdjust="0"/>
    <p:restoredTop sz="94622" autoAdjust="0"/>
  </p:normalViewPr>
  <p:slideViewPr>
    <p:cSldViewPr>
      <p:cViewPr>
        <p:scale>
          <a:sx n="64" d="100"/>
          <a:sy n="64" d="100"/>
        </p:scale>
        <p:origin x="-372" y="4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708485-A10A-49F0-BB1D-044E5E21927B}" type="datetimeFigureOut">
              <a:rPr lang="en-US" smtClean="0"/>
              <a:pPr/>
              <a:t>1/19/2025</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4C2F56-6CB4-43F1-B1C7-516A1D503BA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3" y="-1"/>
            <a:ext cx="15119985" cy="10692127"/>
          </a:xfrm>
          <a:custGeom>
            <a:avLst/>
            <a:gdLst/>
            <a:ahLst/>
            <a:cxnLst/>
            <a:rect l="l" t="t" r="r" b="b"/>
            <a:pathLst>
              <a:path w="15119985" h="10692127">
                <a:moveTo>
                  <a:pt x="0" y="0"/>
                </a:moveTo>
                <a:lnTo>
                  <a:pt x="15119985" y="0"/>
                </a:lnTo>
                <a:lnTo>
                  <a:pt x="15119985" y="10692127"/>
                </a:lnTo>
                <a:lnTo>
                  <a:pt x="0" y="10692127"/>
                </a:lnTo>
                <a:lnTo>
                  <a:pt x="0" y="0"/>
                </a:lnTo>
                <a:close/>
              </a:path>
            </a:pathLst>
          </a:custGeom>
          <a:blipFill>
            <a:blip r:embed="rId2"/>
            <a:stretch>
              <a:fillRect/>
            </a:stretch>
          </a:blipFill>
        </p:spPr>
      </p:sp>
      <p:grpSp>
        <p:nvGrpSpPr>
          <p:cNvPr id="5" name="Group 5"/>
          <p:cNvGrpSpPr>
            <a:grpSpLocks noChangeAspect="1"/>
          </p:cNvGrpSpPr>
          <p:nvPr/>
        </p:nvGrpSpPr>
        <p:grpSpPr>
          <a:xfrm>
            <a:off x="5908672" y="3617595"/>
            <a:ext cx="3310252" cy="3300727"/>
            <a:chOff x="0" y="0"/>
            <a:chExt cx="3310255" cy="3300730"/>
          </a:xfrm>
        </p:grpSpPr>
        <p:sp>
          <p:nvSpPr>
            <p:cNvPr id="6" name="Freeform 6"/>
            <p:cNvSpPr/>
            <p:nvPr/>
          </p:nvSpPr>
          <p:spPr>
            <a:xfrm>
              <a:off x="-147574" y="12700"/>
              <a:ext cx="3605530" cy="3275330"/>
            </a:xfrm>
            <a:custGeom>
              <a:avLst/>
              <a:gdLst/>
              <a:ahLst/>
              <a:cxnLst/>
              <a:rect l="l" t="t" r="r" b="b"/>
              <a:pathLst>
                <a:path w="3605530" h="3275330">
                  <a:moveTo>
                    <a:pt x="1802765" y="25400"/>
                  </a:moveTo>
                  <a:cubicBezTo>
                    <a:pt x="2216658" y="25400"/>
                    <a:pt x="2630424" y="182753"/>
                    <a:pt x="2946146" y="497586"/>
                  </a:cubicBezTo>
                  <a:lnTo>
                    <a:pt x="2946146" y="497586"/>
                  </a:lnTo>
                  <a:cubicBezTo>
                    <a:pt x="3576447" y="1126109"/>
                    <a:pt x="3577590" y="2144395"/>
                    <a:pt x="2949575" y="2774188"/>
                  </a:cubicBezTo>
                  <a:cubicBezTo>
                    <a:pt x="2948432" y="2775331"/>
                    <a:pt x="2947289" y="2776474"/>
                    <a:pt x="2946146" y="2777617"/>
                  </a:cubicBezTo>
                  <a:lnTo>
                    <a:pt x="2946146" y="2777617"/>
                  </a:lnTo>
                  <a:cubicBezTo>
                    <a:pt x="2630424" y="3092450"/>
                    <a:pt x="2216531" y="3249803"/>
                    <a:pt x="1802765" y="3249803"/>
                  </a:cubicBezTo>
                  <a:cubicBezTo>
                    <a:pt x="1388999" y="3249803"/>
                    <a:pt x="975106" y="3092450"/>
                    <a:pt x="659384" y="2777617"/>
                  </a:cubicBezTo>
                  <a:cubicBezTo>
                    <a:pt x="28956" y="2149221"/>
                    <a:pt x="27813" y="1130935"/>
                    <a:pt x="655828" y="501015"/>
                  </a:cubicBezTo>
                  <a:cubicBezTo>
                    <a:pt x="656971" y="499872"/>
                    <a:pt x="658114" y="498729"/>
                    <a:pt x="659257" y="497586"/>
                  </a:cubicBezTo>
                  <a:cubicBezTo>
                    <a:pt x="974979" y="182753"/>
                    <a:pt x="1388872" y="25400"/>
                    <a:pt x="1802765" y="25400"/>
                  </a:cubicBezTo>
                  <a:close/>
                  <a:moveTo>
                    <a:pt x="1802765" y="0"/>
                  </a:moveTo>
                  <a:cubicBezTo>
                    <a:pt x="1382395" y="0"/>
                    <a:pt x="962025" y="159893"/>
                    <a:pt x="641350" y="479679"/>
                  </a:cubicBezTo>
                  <a:lnTo>
                    <a:pt x="649732" y="488061"/>
                  </a:lnTo>
                  <a:lnTo>
                    <a:pt x="641350" y="479679"/>
                  </a:lnTo>
                  <a:cubicBezTo>
                    <a:pt x="640207" y="480822"/>
                    <a:pt x="639064" y="481965"/>
                    <a:pt x="637921" y="483108"/>
                  </a:cubicBezTo>
                  <a:cubicBezTo>
                    <a:pt x="0" y="1122934"/>
                    <a:pt x="1143" y="2157222"/>
                    <a:pt x="641350" y="2795651"/>
                  </a:cubicBezTo>
                  <a:lnTo>
                    <a:pt x="641350" y="2795651"/>
                  </a:lnTo>
                  <a:cubicBezTo>
                    <a:pt x="962025" y="3115437"/>
                    <a:pt x="1382395" y="3275330"/>
                    <a:pt x="1802765" y="3275330"/>
                  </a:cubicBezTo>
                  <a:cubicBezTo>
                    <a:pt x="2223135" y="3275330"/>
                    <a:pt x="2643378" y="3115437"/>
                    <a:pt x="2964180" y="2795651"/>
                  </a:cubicBezTo>
                  <a:cubicBezTo>
                    <a:pt x="2965323" y="2794508"/>
                    <a:pt x="2966466" y="2793365"/>
                    <a:pt x="2967609" y="2792222"/>
                  </a:cubicBezTo>
                  <a:cubicBezTo>
                    <a:pt x="3605530" y="2152396"/>
                    <a:pt x="3604387" y="1118108"/>
                    <a:pt x="2964180" y="479679"/>
                  </a:cubicBezTo>
                  <a:cubicBezTo>
                    <a:pt x="2643378" y="159893"/>
                    <a:pt x="2223008" y="0"/>
                    <a:pt x="1802765" y="0"/>
                  </a:cubicBezTo>
                  <a:close/>
                </a:path>
              </a:pathLst>
            </a:custGeom>
            <a:solidFill>
              <a:srgbClr val="3A5E8A"/>
            </a:solidFill>
          </p:spPr>
        </p:sp>
      </p:grpSp>
      <p:sp>
        <p:nvSpPr>
          <p:cNvPr id="7" name="TextBox 7"/>
          <p:cNvSpPr txBox="1"/>
          <p:nvPr/>
        </p:nvSpPr>
        <p:spPr>
          <a:xfrm>
            <a:off x="4217784" y="7754407"/>
            <a:ext cx="6887099" cy="1333698"/>
          </a:xfrm>
          <a:prstGeom prst="rect">
            <a:avLst/>
          </a:prstGeom>
        </p:spPr>
        <p:txBody>
          <a:bodyPr lIns="0" tIns="0" rIns="0" bIns="0" rtlCol="0" anchor="t">
            <a:spAutoFit/>
          </a:bodyPr>
          <a:lstStyle/>
          <a:p>
            <a:pPr algn="ctr">
              <a:lnSpc>
                <a:spcPts val="3235"/>
              </a:lnSpc>
            </a:pPr>
            <a:r>
              <a:rPr lang="en-US" sz="2550" b="1" spc="-5" dirty="0">
                <a:solidFill>
                  <a:srgbClr val="FFFFFF"/>
                </a:solidFill>
                <a:latin typeface="IBM Plex Sans Bold"/>
                <a:ea typeface="IBM Plex Sans Bold"/>
                <a:cs typeface="IBM Plex Sans Bold"/>
                <a:sym typeface="IBM Plex Sans Bold"/>
              </a:rPr>
              <a:t>Dr. </a:t>
            </a:r>
            <a:r>
              <a:rPr lang="en-US" sz="2550" b="1" spc="-5" dirty="0" smtClean="0">
                <a:solidFill>
                  <a:srgbClr val="FFFFFF"/>
                </a:solidFill>
                <a:latin typeface="IBM Plex Sans Bold"/>
                <a:ea typeface="IBM Plex Sans Bold"/>
                <a:cs typeface="IBM Plex Sans Bold"/>
                <a:sym typeface="IBM Plex Sans Bold"/>
              </a:rPr>
              <a:t>BALARAM</a:t>
            </a:r>
          </a:p>
          <a:p>
            <a:pPr algn="ctr">
              <a:lnSpc>
                <a:spcPts val="3235"/>
              </a:lnSpc>
            </a:pPr>
            <a:r>
              <a:rPr lang="en-US" sz="2550" b="1" spc="-5" dirty="0" smtClean="0">
                <a:solidFill>
                  <a:srgbClr val="FFFFFF"/>
                </a:solidFill>
                <a:latin typeface="IBM Plex Sans Bold"/>
                <a:ea typeface="IBM Plex Sans Bold"/>
                <a:cs typeface="IBM Plex Sans Bold"/>
                <a:sym typeface="IBM Plex Sans Bold"/>
              </a:rPr>
              <a:t> PROMETHEANS </a:t>
            </a:r>
            <a:r>
              <a:rPr lang="en-US" sz="2550" b="1" spc="-5" dirty="0">
                <a:solidFill>
                  <a:srgbClr val="FFFFFF"/>
                </a:solidFill>
                <a:latin typeface="IBM Plex Sans Bold"/>
                <a:ea typeface="IBM Plex Sans Bold"/>
                <a:cs typeface="IBM Plex Sans Bold"/>
                <a:sym typeface="IBM Plex Sans Bold"/>
              </a:rPr>
              <a:t>[</a:t>
            </a:r>
            <a:r>
              <a:rPr lang="en-US" sz="2550" b="1" spc="-5" dirty="0" smtClean="0">
                <a:solidFill>
                  <a:srgbClr val="FFFFFF"/>
                </a:solidFill>
                <a:latin typeface="IBM Plex Sans Bold"/>
                <a:ea typeface="IBM Plex Sans Bold"/>
                <a:cs typeface="IBM Plex Sans Bold"/>
                <a:sym typeface="IBM Plex Sans Bold"/>
              </a:rPr>
              <a:t>2020 </a:t>
            </a:r>
            <a:r>
              <a:rPr lang="en-US" sz="2550" b="1" spc="-5" dirty="0">
                <a:solidFill>
                  <a:srgbClr val="FFFFFF"/>
                </a:solidFill>
                <a:latin typeface="IBM Plex Sans Bold"/>
                <a:ea typeface="IBM Plex Sans Bold"/>
                <a:cs typeface="IBM Plex Sans Bold"/>
                <a:sym typeface="IBM Plex Sans Bold"/>
              </a:rPr>
              <a:t>– </a:t>
            </a:r>
            <a:r>
              <a:rPr lang="en-US" sz="2550" b="1" spc="-5" dirty="0" smtClean="0">
                <a:solidFill>
                  <a:srgbClr val="FFFFFF"/>
                </a:solidFill>
                <a:latin typeface="IBM Plex Sans Bold"/>
                <a:ea typeface="IBM Plex Sans Bold"/>
                <a:cs typeface="IBM Plex Sans Bold"/>
                <a:sym typeface="IBM Plex Sans Bold"/>
              </a:rPr>
              <a:t>2025]</a:t>
            </a:r>
            <a:endParaRPr lang="en-US" sz="2550" b="1" spc="-5" dirty="0">
              <a:solidFill>
                <a:srgbClr val="FFFFFF"/>
              </a:solidFill>
              <a:latin typeface="IBM Plex Sans Bold"/>
              <a:ea typeface="IBM Plex Sans Bold"/>
              <a:cs typeface="IBM Plex Sans Bold"/>
              <a:sym typeface="IBM Plex Sans Bold"/>
            </a:endParaRPr>
          </a:p>
          <a:p>
            <a:pPr algn="ctr">
              <a:lnSpc>
                <a:spcPts val="1999"/>
              </a:lnSpc>
            </a:pPr>
            <a:r>
              <a:rPr lang="en-US" sz="1700" spc="-3" dirty="0" err="1">
                <a:solidFill>
                  <a:srgbClr val="FFFFFF"/>
                </a:solidFill>
                <a:latin typeface="IBM Plex Sans"/>
                <a:ea typeface="IBM Plex Sans"/>
                <a:cs typeface="IBM Plex Sans"/>
                <a:sym typeface="IBM Plex Sans"/>
              </a:rPr>
              <a:t>Saveetha</a:t>
            </a:r>
            <a:r>
              <a:rPr lang="en-US" sz="1700" spc="-3" dirty="0">
                <a:solidFill>
                  <a:srgbClr val="FFFFFF"/>
                </a:solidFill>
                <a:latin typeface="IBM Plex Sans"/>
                <a:ea typeface="IBM Plex Sans"/>
                <a:cs typeface="IBM Plex Sans"/>
                <a:sym typeface="IBM Plex Sans"/>
              </a:rPr>
              <a:t> Medical College, </a:t>
            </a:r>
            <a:r>
              <a:rPr lang="en-US" sz="1700" spc="-3" dirty="0" err="1">
                <a:solidFill>
                  <a:srgbClr val="FFFFFF"/>
                </a:solidFill>
                <a:latin typeface="IBM Plex Sans"/>
                <a:ea typeface="IBM Plex Sans"/>
                <a:cs typeface="IBM Plex Sans"/>
                <a:sym typeface="IBM Plex Sans"/>
              </a:rPr>
              <a:t>Saveetha</a:t>
            </a:r>
            <a:r>
              <a:rPr lang="en-US" sz="1700" spc="-3" dirty="0">
                <a:solidFill>
                  <a:srgbClr val="FFFFFF"/>
                </a:solidFill>
                <a:latin typeface="IBM Plex Sans"/>
                <a:ea typeface="IBM Plex Sans"/>
                <a:cs typeface="IBM Plex Sans"/>
                <a:sym typeface="IBM Plex Sans"/>
              </a:rPr>
              <a:t> Institute of Medical and Technical Sciences.</a:t>
            </a:r>
          </a:p>
        </p:txBody>
      </p:sp>
      <p:pic>
        <p:nvPicPr>
          <p:cNvPr id="8" name="Picture 7" descr="photo_2025-01-07_21-49-11.jpg"/>
          <p:cNvPicPr>
            <a:picLocks noChangeAspect="1"/>
          </p:cNvPicPr>
          <p:nvPr/>
        </p:nvPicPr>
        <p:blipFill>
          <a:blip r:embed="rId3"/>
          <a:stretch>
            <a:fillRect/>
          </a:stretch>
        </p:blipFill>
        <p:spPr>
          <a:xfrm>
            <a:off x="5913426" y="3632188"/>
            <a:ext cx="3286148" cy="328614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a:grpSpLocks noChangeAspect="1"/>
          </p:cNvGrpSpPr>
          <p:nvPr/>
        </p:nvGrpSpPr>
        <p:grpSpPr>
          <a:xfrm>
            <a:off x="397507" y="417833"/>
            <a:ext cx="6760207" cy="2068192"/>
            <a:chOff x="0" y="0"/>
            <a:chExt cx="6760210" cy="2068195"/>
          </a:xfrm>
        </p:grpSpPr>
        <p:sp>
          <p:nvSpPr>
            <p:cNvPr id="5" name="Freeform 5"/>
            <p:cNvSpPr/>
            <p:nvPr/>
          </p:nvSpPr>
          <p:spPr>
            <a:xfrm>
              <a:off x="63500" y="63500"/>
              <a:ext cx="6633210" cy="1941195"/>
            </a:xfrm>
            <a:custGeom>
              <a:avLst/>
              <a:gdLst/>
              <a:ahLst/>
              <a:cxnLst/>
              <a:rect l="l" t="t" r="r" b="b"/>
              <a:pathLst>
                <a:path w="6633210" h="1941195">
                  <a:moveTo>
                    <a:pt x="0" y="1941195"/>
                  </a:moveTo>
                  <a:lnTo>
                    <a:pt x="6633210" y="1941195"/>
                  </a:lnTo>
                  <a:lnTo>
                    <a:pt x="6633210" y="0"/>
                  </a:lnTo>
                  <a:lnTo>
                    <a:pt x="0" y="0"/>
                  </a:lnTo>
                  <a:lnTo>
                    <a:pt x="0" y="1941195"/>
                  </a:lnTo>
                  <a:close/>
                </a:path>
              </a:pathLst>
            </a:custGeom>
            <a:solidFill>
              <a:srgbClr val="376092"/>
            </a:solidFill>
          </p:spPr>
        </p:sp>
        <p:sp>
          <p:nvSpPr>
            <p:cNvPr id="6" name="Freeform 6"/>
            <p:cNvSpPr/>
            <p:nvPr/>
          </p:nvSpPr>
          <p:spPr>
            <a:xfrm>
              <a:off x="465455" y="519557"/>
              <a:ext cx="5829300" cy="17526"/>
            </a:xfrm>
            <a:custGeom>
              <a:avLst/>
              <a:gdLst/>
              <a:ahLst/>
              <a:cxnLst/>
              <a:rect l="l" t="t" r="r" b="b"/>
              <a:pathLst>
                <a:path w="5829300" h="17526">
                  <a:moveTo>
                    <a:pt x="0" y="0"/>
                  </a:moveTo>
                  <a:lnTo>
                    <a:pt x="5829300" y="0"/>
                  </a:lnTo>
                  <a:lnTo>
                    <a:pt x="5829300" y="17526"/>
                  </a:lnTo>
                  <a:lnTo>
                    <a:pt x="0" y="17526"/>
                  </a:lnTo>
                  <a:close/>
                </a:path>
              </a:pathLst>
            </a:custGeom>
            <a:solidFill>
              <a:srgbClr val="FFFFFF"/>
            </a:solidFill>
          </p:spPr>
        </p:sp>
        <p:sp>
          <p:nvSpPr>
            <p:cNvPr id="7" name="Freeform 7"/>
            <p:cNvSpPr/>
            <p:nvPr/>
          </p:nvSpPr>
          <p:spPr>
            <a:xfrm>
              <a:off x="465455" y="1531112"/>
              <a:ext cx="5829300" cy="17526"/>
            </a:xfrm>
            <a:custGeom>
              <a:avLst/>
              <a:gdLst/>
              <a:ahLst/>
              <a:cxnLst/>
              <a:rect l="l" t="t" r="r" b="b"/>
              <a:pathLst>
                <a:path w="5829300" h="17526">
                  <a:moveTo>
                    <a:pt x="0" y="0"/>
                  </a:moveTo>
                  <a:lnTo>
                    <a:pt x="5829300" y="0"/>
                  </a:lnTo>
                  <a:lnTo>
                    <a:pt x="5829300" y="17526"/>
                  </a:lnTo>
                  <a:lnTo>
                    <a:pt x="0" y="17526"/>
                  </a:lnTo>
                  <a:close/>
                </a:path>
              </a:pathLst>
            </a:custGeom>
            <a:solidFill>
              <a:srgbClr val="FFFFFF"/>
            </a:solidFill>
          </p:spPr>
        </p:sp>
      </p:grpSp>
      <p:grpSp>
        <p:nvGrpSpPr>
          <p:cNvPr id="9" name="Group 9"/>
          <p:cNvGrpSpPr>
            <a:grpSpLocks noChangeAspect="1"/>
          </p:cNvGrpSpPr>
          <p:nvPr/>
        </p:nvGrpSpPr>
        <p:grpSpPr>
          <a:xfrm>
            <a:off x="4560232" y="6815808"/>
            <a:ext cx="2683393" cy="3538644"/>
            <a:chOff x="0" y="0"/>
            <a:chExt cx="2619159" cy="3453955"/>
          </a:xfrm>
        </p:grpSpPr>
        <p:sp>
          <p:nvSpPr>
            <p:cNvPr id="10" name="Freeform 10"/>
            <p:cNvSpPr/>
            <p:nvPr/>
          </p:nvSpPr>
          <p:spPr>
            <a:xfrm>
              <a:off x="63500" y="63500"/>
              <a:ext cx="2486660" cy="2370455"/>
            </a:xfrm>
            <a:custGeom>
              <a:avLst/>
              <a:gdLst/>
              <a:ahLst/>
              <a:cxnLst/>
              <a:rect l="l" t="t" r="r" b="b"/>
              <a:pathLst>
                <a:path w="2486660" h="2370455">
                  <a:moveTo>
                    <a:pt x="0" y="2370455"/>
                  </a:moveTo>
                  <a:lnTo>
                    <a:pt x="2486660" y="2370455"/>
                  </a:lnTo>
                  <a:lnTo>
                    <a:pt x="2486660" y="0"/>
                  </a:lnTo>
                  <a:lnTo>
                    <a:pt x="0" y="0"/>
                  </a:lnTo>
                  <a:lnTo>
                    <a:pt x="0" y="2370455"/>
                  </a:lnTo>
                  <a:close/>
                </a:path>
              </a:pathLst>
            </a:custGeom>
            <a:solidFill>
              <a:srgbClr val="FFAE70"/>
            </a:solidFill>
          </p:spPr>
        </p:sp>
        <p:sp>
          <p:nvSpPr>
            <p:cNvPr id="11" name="Freeform 11"/>
            <p:cNvSpPr/>
            <p:nvPr/>
          </p:nvSpPr>
          <p:spPr>
            <a:xfrm>
              <a:off x="68961" y="783463"/>
              <a:ext cx="2486660" cy="2606929"/>
            </a:xfrm>
            <a:custGeom>
              <a:avLst/>
              <a:gdLst/>
              <a:ahLst/>
              <a:cxnLst/>
              <a:rect l="l" t="t" r="r" b="b"/>
              <a:pathLst>
                <a:path w="2486660" h="2606929">
                  <a:moveTo>
                    <a:pt x="0" y="2606929"/>
                  </a:moveTo>
                  <a:lnTo>
                    <a:pt x="2486660" y="2606929"/>
                  </a:lnTo>
                  <a:lnTo>
                    <a:pt x="2486660" y="0"/>
                  </a:lnTo>
                  <a:lnTo>
                    <a:pt x="0" y="0"/>
                  </a:lnTo>
                  <a:lnTo>
                    <a:pt x="0" y="2606929"/>
                  </a:lnTo>
                  <a:close/>
                </a:path>
              </a:pathLst>
            </a:custGeom>
            <a:solidFill>
              <a:srgbClr val="018391"/>
            </a:solidFill>
          </p:spPr>
        </p:sp>
      </p:grpSp>
      <p:grpSp>
        <p:nvGrpSpPr>
          <p:cNvPr id="12" name="Group 12"/>
          <p:cNvGrpSpPr>
            <a:grpSpLocks noChangeAspect="1"/>
          </p:cNvGrpSpPr>
          <p:nvPr/>
        </p:nvGrpSpPr>
        <p:grpSpPr>
          <a:xfrm>
            <a:off x="4620263" y="3054982"/>
            <a:ext cx="2486663" cy="2370458"/>
            <a:chOff x="0" y="0"/>
            <a:chExt cx="2486660" cy="2370455"/>
          </a:xfrm>
        </p:grpSpPr>
        <p:sp>
          <p:nvSpPr>
            <p:cNvPr id="13" name="Freeform 13"/>
            <p:cNvSpPr/>
            <p:nvPr/>
          </p:nvSpPr>
          <p:spPr>
            <a:xfrm>
              <a:off x="0" y="0"/>
              <a:ext cx="2486660" cy="2370455"/>
            </a:xfrm>
            <a:custGeom>
              <a:avLst/>
              <a:gdLst/>
              <a:ahLst/>
              <a:cxnLst/>
              <a:rect l="l" t="t" r="r" b="b"/>
              <a:pathLst>
                <a:path w="2486660" h="2370455">
                  <a:moveTo>
                    <a:pt x="0" y="2370455"/>
                  </a:moveTo>
                  <a:lnTo>
                    <a:pt x="2486660" y="2370455"/>
                  </a:lnTo>
                  <a:lnTo>
                    <a:pt x="2486660" y="0"/>
                  </a:lnTo>
                  <a:lnTo>
                    <a:pt x="0" y="0"/>
                  </a:lnTo>
                  <a:lnTo>
                    <a:pt x="0" y="2370455"/>
                  </a:lnTo>
                  <a:close/>
                </a:path>
              </a:pathLst>
            </a:custGeom>
            <a:solidFill>
              <a:srgbClr val="F4DBAB"/>
            </a:solidFill>
          </p:spPr>
        </p:sp>
      </p:grpSp>
      <p:grpSp>
        <p:nvGrpSpPr>
          <p:cNvPr id="14" name="Group 14"/>
          <p:cNvGrpSpPr>
            <a:grpSpLocks noChangeAspect="1"/>
          </p:cNvGrpSpPr>
          <p:nvPr/>
        </p:nvGrpSpPr>
        <p:grpSpPr>
          <a:xfrm>
            <a:off x="7569203" y="1772917"/>
            <a:ext cx="7142483" cy="6644002"/>
            <a:chOff x="0" y="0"/>
            <a:chExt cx="7142480" cy="6644005"/>
          </a:xfrm>
        </p:grpSpPr>
        <p:sp>
          <p:nvSpPr>
            <p:cNvPr id="15" name="Freeform 15"/>
            <p:cNvSpPr/>
            <p:nvPr/>
          </p:nvSpPr>
          <p:spPr>
            <a:xfrm>
              <a:off x="0" y="0"/>
              <a:ext cx="7142480" cy="6644005"/>
            </a:xfrm>
            <a:custGeom>
              <a:avLst/>
              <a:gdLst/>
              <a:ahLst/>
              <a:cxnLst/>
              <a:rect l="l" t="t" r="r" b="b"/>
              <a:pathLst>
                <a:path w="7142480" h="6644005">
                  <a:moveTo>
                    <a:pt x="0" y="6644005"/>
                  </a:moveTo>
                  <a:lnTo>
                    <a:pt x="7142480" y="6644005"/>
                  </a:lnTo>
                  <a:lnTo>
                    <a:pt x="7142480" y="0"/>
                  </a:lnTo>
                  <a:lnTo>
                    <a:pt x="0" y="0"/>
                  </a:lnTo>
                  <a:close/>
                </a:path>
              </a:pathLst>
            </a:custGeom>
            <a:solidFill>
              <a:srgbClr val="FFFFFF"/>
            </a:solidFill>
          </p:spPr>
        </p:sp>
      </p:grpSp>
      <p:sp>
        <p:nvSpPr>
          <p:cNvPr id="16" name="TextBox 16"/>
          <p:cNvSpPr txBox="1"/>
          <p:nvPr/>
        </p:nvSpPr>
        <p:spPr>
          <a:xfrm>
            <a:off x="813383" y="603856"/>
            <a:ext cx="1997821" cy="218008"/>
          </a:xfrm>
          <a:prstGeom prst="rect">
            <a:avLst/>
          </a:prstGeom>
        </p:spPr>
        <p:txBody>
          <a:bodyPr lIns="0" tIns="0" rIns="0" bIns="0" rtlCol="0" anchor="t">
            <a:spAutoFit/>
          </a:bodyPr>
          <a:lstStyle/>
          <a:p>
            <a:pPr algn="l">
              <a:lnSpc>
                <a:spcPts val="1679"/>
              </a:lnSpc>
            </a:pPr>
            <a:r>
              <a:rPr lang="en-US" sz="1200" b="1" spc="-2" dirty="0">
                <a:solidFill>
                  <a:srgbClr val="FFFFFF"/>
                </a:solidFill>
                <a:latin typeface="IBM Plex Sans Bold"/>
                <a:ea typeface="IBM Plex Sans Bold"/>
                <a:cs typeface="IBM Plex Sans Bold"/>
                <a:sym typeface="IBM Plex Sans Bold"/>
              </a:rPr>
              <a:t>Dr. </a:t>
            </a:r>
            <a:r>
              <a:rPr lang="en-US" sz="1200" b="1" spc="-2" dirty="0" smtClean="0">
                <a:solidFill>
                  <a:srgbClr val="FFFFFF"/>
                </a:solidFill>
                <a:latin typeface="IBM Plex Sans Bold"/>
                <a:ea typeface="IBM Plex Sans Bold"/>
                <a:cs typeface="IBM Plex Sans Bold"/>
                <a:sym typeface="IBM Plex Sans Bold"/>
              </a:rPr>
              <a:t>BALARAM </a:t>
            </a:r>
            <a:endParaRPr lang="en-US" sz="1200" b="1" spc="-2" dirty="0">
              <a:solidFill>
                <a:srgbClr val="FFFFFF"/>
              </a:solidFill>
              <a:latin typeface="IBM Plex Sans Bold"/>
              <a:ea typeface="IBM Plex Sans Bold"/>
              <a:cs typeface="IBM Plex Sans Bold"/>
              <a:sym typeface="IBM Plex Sans Bold"/>
            </a:endParaRPr>
          </a:p>
        </p:txBody>
      </p:sp>
      <p:sp>
        <p:nvSpPr>
          <p:cNvPr id="17" name="TextBox 17"/>
          <p:cNvSpPr txBox="1"/>
          <p:nvPr/>
        </p:nvSpPr>
        <p:spPr>
          <a:xfrm>
            <a:off x="4489780" y="648148"/>
            <a:ext cx="1951021" cy="123825"/>
          </a:xfrm>
          <a:prstGeom prst="rect">
            <a:avLst/>
          </a:prstGeom>
        </p:spPr>
        <p:txBody>
          <a:bodyPr lIns="0" tIns="0" rIns="0" bIns="0" rtlCol="0" anchor="t">
            <a:spAutoFit/>
          </a:bodyPr>
          <a:lstStyle/>
          <a:p>
            <a:pPr algn="l">
              <a:lnSpc>
                <a:spcPts val="1050"/>
              </a:lnSpc>
            </a:pPr>
            <a:r>
              <a:rPr lang="en-US" sz="750" b="1" spc="-1">
                <a:solidFill>
                  <a:srgbClr val="FFFFFF"/>
                </a:solidFill>
                <a:latin typeface="IBM Plex Sans Bold"/>
                <a:ea typeface="IBM Plex Sans Bold"/>
                <a:cs typeface="IBM Plex Sans Bold"/>
                <a:sym typeface="IBM Plex Sans Bold"/>
              </a:rPr>
              <a:t>Bachelor of Medicine, Bachelor of Surgery</a:t>
            </a:r>
          </a:p>
        </p:txBody>
      </p:sp>
      <p:sp>
        <p:nvSpPr>
          <p:cNvPr id="18" name="TextBox 18"/>
          <p:cNvSpPr txBox="1"/>
          <p:nvPr/>
        </p:nvSpPr>
        <p:spPr>
          <a:xfrm>
            <a:off x="1859461" y="1039466"/>
            <a:ext cx="3836299" cy="795089"/>
          </a:xfrm>
          <a:prstGeom prst="rect">
            <a:avLst/>
          </a:prstGeom>
        </p:spPr>
        <p:txBody>
          <a:bodyPr lIns="0" tIns="0" rIns="0" bIns="0" rtlCol="0" anchor="t">
            <a:spAutoFit/>
          </a:bodyPr>
          <a:lstStyle/>
          <a:p>
            <a:pPr algn="ctr">
              <a:lnSpc>
                <a:spcPts val="4820"/>
              </a:lnSpc>
            </a:pPr>
            <a:r>
              <a:rPr lang="en-US" sz="3443" b="1" spc="-6" dirty="0">
                <a:solidFill>
                  <a:srgbClr val="FFFFFF"/>
                </a:solidFill>
                <a:latin typeface="IBM Plex Sans Bold"/>
                <a:ea typeface="IBM Plex Sans Bold"/>
                <a:cs typeface="IBM Plex Sans Bold"/>
                <a:sym typeface="IBM Plex Sans Bold"/>
              </a:rPr>
              <a:t>PREFACE</a:t>
            </a:r>
          </a:p>
          <a:p>
            <a:pPr algn="ctr">
              <a:lnSpc>
                <a:spcPts val="1355"/>
              </a:lnSpc>
            </a:pPr>
            <a:r>
              <a:rPr lang="en-US" sz="1000" b="1" spc="-5" dirty="0" smtClean="0">
                <a:solidFill>
                  <a:srgbClr val="FFFFFF"/>
                </a:solidFill>
                <a:latin typeface="IBM Plex Sans Bold"/>
                <a:ea typeface="IBM Plex Sans Bold"/>
                <a:cs typeface="IBM Plex Sans Bold"/>
                <a:sym typeface="IBM Plex Sans Bold"/>
              </a:rPr>
              <a:t>PROMETHEANS 2020–2025 </a:t>
            </a:r>
            <a:r>
              <a:rPr lang="en-US" sz="968" b="1" spc="-1" dirty="0" smtClean="0">
                <a:solidFill>
                  <a:srgbClr val="FFFFFF"/>
                </a:solidFill>
                <a:latin typeface="IBM Plex Sans Bold"/>
                <a:ea typeface="IBM Plex Sans Bold"/>
                <a:cs typeface="IBM Plex Sans Bold"/>
                <a:sym typeface="IBM Plex Sans Bold"/>
              </a:rPr>
              <a:t>| </a:t>
            </a:r>
            <a:r>
              <a:rPr lang="en-US" sz="968" b="1" spc="-1" dirty="0" err="1">
                <a:solidFill>
                  <a:srgbClr val="FFFFFF"/>
                </a:solidFill>
                <a:latin typeface="IBM Plex Sans Bold"/>
                <a:ea typeface="IBM Plex Sans Bold"/>
                <a:cs typeface="IBM Plex Sans Bold"/>
                <a:sym typeface="IBM Plex Sans Bold"/>
              </a:rPr>
              <a:t>Saveetha</a:t>
            </a:r>
            <a:r>
              <a:rPr lang="en-US" sz="968" b="1" spc="-1" dirty="0">
                <a:solidFill>
                  <a:srgbClr val="FFFFFF"/>
                </a:solidFill>
                <a:latin typeface="IBM Plex Sans Bold"/>
                <a:ea typeface="IBM Plex Sans Bold"/>
                <a:cs typeface="IBM Plex Sans Bold"/>
                <a:sym typeface="IBM Plex Sans Bold"/>
              </a:rPr>
              <a:t> Medical College Hospital</a:t>
            </a:r>
          </a:p>
        </p:txBody>
      </p:sp>
      <p:sp>
        <p:nvSpPr>
          <p:cNvPr id="19" name="TextBox 19"/>
          <p:cNvSpPr txBox="1"/>
          <p:nvPr/>
        </p:nvSpPr>
        <p:spPr>
          <a:xfrm>
            <a:off x="478041" y="5386216"/>
            <a:ext cx="3939235" cy="2403602"/>
          </a:xfrm>
          <a:prstGeom prst="rect">
            <a:avLst/>
          </a:prstGeom>
        </p:spPr>
        <p:txBody>
          <a:bodyPr lIns="0" tIns="0" rIns="0" bIns="0" rtlCol="0" anchor="t">
            <a:spAutoFit/>
          </a:bodyPr>
          <a:lstStyle/>
          <a:p>
            <a:pPr algn="just">
              <a:lnSpc>
                <a:spcPts val="2240"/>
              </a:lnSpc>
            </a:pPr>
            <a:r>
              <a:rPr lang="en-US" sz="1600" b="1">
                <a:solidFill>
                  <a:srgbClr val="17365D"/>
                </a:solidFill>
                <a:latin typeface="Calibri (MS) Bold"/>
                <a:ea typeface="Calibri (MS) Bold"/>
                <a:cs typeface="Calibri (MS) Bold"/>
                <a:sym typeface="Calibri (MS) Bold"/>
              </a:rPr>
              <a:t>Personal Introduction</a:t>
            </a:r>
            <a:r>
              <a:rPr lang="en-US" sz="1600" b="1">
                <a:solidFill>
                  <a:srgbClr val="000000"/>
                </a:solidFill>
                <a:latin typeface="Calibri (MS) Bold"/>
                <a:ea typeface="Calibri (MS) Bold"/>
                <a:cs typeface="Calibri (MS) Bold"/>
                <a:sym typeface="Calibri (MS) Bold"/>
              </a:rPr>
              <a:t> </a:t>
            </a:r>
          </a:p>
          <a:p>
            <a:pPr algn="just">
              <a:lnSpc>
                <a:spcPts val="2118"/>
              </a:lnSpc>
            </a:pPr>
            <a:r>
              <a:rPr lang="en-US" sz="1200" spc="18">
                <a:solidFill>
                  <a:srgbClr val="000000"/>
                </a:solidFill>
                <a:latin typeface="Calibri (MS)"/>
                <a:ea typeface="Calibri (MS)"/>
                <a:cs typeface="Calibri (MS)"/>
                <a:sym typeface="Calibri (MS)"/>
              </a:rPr>
              <a:t>I wanted a profession that will satisfy me, challenge me and bring me joy. I believe that a job should be like a hobby – where I want to love my work and know that I am making a diﬀerence in this world by helping others. I know it requires a tremendous amount of patience and hard work. The environment at Saveetha Medical College was simply catalytic in nature which motivated me to go extra mile in every sphere in bringing the best out of me. </a:t>
            </a:r>
          </a:p>
        </p:txBody>
      </p:sp>
      <p:sp>
        <p:nvSpPr>
          <p:cNvPr id="20" name="TextBox 20"/>
          <p:cNvSpPr txBox="1"/>
          <p:nvPr/>
        </p:nvSpPr>
        <p:spPr>
          <a:xfrm>
            <a:off x="478041" y="8188938"/>
            <a:ext cx="3939188" cy="1336719"/>
          </a:xfrm>
          <a:prstGeom prst="rect">
            <a:avLst/>
          </a:prstGeom>
        </p:spPr>
        <p:txBody>
          <a:bodyPr lIns="0" tIns="0" rIns="0" bIns="0" rtlCol="0" anchor="t">
            <a:spAutoFit/>
          </a:bodyPr>
          <a:lstStyle/>
          <a:p>
            <a:pPr algn="just">
              <a:lnSpc>
                <a:spcPts val="2118"/>
              </a:lnSpc>
            </a:pPr>
            <a:r>
              <a:rPr lang="en-US" sz="1200" dirty="0">
                <a:solidFill>
                  <a:srgbClr val="000000"/>
                </a:solidFill>
                <a:latin typeface="Calibri (MS)"/>
                <a:ea typeface="Calibri (MS)"/>
                <a:cs typeface="Calibri (MS)"/>
                <a:sym typeface="Calibri (MS)"/>
              </a:rPr>
              <a:t>I am fortunate to have grown in a very </a:t>
            </a:r>
            <a:r>
              <a:rPr lang="en-US" sz="1200" dirty="0" err="1" smtClean="0">
                <a:solidFill>
                  <a:srgbClr val="000000"/>
                </a:solidFill>
                <a:latin typeface="Calibri (MS)"/>
                <a:ea typeface="Calibri (MS)"/>
                <a:cs typeface="Calibri (MS)"/>
                <a:sym typeface="Calibri (MS)"/>
              </a:rPr>
              <a:t>competitve</a:t>
            </a:r>
            <a:r>
              <a:rPr lang="en-US" sz="1200" dirty="0" smtClean="0">
                <a:solidFill>
                  <a:srgbClr val="000000"/>
                </a:solidFill>
                <a:latin typeface="Calibri (MS)"/>
                <a:ea typeface="Calibri (MS)"/>
                <a:cs typeface="Calibri (MS)"/>
                <a:sym typeface="Calibri (MS)"/>
              </a:rPr>
              <a:t> </a:t>
            </a:r>
            <a:r>
              <a:rPr lang="en-US" sz="1200" dirty="0">
                <a:solidFill>
                  <a:srgbClr val="000000"/>
                </a:solidFill>
                <a:latin typeface="Calibri (MS)"/>
                <a:ea typeface="Calibri (MS)"/>
                <a:cs typeface="Calibri (MS)"/>
                <a:sym typeface="Calibri (MS)"/>
              </a:rPr>
              <a:t>environment in my medical school which has kindled me to always keep working harder and use this freedom righteously to raise my standards as a professional and as a good human rather than be another conven4onal physician.</a:t>
            </a:r>
          </a:p>
        </p:txBody>
      </p:sp>
      <p:sp>
        <p:nvSpPr>
          <p:cNvPr id="21" name="TextBox 21"/>
          <p:cNvSpPr txBox="1"/>
          <p:nvPr/>
        </p:nvSpPr>
        <p:spPr>
          <a:xfrm>
            <a:off x="4870447" y="3594154"/>
            <a:ext cx="2014538" cy="775335"/>
          </a:xfrm>
          <a:prstGeom prst="rect">
            <a:avLst/>
          </a:prstGeom>
        </p:spPr>
        <p:txBody>
          <a:bodyPr lIns="0" tIns="0" rIns="0" bIns="0" rtlCol="0" anchor="t">
            <a:spAutoFit/>
          </a:bodyPr>
          <a:lstStyle/>
          <a:p>
            <a:pPr algn="just">
              <a:lnSpc>
                <a:spcPts val="1500"/>
              </a:lnSpc>
            </a:pPr>
            <a:r>
              <a:rPr lang="en-US" sz="1200" spc="13" dirty="0">
                <a:solidFill>
                  <a:srgbClr val="000000"/>
                </a:solidFill>
                <a:latin typeface="Calibri (MS)"/>
                <a:ea typeface="Calibri (MS)"/>
                <a:cs typeface="Calibri (MS)"/>
                <a:sym typeface="Calibri (MS)"/>
              </a:rPr>
              <a:t>“The good physician treats the disease; the great physician treats the </a:t>
            </a:r>
            <a:r>
              <a:rPr lang="en-US" sz="1200" spc="13" dirty="0" smtClean="0">
                <a:solidFill>
                  <a:srgbClr val="000000"/>
                </a:solidFill>
                <a:latin typeface="Calibri (MS)"/>
                <a:ea typeface="Calibri (MS)"/>
                <a:cs typeface="Calibri (MS)"/>
                <a:sym typeface="Calibri (MS)"/>
              </a:rPr>
              <a:t>patent </a:t>
            </a:r>
            <a:r>
              <a:rPr lang="en-US" sz="1200" spc="13" dirty="0">
                <a:solidFill>
                  <a:srgbClr val="000000"/>
                </a:solidFill>
                <a:latin typeface="Calibri (MS)"/>
                <a:ea typeface="Calibri (MS)"/>
                <a:cs typeface="Calibri (MS)"/>
                <a:sym typeface="Calibri (MS)"/>
              </a:rPr>
              <a:t>who has the disease” </a:t>
            </a:r>
          </a:p>
        </p:txBody>
      </p:sp>
      <p:sp>
        <p:nvSpPr>
          <p:cNvPr id="22" name="TextBox 22"/>
          <p:cNvSpPr txBox="1"/>
          <p:nvPr/>
        </p:nvSpPr>
        <p:spPr>
          <a:xfrm>
            <a:off x="5766349" y="4546654"/>
            <a:ext cx="1023623" cy="203835"/>
          </a:xfrm>
          <a:prstGeom prst="rect">
            <a:avLst/>
          </a:prstGeom>
        </p:spPr>
        <p:txBody>
          <a:bodyPr lIns="0" tIns="0" rIns="0" bIns="0" rtlCol="0" anchor="t">
            <a:spAutoFit/>
          </a:bodyPr>
          <a:lstStyle/>
          <a:p>
            <a:pPr algn="l">
              <a:lnSpc>
                <a:spcPts val="1500"/>
              </a:lnSpc>
            </a:pPr>
            <a:r>
              <a:rPr lang="en-US" sz="1200">
                <a:solidFill>
                  <a:srgbClr val="000000"/>
                </a:solidFill>
                <a:latin typeface="Calibri (MS)"/>
                <a:ea typeface="Calibri (MS)"/>
                <a:cs typeface="Calibri (MS)"/>
                <a:sym typeface="Calibri (MS)"/>
              </a:rPr>
              <a:t>---William Osler </a:t>
            </a:r>
          </a:p>
        </p:txBody>
      </p:sp>
      <p:sp>
        <p:nvSpPr>
          <p:cNvPr id="23" name="TextBox 23"/>
          <p:cNvSpPr txBox="1"/>
          <p:nvPr/>
        </p:nvSpPr>
        <p:spPr>
          <a:xfrm>
            <a:off x="4824936" y="6949792"/>
            <a:ext cx="2153984" cy="584835"/>
          </a:xfrm>
          <a:prstGeom prst="rect">
            <a:avLst/>
          </a:prstGeom>
        </p:spPr>
        <p:txBody>
          <a:bodyPr lIns="0" tIns="0" rIns="0" bIns="0" rtlCol="0" anchor="t">
            <a:spAutoFit/>
          </a:bodyPr>
          <a:lstStyle/>
          <a:p>
            <a:pPr algn="just">
              <a:lnSpc>
                <a:spcPts val="1500"/>
              </a:lnSpc>
            </a:pPr>
            <a:r>
              <a:rPr lang="en-US" sz="1200" spc="22">
                <a:solidFill>
                  <a:srgbClr val="000000"/>
                </a:solidFill>
                <a:latin typeface="Calibri (MS)"/>
                <a:ea typeface="Calibri (MS)"/>
                <a:cs typeface="Calibri (MS)"/>
                <a:sym typeface="Calibri (MS)"/>
              </a:rPr>
              <a:t>“The best way to ﬁnd yourself is to lose yourself in the service of others.” </a:t>
            </a:r>
          </a:p>
        </p:txBody>
      </p:sp>
      <p:sp>
        <p:nvSpPr>
          <p:cNvPr id="24" name="TextBox 24"/>
          <p:cNvSpPr txBox="1"/>
          <p:nvPr/>
        </p:nvSpPr>
        <p:spPr>
          <a:xfrm>
            <a:off x="5695759" y="7418422"/>
            <a:ext cx="1276931" cy="203835"/>
          </a:xfrm>
          <a:prstGeom prst="rect">
            <a:avLst/>
          </a:prstGeom>
        </p:spPr>
        <p:txBody>
          <a:bodyPr lIns="0" tIns="0" rIns="0" bIns="0" rtlCol="0" anchor="t">
            <a:spAutoFit/>
          </a:bodyPr>
          <a:lstStyle/>
          <a:p>
            <a:pPr algn="l">
              <a:lnSpc>
                <a:spcPts val="1500"/>
              </a:lnSpc>
            </a:pPr>
            <a:r>
              <a:rPr lang="en-US" sz="1200">
                <a:solidFill>
                  <a:srgbClr val="000000"/>
                </a:solidFill>
                <a:latin typeface="Calibri (MS)"/>
                <a:ea typeface="Calibri (MS)"/>
                <a:cs typeface="Calibri (MS)"/>
                <a:sym typeface="Calibri (MS)"/>
              </a:rPr>
              <a:t>— Mahatma Gandhi</a:t>
            </a:r>
          </a:p>
        </p:txBody>
      </p:sp>
      <p:sp>
        <p:nvSpPr>
          <p:cNvPr id="25" name="TextBox 25"/>
          <p:cNvSpPr txBox="1"/>
          <p:nvPr/>
        </p:nvSpPr>
        <p:spPr>
          <a:xfrm>
            <a:off x="4781969" y="7887291"/>
            <a:ext cx="2196951" cy="965835"/>
          </a:xfrm>
          <a:prstGeom prst="rect">
            <a:avLst/>
          </a:prstGeom>
        </p:spPr>
        <p:txBody>
          <a:bodyPr lIns="0" tIns="0" rIns="0" bIns="0" rtlCol="0" anchor="t">
            <a:spAutoFit/>
          </a:bodyPr>
          <a:lstStyle/>
          <a:p>
            <a:pPr algn="just">
              <a:lnSpc>
                <a:spcPts val="1500"/>
              </a:lnSpc>
            </a:pPr>
            <a:r>
              <a:rPr lang="en-US" sz="1200">
                <a:solidFill>
                  <a:srgbClr val="F2F2F2"/>
                </a:solidFill>
                <a:latin typeface="Calibri (MS)"/>
                <a:ea typeface="Calibri (MS)"/>
                <a:cs typeface="Calibri (MS)"/>
                <a:sym typeface="Calibri (MS)"/>
              </a:rPr>
              <a:t>“A physician is obligated to consider more than a diseased organ, more than even the whole man—he must view the man in his world.” </a:t>
            </a:r>
          </a:p>
        </p:txBody>
      </p:sp>
      <p:sp>
        <p:nvSpPr>
          <p:cNvPr id="26" name="TextBox 26"/>
          <p:cNvSpPr txBox="1"/>
          <p:nvPr/>
        </p:nvSpPr>
        <p:spPr>
          <a:xfrm>
            <a:off x="5734031" y="8783955"/>
            <a:ext cx="1150953" cy="203835"/>
          </a:xfrm>
          <a:prstGeom prst="rect">
            <a:avLst/>
          </a:prstGeom>
        </p:spPr>
        <p:txBody>
          <a:bodyPr lIns="0" tIns="0" rIns="0" bIns="0" rtlCol="0" anchor="t">
            <a:spAutoFit/>
          </a:bodyPr>
          <a:lstStyle/>
          <a:p>
            <a:pPr algn="l">
              <a:lnSpc>
                <a:spcPts val="1500"/>
              </a:lnSpc>
            </a:pPr>
            <a:r>
              <a:rPr lang="en-US" sz="1200">
                <a:solidFill>
                  <a:srgbClr val="F2F2F2"/>
                </a:solidFill>
                <a:latin typeface="Calibri (MS)"/>
                <a:ea typeface="Calibri (MS)"/>
                <a:cs typeface="Calibri (MS)"/>
                <a:sym typeface="Calibri (MS)"/>
              </a:rPr>
              <a:t>— Harvey Cushing</a:t>
            </a:r>
          </a:p>
        </p:txBody>
      </p:sp>
      <p:sp>
        <p:nvSpPr>
          <p:cNvPr id="27" name="TextBox 27"/>
          <p:cNvSpPr txBox="1"/>
          <p:nvPr/>
        </p:nvSpPr>
        <p:spPr>
          <a:xfrm>
            <a:off x="8072123" y="3300565"/>
            <a:ext cx="2697823"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education and inculcate refined qualities </a:t>
            </a:r>
          </a:p>
        </p:txBody>
      </p:sp>
      <p:sp>
        <p:nvSpPr>
          <p:cNvPr id="28" name="TextBox 28"/>
          <p:cNvSpPr txBox="1"/>
          <p:nvPr/>
        </p:nvSpPr>
        <p:spPr>
          <a:xfrm>
            <a:off x="8072123" y="4577953"/>
            <a:ext cx="3911889"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such that I hold the position of a professor/ clinical instructor. </a:t>
            </a:r>
          </a:p>
        </p:txBody>
      </p:sp>
      <p:sp>
        <p:nvSpPr>
          <p:cNvPr id="29" name="TextBox 29"/>
          <p:cNvSpPr txBox="1"/>
          <p:nvPr/>
        </p:nvSpPr>
        <p:spPr>
          <a:xfrm>
            <a:off x="8072123" y="6281147"/>
            <a:ext cx="5337115" cy="213360"/>
          </a:xfrm>
          <a:prstGeom prst="rect">
            <a:avLst/>
          </a:prstGeom>
        </p:spPr>
        <p:txBody>
          <a:bodyPr lIns="0" tIns="0" rIns="0" bIns="0" rtlCol="0" anchor="t">
            <a:spAutoFit/>
          </a:bodyPr>
          <a:lstStyle/>
          <a:p>
            <a:pPr algn="l">
              <a:lnSpc>
                <a:spcPts val="1679"/>
              </a:lnSpc>
            </a:pPr>
            <a:r>
              <a:rPr lang="en-US" sz="1200">
                <a:solidFill>
                  <a:srgbClr val="000000"/>
                </a:solidFill>
                <a:latin typeface="Calibri (MS)"/>
                <a:ea typeface="Calibri (MS)"/>
                <a:cs typeface="Calibri (MS)"/>
                <a:sym typeface="Calibri (MS)"/>
              </a:rPr>
              <a:t>compassionate and to have it make some diﬀerence that we had lived and lived well.</a:t>
            </a:r>
          </a:p>
        </p:txBody>
      </p:sp>
      <p:sp>
        <p:nvSpPr>
          <p:cNvPr id="30" name="TextBox 30"/>
          <p:cNvSpPr txBox="1"/>
          <p:nvPr/>
        </p:nvSpPr>
        <p:spPr>
          <a:xfrm>
            <a:off x="8072123" y="2874769"/>
            <a:ext cx="6759550" cy="213360"/>
          </a:xfrm>
          <a:prstGeom prst="rect">
            <a:avLst/>
          </a:prstGeom>
        </p:spPr>
        <p:txBody>
          <a:bodyPr lIns="0" tIns="0" rIns="0" bIns="0" rtlCol="0" anchor="t">
            <a:spAutoFit/>
          </a:bodyPr>
          <a:lstStyle/>
          <a:p>
            <a:pPr algn="l">
              <a:lnSpc>
                <a:spcPts val="1679"/>
              </a:lnSpc>
            </a:pPr>
            <a:r>
              <a:rPr lang="en-US" sz="1200" spc="18">
                <a:solidFill>
                  <a:srgbClr val="231F20"/>
                </a:solidFill>
                <a:latin typeface="Calibri (MS)"/>
                <a:ea typeface="Calibri (MS)"/>
                <a:cs typeface="Calibri (MS)"/>
                <a:sym typeface="Calibri (MS)"/>
              </a:rPr>
              <a:t>Education is a ray of light in darkness. My vision is to become an academician, thereby impart the right </a:t>
            </a:r>
          </a:p>
        </p:txBody>
      </p:sp>
      <p:sp>
        <p:nvSpPr>
          <p:cNvPr id="31" name="TextBox 31"/>
          <p:cNvSpPr txBox="1"/>
          <p:nvPr/>
        </p:nvSpPr>
        <p:spPr>
          <a:xfrm>
            <a:off x="10818304" y="3300565"/>
            <a:ext cx="3959095"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among the next generation students – simply like a candle </a:t>
            </a:r>
          </a:p>
        </p:txBody>
      </p:sp>
      <p:sp>
        <p:nvSpPr>
          <p:cNvPr id="32" name="TextBox 32"/>
          <p:cNvSpPr txBox="1"/>
          <p:nvPr/>
        </p:nvSpPr>
        <p:spPr>
          <a:xfrm>
            <a:off x="8072123" y="5855351"/>
            <a:ext cx="6760816" cy="213360"/>
          </a:xfrm>
          <a:prstGeom prst="rect">
            <a:avLst/>
          </a:prstGeom>
        </p:spPr>
        <p:txBody>
          <a:bodyPr lIns="0" tIns="0" rIns="0" bIns="0" rtlCol="0" anchor="t">
            <a:spAutoFit/>
          </a:bodyPr>
          <a:lstStyle/>
          <a:p>
            <a:pPr algn="l">
              <a:lnSpc>
                <a:spcPts val="1679"/>
              </a:lnSpc>
            </a:pPr>
            <a:r>
              <a:rPr lang="en-US" sz="1200">
                <a:solidFill>
                  <a:srgbClr val="000000"/>
                </a:solidFill>
                <a:latin typeface="Calibri (MS)"/>
                <a:ea typeface="Calibri (MS)"/>
                <a:cs typeface="Calibri (MS)"/>
                <a:sym typeface="Calibri (MS)"/>
              </a:rPr>
              <a:t>their goal. I believe that the purpose of life is just not to be happy. it is to be useful, honorable, </a:t>
            </a:r>
          </a:p>
        </p:txBody>
      </p:sp>
      <p:sp>
        <p:nvSpPr>
          <p:cNvPr id="33" name="TextBox 33"/>
          <p:cNvSpPr txBox="1"/>
          <p:nvPr/>
        </p:nvSpPr>
        <p:spPr>
          <a:xfrm>
            <a:off x="8072123" y="5429555"/>
            <a:ext cx="6760921" cy="213360"/>
          </a:xfrm>
          <a:prstGeom prst="rect">
            <a:avLst/>
          </a:prstGeom>
        </p:spPr>
        <p:txBody>
          <a:bodyPr lIns="0" tIns="0" rIns="0" bIns="0" rtlCol="0" anchor="t">
            <a:spAutoFit/>
          </a:bodyPr>
          <a:lstStyle/>
          <a:p>
            <a:pPr algn="l">
              <a:lnSpc>
                <a:spcPts val="1679"/>
              </a:lnSpc>
            </a:pPr>
            <a:r>
              <a:rPr lang="en-US" sz="1200" spc="6">
                <a:solidFill>
                  <a:srgbClr val="000000"/>
                </a:solidFill>
                <a:latin typeface="Calibri (MS)"/>
                <a:ea typeface="Calibri (MS)"/>
                <a:cs typeface="Calibri (MS)"/>
                <a:sym typeface="Calibri (MS)"/>
              </a:rPr>
              <a:t>I believe that the best way to stay mo4vated, is by visualizing one’s achievement &amp; working hard to reach </a:t>
            </a:r>
          </a:p>
        </p:txBody>
      </p:sp>
      <p:sp>
        <p:nvSpPr>
          <p:cNvPr id="34" name="TextBox 34"/>
          <p:cNvSpPr txBox="1"/>
          <p:nvPr/>
        </p:nvSpPr>
        <p:spPr>
          <a:xfrm>
            <a:off x="8072123" y="3726361"/>
            <a:ext cx="6761493"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melting itself by providing light to shine. Teaching and demonstration sessions have never failed to amaze </a:t>
            </a:r>
          </a:p>
        </p:txBody>
      </p:sp>
      <p:sp>
        <p:nvSpPr>
          <p:cNvPr id="35" name="TextBox 35"/>
          <p:cNvSpPr txBox="1"/>
          <p:nvPr/>
        </p:nvSpPr>
        <p:spPr>
          <a:xfrm>
            <a:off x="8072123" y="4152157"/>
            <a:ext cx="6762140" cy="213360"/>
          </a:xfrm>
          <a:prstGeom prst="rect">
            <a:avLst/>
          </a:prstGeom>
        </p:spPr>
        <p:txBody>
          <a:bodyPr lIns="0" tIns="0" rIns="0" bIns="0" rtlCol="0" anchor="t">
            <a:spAutoFit/>
          </a:bodyPr>
          <a:lstStyle/>
          <a:p>
            <a:pPr algn="l">
              <a:lnSpc>
                <a:spcPts val="1679"/>
              </a:lnSpc>
            </a:pPr>
            <a:r>
              <a:rPr lang="en-US" sz="1200" spc="6">
                <a:solidFill>
                  <a:srgbClr val="231F20"/>
                </a:solidFill>
                <a:latin typeface="Calibri (MS)"/>
                <a:ea typeface="Calibri (MS)"/>
                <a:cs typeface="Calibri (MS)"/>
                <a:sym typeface="Calibri (MS)"/>
              </a:rPr>
              <a:t>me during my undergraduate program, which encouraged me to work towards becoming an academician </a:t>
            </a:r>
          </a:p>
        </p:txBody>
      </p:sp>
      <p:sp>
        <p:nvSpPr>
          <p:cNvPr id="36" name="TextBox 36"/>
          <p:cNvSpPr txBox="1"/>
          <p:nvPr/>
        </p:nvSpPr>
        <p:spPr>
          <a:xfrm>
            <a:off x="10024424" y="1892637"/>
            <a:ext cx="2276866" cy="427358"/>
          </a:xfrm>
          <a:prstGeom prst="rect">
            <a:avLst/>
          </a:prstGeom>
        </p:spPr>
        <p:txBody>
          <a:bodyPr lIns="0" tIns="0" rIns="0" bIns="0" rtlCol="0" anchor="t">
            <a:spAutoFit/>
          </a:bodyPr>
          <a:lstStyle/>
          <a:p>
            <a:pPr algn="l">
              <a:lnSpc>
                <a:spcPts val="3640"/>
              </a:lnSpc>
            </a:pPr>
            <a:r>
              <a:rPr lang="en-US" sz="2600" b="1" spc="-5">
                <a:solidFill>
                  <a:srgbClr val="25408F"/>
                </a:solidFill>
                <a:latin typeface="IBM Plex Sans Bold"/>
                <a:ea typeface="IBM Plex Sans Bold"/>
                <a:cs typeface="IBM Plex Sans Bold"/>
                <a:sym typeface="IBM Plex Sans Bold"/>
              </a:rPr>
              <a:t>Achievements</a:t>
            </a:r>
          </a:p>
        </p:txBody>
      </p:sp>
      <p:sp>
        <p:nvSpPr>
          <p:cNvPr id="37" name="TextBox 37"/>
          <p:cNvSpPr txBox="1"/>
          <p:nvPr/>
        </p:nvSpPr>
        <p:spPr>
          <a:xfrm>
            <a:off x="7843523" y="2882008"/>
            <a:ext cx="71504" cy="194310"/>
          </a:xfrm>
          <a:prstGeom prst="rect">
            <a:avLst/>
          </a:prstGeom>
        </p:spPr>
        <p:txBody>
          <a:bodyPr lIns="0" tIns="0" rIns="0" bIns="0" rtlCol="0" anchor="t">
            <a:spAutoFit/>
          </a:bodyPr>
          <a:lstStyle/>
          <a:p>
            <a:pPr algn="l">
              <a:lnSpc>
                <a:spcPts val="1679"/>
              </a:lnSpc>
            </a:pPr>
            <a:r>
              <a:rPr lang="en-US" sz="1200" spc="76">
                <a:solidFill>
                  <a:srgbClr val="000000"/>
                </a:solidFill>
                <a:latin typeface="IBM Plex Sans"/>
                <a:ea typeface="IBM Plex Sans"/>
                <a:cs typeface="IBM Plex Sans"/>
                <a:sym typeface="IBM Plex Sans"/>
              </a:rPr>
              <a:t>•</a:t>
            </a:r>
          </a:p>
        </p:txBody>
      </p:sp>
      <p:sp>
        <p:nvSpPr>
          <p:cNvPr id="38" name="TextBox 38"/>
          <p:cNvSpPr txBox="1"/>
          <p:nvPr/>
        </p:nvSpPr>
        <p:spPr>
          <a:xfrm>
            <a:off x="7843523" y="5436794"/>
            <a:ext cx="71504" cy="194310"/>
          </a:xfrm>
          <a:prstGeom prst="rect">
            <a:avLst/>
          </a:prstGeom>
        </p:spPr>
        <p:txBody>
          <a:bodyPr lIns="0" tIns="0" rIns="0" bIns="0" rtlCol="0" anchor="t">
            <a:spAutoFit/>
          </a:bodyPr>
          <a:lstStyle/>
          <a:p>
            <a:pPr algn="l">
              <a:lnSpc>
                <a:spcPts val="1679"/>
              </a:lnSpc>
            </a:pPr>
            <a:r>
              <a:rPr lang="en-US" sz="1200" spc="76">
                <a:solidFill>
                  <a:srgbClr val="000000"/>
                </a:solidFill>
                <a:latin typeface="IBM Plex Sans"/>
                <a:ea typeface="IBM Plex Sans"/>
                <a:cs typeface="IBM Plex Sans"/>
                <a:sym typeface="IBM Plex Sans"/>
              </a:rPr>
              <a:t>•</a:t>
            </a:r>
          </a:p>
        </p:txBody>
      </p:sp>
      <p:pic>
        <p:nvPicPr>
          <p:cNvPr id="40" name="Picture 39" descr="photo_2025-01-07_19-49-21.jpg"/>
          <p:cNvPicPr>
            <a:picLocks noChangeAspect="1"/>
          </p:cNvPicPr>
          <p:nvPr/>
        </p:nvPicPr>
        <p:blipFill>
          <a:blip r:embed="rId2" cstate="print"/>
          <a:stretch>
            <a:fillRect/>
          </a:stretch>
        </p:blipFill>
        <p:spPr>
          <a:xfrm>
            <a:off x="841328" y="2846370"/>
            <a:ext cx="2857520" cy="235745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sp>
        <p:nvSpPr>
          <p:cNvPr id="4" name="TextBox 4"/>
          <p:cNvSpPr txBox="1"/>
          <p:nvPr/>
        </p:nvSpPr>
        <p:spPr>
          <a:xfrm>
            <a:off x="914400" y="1646701"/>
            <a:ext cx="259290" cy="1270635"/>
          </a:xfrm>
          <a:prstGeom prst="rect">
            <a:avLst/>
          </a:prstGeom>
        </p:spPr>
        <p:txBody>
          <a:bodyPr lIns="0" tIns="0" rIns="0" bIns="0" rtlCol="0" anchor="t">
            <a:spAutoFit/>
          </a:bodyPr>
          <a:lstStyle/>
          <a:p>
            <a:pPr algn="l">
              <a:lnSpc>
                <a:spcPts val="10893"/>
              </a:lnSpc>
            </a:pPr>
            <a:r>
              <a:rPr lang="en-US" sz="7200" spc="-14">
                <a:solidFill>
                  <a:srgbClr val="000000"/>
                </a:solidFill>
                <a:latin typeface="IBM Plex Sans"/>
                <a:ea typeface="IBM Plex Sans"/>
                <a:cs typeface="IBM Plex Sans"/>
                <a:sym typeface="IBM Plex Sans"/>
              </a:rPr>
              <a:t> </a:t>
            </a:r>
          </a:p>
        </p:txBody>
      </p:sp>
      <p:sp>
        <p:nvSpPr>
          <p:cNvPr id="5" name="TextBox 5"/>
          <p:cNvSpPr txBox="1"/>
          <p:nvPr/>
        </p:nvSpPr>
        <p:spPr>
          <a:xfrm>
            <a:off x="4980520" y="3818028"/>
            <a:ext cx="5158959" cy="1282723"/>
          </a:xfrm>
          <a:prstGeom prst="rect">
            <a:avLst/>
          </a:prstGeom>
        </p:spPr>
        <p:txBody>
          <a:bodyPr lIns="0" tIns="0" rIns="0" bIns="0" rtlCol="0" anchor="t">
            <a:spAutoFit/>
          </a:bodyPr>
          <a:lstStyle/>
          <a:p>
            <a:pPr algn="l">
              <a:lnSpc>
                <a:spcPts val="10893"/>
              </a:lnSpc>
            </a:pPr>
            <a:r>
              <a:rPr lang="en-US" sz="7200" spc="-14" dirty="0">
                <a:solidFill>
                  <a:srgbClr val="000000"/>
                </a:solidFill>
                <a:latin typeface="IBM Plex Sans"/>
                <a:ea typeface="IBM Plex Sans"/>
                <a:cs typeface="IBM Plex Sans"/>
                <a:sym typeface="IBM Plex Sans"/>
              </a:rPr>
              <a:t>Phase </a:t>
            </a:r>
            <a:r>
              <a:rPr lang="en-US" sz="7200" spc="-14" dirty="0" smtClean="0">
                <a:solidFill>
                  <a:srgbClr val="000000"/>
                </a:solidFill>
                <a:latin typeface="IBM Plex Sans"/>
                <a:ea typeface="IBM Plex Sans"/>
                <a:cs typeface="IBM Plex Sans"/>
                <a:sym typeface="IBM Plex Sans"/>
              </a:rPr>
              <a:t>3B </a:t>
            </a:r>
            <a:endParaRPr lang="en-US" sz="7200" spc="-14" dirty="0">
              <a:solidFill>
                <a:srgbClr val="000000"/>
              </a:solidFill>
              <a:latin typeface="IBM Plex Sans"/>
              <a:ea typeface="IBM Plex Sans"/>
              <a:cs typeface="IBM Plex Sans"/>
              <a:sym typeface="IBM Plex Sans"/>
            </a:endParaRPr>
          </a:p>
        </p:txBody>
      </p:sp>
      <p:sp>
        <p:nvSpPr>
          <p:cNvPr id="6" name="TextBox 6"/>
          <p:cNvSpPr txBox="1"/>
          <p:nvPr/>
        </p:nvSpPr>
        <p:spPr>
          <a:xfrm>
            <a:off x="381000" y="9550946"/>
            <a:ext cx="204340" cy="208283"/>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1 | </a:t>
            </a:r>
          </a:p>
        </p:txBody>
      </p:sp>
      <p:sp>
        <p:nvSpPr>
          <p:cNvPr id="7" name="TextBox 7"/>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8" name="TextBox 8"/>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360359" y="1343339"/>
            <a:ext cx="14378940" cy="7555230"/>
            <a:chOff x="0" y="0"/>
            <a:chExt cx="14378940" cy="755523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576070"/>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585722"/>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03644" y="4550029"/>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545330"/>
              <a:ext cx="7475347" cy="1267587"/>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5" name="Freeform 15"/>
            <p:cNvSpPr/>
            <p:nvPr/>
          </p:nvSpPr>
          <p:spPr>
            <a:xfrm>
              <a:off x="6862064" y="4758563"/>
              <a:ext cx="2837053" cy="11557"/>
            </a:xfrm>
            <a:custGeom>
              <a:avLst/>
              <a:gdLst/>
              <a:ahLst/>
              <a:cxnLst/>
              <a:rect l="l" t="t" r="r" b="b"/>
              <a:pathLst>
                <a:path w="2837053" h="11557">
                  <a:moveTo>
                    <a:pt x="0" y="0"/>
                  </a:moveTo>
                  <a:lnTo>
                    <a:pt x="2837053" y="0"/>
                  </a:lnTo>
                  <a:lnTo>
                    <a:pt x="2837053" y="11557"/>
                  </a:lnTo>
                  <a:lnTo>
                    <a:pt x="0" y="11557"/>
                  </a:lnTo>
                  <a:close/>
                </a:path>
              </a:pathLst>
            </a:custGeom>
            <a:solidFill>
              <a:srgbClr val="000000"/>
            </a:solidFill>
          </p:spPr>
        </p:sp>
        <p:sp>
          <p:nvSpPr>
            <p:cNvPr id="16" name="Freeform 16"/>
            <p:cNvSpPr/>
            <p:nvPr/>
          </p:nvSpPr>
          <p:spPr>
            <a:xfrm>
              <a:off x="6811899" y="5973064"/>
              <a:ext cx="7456805" cy="1400175"/>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5968238"/>
              <a:ext cx="7466330" cy="1409827"/>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8" name="Freeform 18"/>
            <p:cNvSpPr/>
            <p:nvPr/>
          </p:nvSpPr>
          <p:spPr>
            <a:xfrm>
              <a:off x="6870319" y="6181598"/>
              <a:ext cx="2210181" cy="11557"/>
            </a:xfrm>
            <a:custGeom>
              <a:avLst/>
              <a:gdLst/>
              <a:ahLst/>
              <a:cxnLst/>
              <a:rect l="l" t="t" r="r" b="b"/>
              <a:pathLst>
                <a:path w="2210181" h="11557">
                  <a:moveTo>
                    <a:pt x="0" y="0"/>
                  </a:moveTo>
                  <a:lnTo>
                    <a:pt x="2210181" y="0"/>
                  </a:lnTo>
                  <a:lnTo>
                    <a:pt x="2210181" y="11557"/>
                  </a:lnTo>
                  <a:lnTo>
                    <a:pt x="0" y="11557"/>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1</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38335"/>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1            PID: </a:t>
            </a:r>
            <a:r>
              <a:rPr lang="en-US" sz="1400" dirty="0" smtClean="0"/>
              <a:t> </a:t>
            </a:r>
            <a:r>
              <a:rPr lang="en-US" sz="1400" b="1" dirty="0" smtClean="0"/>
              <a:t>240909243117</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6166372" y="317743"/>
            <a:ext cx="2766914" cy="343043"/>
          </a:xfrm>
          <a:prstGeom prst="rect">
            <a:avLst/>
          </a:prstGeom>
        </p:spPr>
        <p:txBody>
          <a:bodyPr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of  </a:t>
            </a:r>
            <a:r>
              <a:rPr lang="en-US" sz="2199" b="1" i="1" dirty="0" smtClean="0">
                <a:solidFill>
                  <a:srgbClr val="000000"/>
                </a:solidFill>
                <a:latin typeface="Cambria Bold Italics"/>
                <a:ea typeface="Cambria Bold Italics"/>
                <a:cs typeface="Cambria Bold Italics"/>
                <a:sym typeface="Cambria Bold Italics"/>
              </a:rPr>
              <a:t>URTI</a:t>
            </a:r>
            <a:endParaRPr lang="en-US" sz="2199" b="1" i="1" dirty="0">
              <a:solidFill>
                <a:srgbClr val="000000"/>
              </a:solidFill>
              <a:latin typeface="Cambria Bold Italics"/>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400" b="1" dirty="0" err="1" smtClean="0"/>
              <a:t>Tamilini</a:t>
            </a:r>
            <a:r>
              <a:rPr lang="en-US" sz="1400" b="1" dirty="0" smtClean="0"/>
              <a:t> K </a:t>
            </a:r>
            <a:r>
              <a:rPr lang="en-US" sz="1400" b="1" dirty="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 </a:t>
            </a:r>
            <a:r>
              <a:rPr lang="en-US" sz="1399" b="1" dirty="0" smtClean="0">
                <a:solidFill>
                  <a:srgbClr val="000000"/>
                </a:solidFill>
                <a:latin typeface="Cambria Bold"/>
                <a:ea typeface="Cambria Bold"/>
                <a:cs typeface="Cambria Bold"/>
                <a:sym typeface="Cambria Bold"/>
              </a:rPr>
              <a:t>2</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22474" y="4124620"/>
            <a:ext cx="7334837" cy="1744067"/>
          </a:xfrm>
          <a:prstGeom prst="rect">
            <a:avLst/>
          </a:prstGeom>
        </p:spPr>
        <p:txBody>
          <a:bodyPr lIns="0" tIns="0" rIns="0" bIns="0" rtlCol="0" anchor="t">
            <a:spAutoFit/>
          </a:bodyPr>
          <a:lstStyle/>
          <a:p>
            <a:pPr algn="l">
              <a:lnSpc>
                <a:spcPts val="1679"/>
              </a:lnSpc>
              <a:buFont typeface="Arial" pitchFamily="34" charset="0"/>
              <a:buChar char="•"/>
            </a:pPr>
            <a:r>
              <a:rPr lang="en-US" sz="1200" b="1" dirty="0">
                <a:solidFill>
                  <a:srgbClr val="000000"/>
                </a:solidFill>
                <a:latin typeface="Cambria Bold"/>
                <a:ea typeface="Cambria Bold"/>
                <a:cs typeface="Cambria Bold"/>
                <a:sym typeface="Cambria Bold"/>
              </a:rPr>
              <a:t>Workup:</a:t>
            </a:r>
            <a:r>
              <a:rPr lang="en-US" sz="1200" dirty="0">
                <a:solidFill>
                  <a:srgbClr val="000000"/>
                </a:solidFill>
                <a:latin typeface="Cambria"/>
                <a:ea typeface="Cambria"/>
                <a:cs typeface="Cambria"/>
                <a:sym typeface="Cambria"/>
              </a:rPr>
              <a:t> </a:t>
            </a:r>
          </a:p>
          <a:p>
            <a:pPr algn="l">
              <a:lnSpc>
                <a:spcPts val="1679"/>
              </a:lnSpc>
              <a:buFont typeface="Arial" pitchFamily="34" charset="0"/>
              <a:buChar char="•"/>
            </a:pPr>
            <a:r>
              <a:rPr lang="en-IN" sz="1200" dirty="0" smtClean="0">
                <a:solidFill>
                  <a:srgbClr val="000000"/>
                </a:solidFill>
                <a:latin typeface="Cambria"/>
                <a:ea typeface="Cambria"/>
                <a:cs typeface="Cambria"/>
                <a:sym typeface="Cambria"/>
              </a:rPr>
              <a:t> On arrival child was alert, conscious and oriented to time, place and person. </a:t>
            </a:r>
          </a:p>
          <a:p>
            <a:pPr algn="l">
              <a:lnSpc>
                <a:spcPts val="1679"/>
              </a:lnSpc>
              <a:buFont typeface="Arial" pitchFamily="34" charset="0"/>
              <a:buChar char="•"/>
            </a:pPr>
            <a:r>
              <a:rPr lang="en-IN" sz="1200" b="1" dirty="0" smtClean="0">
                <a:solidFill>
                  <a:srgbClr val="000000"/>
                </a:solidFill>
                <a:latin typeface="Cambria"/>
                <a:ea typeface="Cambria"/>
                <a:cs typeface="Cambria"/>
                <a:sym typeface="Cambria"/>
              </a:rPr>
              <a:t>Development </a:t>
            </a:r>
            <a:r>
              <a:rPr lang="en-IN" sz="1200" b="1" dirty="0" smtClean="0">
                <a:solidFill>
                  <a:srgbClr val="000000"/>
                </a:solidFill>
                <a:latin typeface="Cambria"/>
                <a:ea typeface="Cambria"/>
                <a:cs typeface="Cambria"/>
                <a:sym typeface="Cambria"/>
              </a:rPr>
              <a:t>history </a:t>
            </a:r>
            <a:r>
              <a:rPr lang="en-IN" sz="1200" dirty="0" smtClean="0">
                <a:solidFill>
                  <a:srgbClr val="000000"/>
                </a:solidFill>
                <a:latin typeface="Cambria"/>
                <a:ea typeface="Cambria"/>
                <a:cs typeface="Cambria"/>
                <a:sym typeface="Cambria"/>
              </a:rPr>
              <a:t>= </a:t>
            </a:r>
            <a:r>
              <a:rPr lang="en-IN" sz="1200" dirty="0" smtClean="0">
                <a:solidFill>
                  <a:srgbClr val="000000"/>
                </a:solidFill>
                <a:latin typeface="Cambria"/>
                <a:ea typeface="Cambria"/>
                <a:cs typeface="Cambria"/>
                <a:sym typeface="Cambria"/>
              </a:rPr>
              <a:t>patient was developed </a:t>
            </a:r>
            <a:r>
              <a:rPr lang="en-IN" sz="1200" dirty="0" err="1" smtClean="0">
                <a:solidFill>
                  <a:srgbClr val="000000"/>
                </a:solidFill>
                <a:latin typeface="Cambria"/>
                <a:ea typeface="Cambria"/>
                <a:cs typeface="Cambria"/>
                <a:sym typeface="Cambria"/>
              </a:rPr>
              <a:t>upto</a:t>
            </a:r>
            <a:r>
              <a:rPr lang="en-IN" sz="1200" dirty="0" smtClean="0">
                <a:solidFill>
                  <a:srgbClr val="000000"/>
                </a:solidFill>
                <a:latin typeface="Cambria"/>
                <a:ea typeface="Cambria"/>
                <a:cs typeface="Cambria"/>
                <a:sym typeface="Cambria"/>
              </a:rPr>
              <a:t> the age</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Dietary history</a:t>
            </a:r>
            <a:r>
              <a:rPr lang="en-IN" sz="1200" dirty="0" smtClean="0">
                <a:solidFill>
                  <a:srgbClr val="000000"/>
                </a:solidFill>
                <a:latin typeface="Cambria"/>
                <a:ea typeface="Cambria"/>
                <a:cs typeface="Cambria"/>
                <a:sym typeface="Cambria"/>
              </a:rPr>
              <a:t> = normal</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Vitals= </a:t>
            </a:r>
            <a:r>
              <a:rPr lang="en-IN" sz="1200" dirty="0" smtClean="0">
                <a:solidFill>
                  <a:srgbClr val="000000"/>
                </a:solidFill>
                <a:latin typeface="Cambria"/>
                <a:ea typeface="Cambria"/>
                <a:cs typeface="Cambria"/>
                <a:sym typeface="Cambria"/>
              </a:rPr>
              <a:t>PR: 108/min, RR: 22/min, Spo2-98%, temp: 100 F</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Anthropometry =  </a:t>
            </a:r>
            <a:r>
              <a:rPr lang="en-IN" sz="1200" dirty="0" smtClean="0">
                <a:solidFill>
                  <a:srgbClr val="000000"/>
                </a:solidFill>
                <a:latin typeface="Cambria"/>
                <a:ea typeface="Cambria"/>
                <a:cs typeface="Cambria"/>
                <a:sym typeface="Cambria"/>
              </a:rPr>
              <a:t>weight: 12.5kg, height: 87cm</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Nasal examination= </a:t>
            </a:r>
            <a:r>
              <a:rPr lang="en-IN" sz="1200" dirty="0" smtClean="0">
                <a:solidFill>
                  <a:srgbClr val="000000"/>
                </a:solidFill>
                <a:latin typeface="Cambria"/>
                <a:ea typeface="Cambria"/>
                <a:cs typeface="Cambria"/>
                <a:sym typeface="Cambria"/>
              </a:rPr>
              <a:t>inferior turbinate hypertrophy, nasal discharge +</a:t>
            </a:r>
          </a:p>
          <a:p>
            <a:pPr algn="l">
              <a:lnSpc>
                <a:spcPts val="1679"/>
              </a:lnSpc>
              <a:buFont typeface="Arial" pitchFamily="34" charset="0"/>
              <a:buChar char="•"/>
            </a:pPr>
            <a:endParaRPr lang="en-US" sz="1200" dirty="0">
              <a:solidFill>
                <a:srgbClr val="000000"/>
              </a:solidFill>
              <a:latin typeface="Cambria"/>
              <a:ea typeface="Cambria"/>
              <a:cs typeface="Cambria"/>
              <a:sym typeface="Cambria"/>
            </a:endParaRPr>
          </a:p>
        </p:txBody>
      </p:sp>
      <p:sp>
        <p:nvSpPr>
          <p:cNvPr id="48" name="TextBox 48"/>
          <p:cNvSpPr txBox="1"/>
          <p:nvPr/>
        </p:nvSpPr>
        <p:spPr>
          <a:xfrm>
            <a:off x="7222474" y="1589475"/>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30723" y="7355434"/>
            <a:ext cx="7217960" cy="1090042"/>
          </a:xfrm>
          <a:prstGeom prst="rect">
            <a:avLst/>
          </a:prstGeom>
        </p:spPr>
        <p:txBody>
          <a:bodyPr lIns="0" tIns="0" rIns="0" bIns="0" rtlCol="0" anchor="t">
            <a:spAutoFit/>
          </a:bodyPr>
          <a:lstStyle/>
          <a:p>
            <a:pPr>
              <a:lnSpc>
                <a:spcPts val="1679"/>
              </a:lnSpc>
            </a:pPr>
            <a:r>
              <a:rPr lang="en-US" sz="1200" b="1" dirty="0">
                <a:solidFill>
                  <a:srgbClr val="000000"/>
                </a:solidFill>
                <a:latin typeface="Cambria Bold"/>
                <a:ea typeface="Cambria Bold"/>
                <a:cs typeface="Cambria Bold"/>
                <a:sym typeface="Cambria Bold"/>
              </a:rPr>
              <a:t>Management / Procedure done:</a:t>
            </a:r>
            <a:r>
              <a:rPr lang="en-US" sz="1200" dirty="0">
                <a:solidFill>
                  <a:srgbClr val="000000"/>
                </a:solidFill>
                <a:latin typeface="Cambria"/>
                <a:ea typeface="Cambria"/>
                <a:cs typeface="Cambria"/>
                <a:sym typeface="Cambria"/>
              </a:rPr>
              <a:t> </a:t>
            </a:r>
            <a:endParaRPr lang="en-US" sz="1200" dirty="0" smtClean="0">
              <a:solidFill>
                <a:srgbClr val="000000"/>
              </a:solidFill>
              <a:latin typeface="Cambria"/>
              <a:ea typeface="Cambria"/>
              <a:cs typeface="Cambria"/>
              <a:sym typeface="Cambria"/>
            </a:endParaRPr>
          </a:p>
          <a:p>
            <a:pPr>
              <a:lnSpc>
                <a:spcPts val="1679"/>
              </a:lnSpc>
              <a:buFont typeface="Arial" pitchFamily="34" charset="0"/>
              <a:buChar char="•"/>
            </a:pPr>
            <a:r>
              <a:rPr lang="en-IN" sz="1200" dirty="0" err="1" smtClean="0">
                <a:solidFill>
                  <a:srgbClr val="000000"/>
                </a:solidFill>
                <a:latin typeface="Cambria"/>
                <a:ea typeface="Cambria"/>
                <a:sym typeface="Cambria"/>
              </a:rPr>
              <a:t>Cbc</a:t>
            </a:r>
            <a:r>
              <a:rPr lang="en-IN" sz="1200" dirty="0" smtClean="0">
                <a:solidFill>
                  <a:srgbClr val="000000"/>
                </a:solidFill>
                <a:latin typeface="Cambria"/>
                <a:ea typeface="Cambria"/>
                <a:sym typeface="Cambria"/>
              </a:rPr>
              <a:t> findings= TLC is elevated, normal </a:t>
            </a:r>
            <a:r>
              <a:rPr lang="en-IN" sz="1200" dirty="0" err="1" smtClean="0">
                <a:solidFill>
                  <a:srgbClr val="000000"/>
                </a:solidFill>
                <a:latin typeface="Cambria"/>
                <a:ea typeface="Cambria"/>
                <a:sym typeface="Cambria"/>
              </a:rPr>
              <a:t>rbc</a:t>
            </a:r>
            <a:r>
              <a:rPr lang="en-IN" sz="1200" dirty="0" smtClean="0">
                <a:solidFill>
                  <a:srgbClr val="000000"/>
                </a:solidFill>
                <a:latin typeface="Cambria"/>
                <a:ea typeface="Cambria"/>
                <a:sym typeface="Cambria"/>
              </a:rPr>
              <a:t> count.</a:t>
            </a:r>
          </a:p>
          <a:p>
            <a:pPr>
              <a:lnSpc>
                <a:spcPts val="1679"/>
              </a:lnSpc>
              <a:buFont typeface="Arial" pitchFamily="34" charset="0"/>
              <a:buChar char="•"/>
            </a:pPr>
            <a:r>
              <a:rPr lang="en-IN" sz="1200" dirty="0" smtClean="0">
                <a:solidFill>
                  <a:srgbClr val="000000"/>
                </a:solidFill>
                <a:latin typeface="Cambria"/>
                <a:ea typeface="Cambria"/>
                <a:sym typeface="Cambria"/>
              </a:rPr>
              <a:t>S</a:t>
            </a:r>
            <a:r>
              <a:rPr lang="en-US" sz="1200" dirty="0" err="1" smtClean="0"/>
              <a:t>yp</a:t>
            </a:r>
            <a:r>
              <a:rPr lang="en-US" sz="1200" dirty="0" smtClean="0"/>
              <a:t>. Advent 5ml (3.5 ml BD for 5 days)</a:t>
            </a:r>
          </a:p>
          <a:p>
            <a:pPr>
              <a:lnSpc>
                <a:spcPts val="1679"/>
              </a:lnSpc>
              <a:buFont typeface="Arial" pitchFamily="34" charset="0"/>
              <a:buChar char="•"/>
            </a:pPr>
            <a:r>
              <a:rPr lang="en-US" sz="1200" dirty="0" smtClean="0"/>
              <a:t> </a:t>
            </a:r>
            <a:r>
              <a:rPr lang="en-US" sz="1200" dirty="0" err="1" smtClean="0"/>
              <a:t>Syp</a:t>
            </a:r>
            <a:r>
              <a:rPr lang="en-US" sz="1200" dirty="0" smtClean="0"/>
              <a:t>. </a:t>
            </a:r>
            <a:r>
              <a:rPr lang="en-US" sz="1200" dirty="0" err="1" smtClean="0"/>
              <a:t>Ambrolite</a:t>
            </a:r>
            <a:r>
              <a:rPr lang="en-US" sz="1200" dirty="0" smtClean="0"/>
              <a:t> s ( 2.5ml TDS for 3 days), </a:t>
            </a:r>
          </a:p>
          <a:p>
            <a:pPr>
              <a:lnSpc>
                <a:spcPts val="1679"/>
              </a:lnSpc>
              <a:buFont typeface="Arial" pitchFamily="34" charset="0"/>
              <a:buChar char="•"/>
            </a:pPr>
            <a:r>
              <a:rPr lang="en-US" sz="1200" dirty="0" err="1" smtClean="0"/>
              <a:t>Syp</a:t>
            </a:r>
            <a:r>
              <a:rPr lang="en-US" sz="1200" dirty="0" smtClean="0"/>
              <a:t>. </a:t>
            </a:r>
            <a:r>
              <a:rPr lang="en-US" sz="1200" dirty="0" err="1" smtClean="0"/>
              <a:t>Paracetamol</a:t>
            </a:r>
            <a:r>
              <a:rPr lang="en-US" sz="1200" dirty="0" smtClean="0"/>
              <a:t> 120 for 3 days</a:t>
            </a:r>
            <a:endParaRPr lang="en-US" sz="1200" dirty="0">
              <a:solidFill>
                <a:srgbClr val="000000"/>
              </a:solidFill>
              <a:latin typeface="Cambria"/>
              <a:ea typeface="Cambria"/>
              <a:cs typeface="Cambria"/>
              <a:sym typeface="Cambria"/>
            </a:endParaRPr>
          </a:p>
        </p:txBody>
      </p:sp>
      <p:sp>
        <p:nvSpPr>
          <p:cNvPr id="50" name="TextBox 50"/>
          <p:cNvSpPr txBox="1"/>
          <p:nvPr/>
        </p:nvSpPr>
        <p:spPr>
          <a:xfrm>
            <a:off x="7222474" y="5932475"/>
            <a:ext cx="2948172" cy="1090042"/>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Differential diagnosis / Clinical insights :</a:t>
            </a:r>
            <a:r>
              <a:rPr lang="en-US" sz="1200" dirty="0">
                <a:solidFill>
                  <a:srgbClr val="000000"/>
                </a:solidFill>
                <a:latin typeface="Cambria"/>
                <a:ea typeface="Cambria"/>
                <a:cs typeface="Cambria"/>
                <a:sym typeface="Cambria"/>
              </a:rPr>
              <a:t> </a:t>
            </a:r>
          </a:p>
          <a:p>
            <a:pPr marL="259080" lvl="1" indent="-129540" algn="l">
              <a:lnSpc>
                <a:spcPts val="1679"/>
              </a:lnSpc>
              <a:buFont typeface="Arial"/>
              <a:buChar char="•"/>
            </a:pPr>
            <a:r>
              <a:rPr lang="en-IN" sz="1200" dirty="0" smtClean="0">
                <a:solidFill>
                  <a:srgbClr val="000000"/>
                </a:solidFill>
                <a:latin typeface="Cambria"/>
                <a:ea typeface="Cambria"/>
                <a:cs typeface="Cambria"/>
                <a:sym typeface="Cambria"/>
              </a:rPr>
              <a:t>Allergic rhinitis</a:t>
            </a:r>
            <a:endParaRPr lang="en-US" sz="1200" dirty="0">
              <a:solidFill>
                <a:srgbClr val="000000"/>
              </a:solidFill>
              <a:latin typeface="Cambria"/>
              <a:ea typeface="Cambria"/>
              <a:cs typeface="Cambria"/>
              <a:sym typeface="Cambria"/>
            </a:endParaRPr>
          </a:p>
          <a:p>
            <a:pPr marL="259080" lvl="1" indent="-129540" algn="l">
              <a:lnSpc>
                <a:spcPts val="1679"/>
              </a:lnSpc>
              <a:buFont typeface="Arial"/>
              <a:buChar char="•"/>
            </a:pPr>
            <a:r>
              <a:rPr lang="en-IN" sz="1200" dirty="0" smtClean="0">
                <a:solidFill>
                  <a:srgbClr val="000000"/>
                </a:solidFill>
                <a:latin typeface="Cambria"/>
                <a:ea typeface="Cambria"/>
                <a:cs typeface="Cambria"/>
                <a:sym typeface="Cambria"/>
              </a:rPr>
              <a:t>LRTI</a:t>
            </a:r>
            <a:endParaRPr lang="en-US" sz="1200" dirty="0">
              <a:solidFill>
                <a:srgbClr val="000000"/>
              </a:solidFill>
              <a:latin typeface="Cambria"/>
              <a:ea typeface="Cambria"/>
              <a:cs typeface="Cambria"/>
              <a:sym typeface="Cambria"/>
            </a:endParaRPr>
          </a:p>
          <a:p>
            <a:pPr marL="259080" lvl="1" indent="-129540" algn="l">
              <a:lnSpc>
                <a:spcPts val="1679"/>
              </a:lnSpc>
              <a:buFont typeface="Arial"/>
              <a:buChar char="•"/>
            </a:pPr>
            <a:r>
              <a:rPr lang="en-IN" sz="1200" dirty="0" smtClean="0">
                <a:solidFill>
                  <a:srgbClr val="000000"/>
                </a:solidFill>
                <a:latin typeface="Cambria"/>
                <a:ea typeface="Cambria"/>
                <a:cs typeface="Cambria"/>
                <a:sym typeface="Cambria"/>
              </a:rPr>
              <a:t>Asthma</a:t>
            </a:r>
            <a:endParaRPr lang="en-US" sz="1200" dirty="0">
              <a:solidFill>
                <a:srgbClr val="000000"/>
              </a:solidFill>
              <a:latin typeface="Cambria"/>
              <a:ea typeface="Cambria"/>
              <a:cs typeface="Cambria"/>
              <a:sym typeface="Cambria"/>
            </a:endParaRPr>
          </a:p>
          <a:p>
            <a:pPr marL="259080" lvl="1" indent="-129540" algn="l">
              <a:lnSpc>
                <a:spcPts val="1679"/>
              </a:lnSpc>
              <a:buFont typeface="Arial"/>
              <a:buChar char="•"/>
            </a:pPr>
            <a:r>
              <a:rPr lang="en-IN" sz="1200" dirty="0" smtClean="0">
                <a:solidFill>
                  <a:srgbClr val="000000"/>
                </a:solidFill>
                <a:latin typeface="Cambria"/>
                <a:ea typeface="Cambria"/>
                <a:cs typeface="Cambria"/>
                <a:sym typeface="Cambria"/>
              </a:rPr>
              <a:t>Tuberculosis</a:t>
            </a:r>
            <a:endParaRPr lang="en-US" sz="1200" dirty="0">
              <a:solidFill>
                <a:srgbClr val="000000"/>
              </a:solidFill>
              <a:latin typeface="Cambria"/>
              <a:ea typeface="Cambria"/>
              <a:cs typeface="Cambria"/>
              <a:sym typeface="Cambria"/>
            </a:endParaRPr>
          </a:p>
        </p:txBody>
      </p:sp>
      <p:sp>
        <p:nvSpPr>
          <p:cNvPr id="51" name="TextBox 51"/>
          <p:cNvSpPr txBox="1"/>
          <p:nvPr/>
        </p:nvSpPr>
        <p:spPr>
          <a:xfrm>
            <a:off x="7270748" y="1917676"/>
            <a:ext cx="4907319" cy="2143344"/>
          </a:xfrm>
          <a:prstGeom prst="rect">
            <a:avLst/>
          </a:prstGeom>
        </p:spPr>
        <p:txBody>
          <a:bodyPr lIns="0" tIns="0" rIns="0" bIns="0" rtlCol="0" anchor="t">
            <a:spAutoFit/>
          </a:bodyPr>
          <a:lstStyle/>
          <a:p>
            <a:r>
              <a:rPr lang="en-US" sz="1400" b="1" dirty="0" smtClean="0"/>
              <a:t> </a:t>
            </a:r>
            <a:r>
              <a:rPr lang="en-US" sz="1400" dirty="0" smtClean="0"/>
              <a:t>C/o fever for past 3 days</a:t>
            </a:r>
          </a:p>
          <a:p>
            <a:r>
              <a:rPr lang="en-US" sz="1400" dirty="0" smtClean="0"/>
              <a:t>Patient was apparently normal 3 days before after which she developed fever for past 3 days, sudden in onset, progressive in nature, aggravating on night and reliving on medications.</a:t>
            </a:r>
          </a:p>
          <a:p>
            <a:r>
              <a:rPr lang="en-US" sz="1400" dirty="0" smtClean="0"/>
              <a:t>H/o cough, vomiting (food particles+, white in </a:t>
            </a:r>
            <a:r>
              <a:rPr lang="en-US" sz="1400" dirty="0" err="1" smtClean="0"/>
              <a:t>colour</a:t>
            </a:r>
            <a:r>
              <a:rPr lang="en-US" sz="1400" dirty="0" smtClean="0"/>
              <a:t>).</a:t>
            </a:r>
          </a:p>
          <a:p>
            <a:r>
              <a:rPr lang="en-US" sz="1400" dirty="0" smtClean="0"/>
              <a:t> No h/o ear and throat complaints,  hoarseness of voice, </a:t>
            </a:r>
            <a:r>
              <a:rPr lang="en-US" sz="1400" dirty="0" err="1" smtClean="0"/>
              <a:t>stridor</a:t>
            </a:r>
            <a:r>
              <a:rPr lang="en-US" sz="1400" dirty="0" smtClean="0"/>
              <a:t>, wheezing, </a:t>
            </a:r>
            <a:r>
              <a:rPr lang="en-US" sz="1400" dirty="0" err="1" smtClean="0"/>
              <a:t>trismus</a:t>
            </a:r>
            <a:r>
              <a:rPr lang="en-US" sz="1400" dirty="0" smtClean="0"/>
              <a:t>, rashes on body, weight loss, night sweats, diarrhea, asthma, skin </a:t>
            </a:r>
            <a:r>
              <a:rPr lang="en-US" sz="1400" dirty="0" err="1" smtClean="0"/>
              <a:t>lessions</a:t>
            </a:r>
            <a:r>
              <a:rPr lang="en-US" sz="1400" dirty="0" smtClean="0"/>
              <a:t>, decreased urine output, chills and rigor</a:t>
            </a:r>
          </a:p>
          <a:p>
            <a:pPr algn="l">
              <a:lnSpc>
                <a:spcPts val="1679"/>
              </a:lnSpc>
            </a:pPr>
            <a:endParaRPr lang="en-US" sz="1400" b="1" dirty="0">
              <a:solidFill>
                <a:srgbClr val="000000"/>
              </a:solidFill>
              <a:latin typeface="Cambria Bold"/>
              <a:ea typeface="Cambria Bold"/>
              <a:cs typeface="Cambria Bold"/>
              <a:sym typeface="Cambria Bold"/>
            </a:endParaRPr>
          </a:p>
        </p:txBody>
      </p:sp>
      <p:sp>
        <p:nvSpPr>
          <p:cNvPr id="52" name="TextBox 52"/>
          <p:cNvSpPr txBox="1"/>
          <p:nvPr/>
        </p:nvSpPr>
        <p:spPr>
          <a:xfrm>
            <a:off x="8713877" y="6142025"/>
            <a:ext cx="2434977" cy="872034"/>
          </a:xfrm>
          <a:prstGeom prst="rect">
            <a:avLst/>
          </a:prstGeom>
        </p:spPr>
        <p:txBody>
          <a:bodyPr lIns="0" tIns="0" rIns="0" bIns="0" rtlCol="0" anchor="t">
            <a:spAutoFit/>
          </a:bodyPr>
          <a:lstStyle/>
          <a:p>
            <a:pPr marL="259080" lvl="1" indent="-129540" algn="l">
              <a:lnSpc>
                <a:spcPts val="1679"/>
              </a:lnSpc>
              <a:buFont typeface="Arial"/>
              <a:buChar char="•"/>
            </a:pPr>
            <a:r>
              <a:rPr lang="en-US" sz="1200" dirty="0" err="1" smtClean="0">
                <a:solidFill>
                  <a:srgbClr val="000000"/>
                </a:solidFill>
                <a:latin typeface="Cambria"/>
                <a:ea typeface="Cambria"/>
                <a:cs typeface="Cambria"/>
                <a:sym typeface="Cambria"/>
              </a:rPr>
              <a:t>Paediatric</a:t>
            </a:r>
            <a:r>
              <a:rPr lang="en-US" sz="1200" dirty="0" smtClean="0">
                <a:solidFill>
                  <a:srgbClr val="000000"/>
                </a:solidFill>
                <a:latin typeface="Cambria"/>
                <a:ea typeface="Cambria"/>
                <a:cs typeface="Cambria"/>
                <a:sym typeface="Cambria"/>
              </a:rPr>
              <a:t> retropharyngeal abscess</a:t>
            </a:r>
            <a:endParaRPr lang="en-US" sz="1200" dirty="0">
              <a:solidFill>
                <a:srgbClr val="000000"/>
              </a:solidFill>
              <a:latin typeface="Cambria"/>
              <a:ea typeface="Cambria"/>
              <a:cs typeface="Cambria"/>
              <a:sym typeface="Cambria"/>
            </a:endParaRPr>
          </a:p>
          <a:p>
            <a:pPr marL="259080" lvl="1" indent="-129540" algn="l">
              <a:lnSpc>
                <a:spcPts val="1679"/>
              </a:lnSpc>
              <a:buFont typeface="Arial"/>
              <a:buChar char="•"/>
            </a:pPr>
            <a:r>
              <a:rPr lang="en-US" sz="1200" dirty="0" smtClean="0">
                <a:solidFill>
                  <a:srgbClr val="000000"/>
                </a:solidFill>
                <a:latin typeface="Cambria"/>
                <a:ea typeface="Cambria"/>
                <a:cs typeface="Cambria"/>
                <a:sym typeface="Cambria"/>
              </a:rPr>
              <a:t>Pneumonia </a:t>
            </a:r>
            <a:endParaRPr lang="en-US" sz="1200" dirty="0">
              <a:solidFill>
                <a:srgbClr val="000000"/>
              </a:solidFill>
              <a:latin typeface="Cambria"/>
              <a:ea typeface="Cambria"/>
              <a:cs typeface="Cambria"/>
              <a:sym typeface="Cambria"/>
            </a:endParaRPr>
          </a:p>
          <a:p>
            <a:pPr marL="259080" lvl="1" indent="-129540" algn="l">
              <a:lnSpc>
                <a:spcPts val="1679"/>
              </a:lnSpc>
              <a:buFont typeface="Arial"/>
              <a:buChar char="•"/>
            </a:pPr>
            <a:r>
              <a:rPr lang="en-IN" sz="1200" dirty="0" smtClean="0">
                <a:solidFill>
                  <a:srgbClr val="000000"/>
                </a:solidFill>
                <a:latin typeface="Cambria"/>
                <a:ea typeface="Cambria"/>
                <a:cs typeface="Cambria"/>
                <a:sym typeface="Cambria"/>
              </a:rPr>
              <a:t>Sinusitis</a:t>
            </a:r>
            <a:endParaRPr lang="en-US" sz="1200" dirty="0">
              <a:solidFill>
                <a:srgbClr val="000000"/>
              </a:solidFill>
              <a:latin typeface="Cambria"/>
              <a:ea typeface="Cambria"/>
              <a:cs typeface="Cambria"/>
              <a:sym typeface="Cambria"/>
            </a:endParaRPr>
          </a:p>
        </p:txBody>
      </p:sp>
      <p:pic>
        <p:nvPicPr>
          <p:cNvPr id="1026" name="Picture 2"/>
          <p:cNvPicPr>
            <a:picLocks noChangeAspect="1" noChangeArrowheads="1"/>
          </p:cNvPicPr>
          <p:nvPr/>
        </p:nvPicPr>
        <p:blipFill>
          <a:blip r:embed="rId3"/>
          <a:srcRect/>
          <a:stretch>
            <a:fillRect/>
          </a:stretch>
        </p:blipFill>
        <p:spPr bwMode="auto">
          <a:xfrm>
            <a:off x="12485722" y="1489048"/>
            <a:ext cx="2214578" cy="2571768"/>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412700" y="1346172"/>
            <a:ext cx="6643734" cy="75009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360359" y="1343339"/>
            <a:ext cx="14378940" cy="7555230"/>
            <a:chOff x="0" y="0"/>
            <a:chExt cx="14378940" cy="755523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576070"/>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585722"/>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03644" y="4550029"/>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545330"/>
              <a:ext cx="7475347" cy="1267587"/>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5" name="Freeform 15"/>
            <p:cNvSpPr/>
            <p:nvPr/>
          </p:nvSpPr>
          <p:spPr>
            <a:xfrm>
              <a:off x="6862064" y="4758563"/>
              <a:ext cx="2837053" cy="11557"/>
            </a:xfrm>
            <a:custGeom>
              <a:avLst/>
              <a:gdLst/>
              <a:ahLst/>
              <a:cxnLst/>
              <a:rect l="l" t="t" r="r" b="b"/>
              <a:pathLst>
                <a:path w="2837053" h="11557">
                  <a:moveTo>
                    <a:pt x="0" y="0"/>
                  </a:moveTo>
                  <a:lnTo>
                    <a:pt x="2837053" y="0"/>
                  </a:lnTo>
                  <a:lnTo>
                    <a:pt x="2837053" y="11557"/>
                  </a:lnTo>
                  <a:lnTo>
                    <a:pt x="0" y="11557"/>
                  </a:lnTo>
                  <a:close/>
                </a:path>
              </a:pathLst>
            </a:custGeom>
            <a:solidFill>
              <a:srgbClr val="000000"/>
            </a:solidFill>
          </p:spPr>
        </p:sp>
        <p:sp>
          <p:nvSpPr>
            <p:cNvPr id="16" name="Freeform 16"/>
            <p:cNvSpPr/>
            <p:nvPr/>
          </p:nvSpPr>
          <p:spPr>
            <a:xfrm>
              <a:off x="6811899" y="5973064"/>
              <a:ext cx="7456805" cy="1400175"/>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5968238"/>
              <a:ext cx="7466330" cy="1409827"/>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8" name="Freeform 18"/>
            <p:cNvSpPr/>
            <p:nvPr/>
          </p:nvSpPr>
          <p:spPr>
            <a:xfrm>
              <a:off x="6870319" y="6181598"/>
              <a:ext cx="2210181" cy="11557"/>
            </a:xfrm>
            <a:custGeom>
              <a:avLst/>
              <a:gdLst/>
              <a:ahLst/>
              <a:cxnLst/>
              <a:rect l="l" t="t" r="r" b="b"/>
              <a:pathLst>
                <a:path w="2210181" h="11557">
                  <a:moveTo>
                    <a:pt x="0" y="0"/>
                  </a:moveTo>
                  <a:lnTo>
                    <a:pt x="2210181" y="0"/>
                  </a:lnTo>
                  <a:lnTo>
                    <a:pt x="2210181" y="11557"/>
                  </a:lnTo>
                  <a:lnTo>
                    <a:pt x="0" y="11557"/>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1" name="TextBox 21"/>
          <p:cNvSpPr txBox="1"/>
          <p:nvPr/>
        </p:nvSpPr>
        <p:spPr>
          <a:xfrm>
            <a:off x="381000" y="9550946"/>
            <a:ext cx="204340" cy="208283"/>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2 | </a:t>
            </a:r>
          </a:p>
        </p:txBody>
      </p:sp>
      <p:sp>
        <p:nvSpPr>
          <p:cNvPr id="22" name="TextBox 22"/>
          <p:cNvSpPr txBox="1"/>
          <p:nvPr/>
        </p:nvSpPr>
        <p:spPr>
          <a:xfrm>
            <a:off x="914400" y="400507"/>
            <a:ext cx="2286000" cy="181525"/>
          </a:xfrm>
          <a:prstGeom prst="rect">
            <a:avLst/>
          </a:prstGeom>
        </p:spPr>
        <p:txBody>
          <a:bodyPr lIns="0" tIns="0" rIns="0" bIns="0" rtlCol="0" anchor="t">
            <a:spAutoFit/>
          </a:bodyPr>
          <a:lstStyle/>
          <a:p>
            <a:pPr>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 BALARAM.S</a:t>
            </a:r>
            <a:endParaRPr lang="en-US" sz="1100" b="1" dirty="0">
              <a:solidFill>
                <a:srgbClr val="000000"/>
              </a:solidFill>
              <a:latin typeface="Calibri (MS) Bold"/>
              <a:ea typeface="Calibri (MS) Bold"/>
              <a:cs typeface="Calibri (MS) Bold"/>
              <a:sym typeface="Calibri (MS) Bold"/>
            </a:endParaRPr>
          </a:p>
        </p:txBody>
      </p:sp>
      <p:sp>
        <p:nvSpPr>
          <p:cNvPr id="23" name="TextBox 23"/>
          <p:cNvSpPr txBox="1"/>
          <p:nvPr/>
        </p:nvSpPr>
        <p:spPr>
          <a:xfrm>
            <a:off x="2849851" y="4220394"/>
            <a:ext cx="1843230" cy="213312"/>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Radiological/ Procedure Image</a:t>
            </a:r>
            <a:r>
              <a:rPr lang="en-US" sz="1100">
                <a:solidFill>
                  <a:srgbClr val="000000"/>
                </a:solidFill>
                <a:latin typeface="Calibri (MS)"/>
                <a:ea typeface="Calibri (MS)"/>
                <a:cs typeface="Calibri (MS)"/>
                <a:sym typeface="Calibri (MS)"/>
              </a:rPr>
              <a:t> </a:t>
            </a:r>
          </a:p>
        </p:txBody>
      </p:sp>
      <p:sp>
        <p:nvSpPr>
          <p:cNvPr id="24" name="TextBox 24"/>
          <p:cNvSpPr txBox="1"/>
          <p:nvPr/>
        </p:nvSpPr>
        <p:spPr>
          <a:xfrm>
            <a:off x="12344400" y="400507"/>
            <a:ext cx="1195149" cy="181525"/>
          </a:xfrm>
          <a:prstGeom prst="rect">
            <a:avLst/>
          </a:prstGeom>
        </p:spPr>
        <p:txBody>
          <a:bodyPr lIns="0" tIns="0" rIns="0" bIns="0" rtlCol="0" anchor="t">
            <a:spAutoFit/>
          </a:bodyPr>
          <a:lstStyle/>
          <a:p>
            <a:pPr>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3134527" y="2179901"/>
            <a:ext cx="959282" cy="208283"/>
          </a:xfrm>
          <a:prstGeom prst="rect">
            <a:avLst/>
          </a:prstGeom>
        </p:spPr>
        <p:txBody>
          <a:bodyPr lIns="0" tIns="0" rIns="0" bIns="0" rtlCol="0" anchor="t">
            <a:spAutoFit/>
          </a:bodyPr>
          <a:lstStyle/>
          <a:p>
            <a:pPr algn="l">
              <a:lnSpc>
                <a:spcPts val="1539"/>
              </a:lnSpc>
            </a:pPr>
            <a:r>
              <a:rPr lang="en-US" sz="1100" b="1" dirty="0" err="1">
                <a:solidFill>
                  <a:srgbClr val="808080"/>
                </a:solidFill>
                <a:latin typeface="Calibri (MS) Bold"/>
                <a:ea typeface="Calibri (MS) Bold"/>
                <a:cs typeface="Calibri (MS) Bold"/>
                <a:sym typeface="Calibri (MS) Bold"/>
              </a:rPr>
              <a:t>Pic</a:t>
            </a:r>
            <a:r>
              <a:rPr lang="en-US" sz="1100" b="1" dirty="0">
                <a:solidFill>
                  <a:srgbClr val="808080"/>
                </a:solidFill>
                <a:latin typeface="Calibri (MS) Bold"/>
                <a:ea typeface="Calibri (MS) Bold"/>
                <a:cs typeface="Calibri (MS) Bold"/>
                <a:sym typeface="Calibri (MS) Bold"/>
              </a:rPr>
              <a:t> with pa/</a:t>
            </a:r>
            <a:r>
              <a:rPr lang="en-US" sz="1100" b="1" dirty="0" err="1">
                <a:solidFill>
                  <a:srgbClr val="808080"/>
                </a:solidFill>
                <a:latin typeface="Calibri (MS) Bold"/>
                <a:ea typeface="Calibri (MS) Bold"/>
                <a:cs typeface="Calibri (MS) Bold"/>
                <a:sym typeface="Calibri (MS) Bold"/>
              </a:rPr>
              <a:t>ent</a:t>
            </a:r>
            <a:r>
              <a:rPr lang="en-US" sz="1100" b="1" dirty="0">
                <a:solidFill>
                  <a:srgbClr val="808080"/>
                </a:solidFill>
                <a:latin typeface="Calibri (MS) Bold"/>
                <a:ea typeface="Calibri (MS) Bold"/>
                <a:cs typeface="Calibri (MS) Bold"/>
                <a:sym typeface="Calibri (MS) Bold"/>
              </a:rPr>
              <a:t> </a:t>
            </a:r>
          </a:p>
        </p:txBody>
      </p:sp>
      <p:sp>
        <p:nvSpPr>
          <p:cNvPr id="26" name="TextBox 26"/>
          <p:cNvSpPr txBox="1"/>
          <p:nvPr/>
        </p:nvSpPr>
        <p:spPr>
          <a:xfrm>
            <a:off x="914400" y="953995"/>
            <a:ext cx="3784580" cy="238335"/>
          </a:xfrm>
          <a:prstGeom prst="rect">
            <a:avLst/>
          </a:prstGeom>
        </p:spPr>
        <p:txBody>
          <a:bodyPr wrap="square"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2</a:t>
            </a:r>
            <a:r>
              <a:rPr lang="en-US" sz="1399" b="1" dirty="0">
                <a:solidFill>
                  <a:srgbClr val="000000"/>
                </a:solidFill>
                <a:latin typeface="Cambria Bold"/>
                <a:ea typeface="Cambria Bold"/>
                <a:cs typeface="Cambria Bold"/>
                <a:sym typeface="Cambria Bold"/>
              </a:rPr>
              <a:t>              PID: </a:t>
            </a:r>
            <a:r>
              <a:rPr lang="en-US" sz="1400" dirty="0" smtClean="0"/>
              <a:t>  240807232336</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5984864" y="560354"/>
            <a:ext cx="3214710" cy="246927"/>
          </a:xfrm>
          <a:prstGeom prst="rect">
            <a:avLst/>
          </a:prstGeom>
        </p:spPr>
        <p:txBody>
          <a:bodyPr wrap="square" lIns="0" tIns="0" rIns="0" bIns="0" rtlCol="0" anchor="t">
            <a:spAutoFit/>
          </a:bodyPr>
          <a:lstStyle/>
          <a:p>
            <a:pPr algn="ctr">
              <a:lnSpc>
                <a:spcPts val="1859"/>
              </a:lnSpc>
            </a:pPr>
            <a:r>
              <a:rPr lang="en-US" sz="2200" b="1" i="1" dirty="0">
                <a:solidFill>
                  <a:srgbClr val="000000"/>
                </a:solidFill>
                <a:latin typeface="Cambria Bold Italics"/>
                <a:ea typeface="Cambria Bold Italics"/>
                <a:cs typeface="Cambria Bold Italics"/>
                <a:sym typeface="Cambria Bold Italics"/>
              </a:rPr>
              <a:t>A case of </a:t>
            </a:r>
            <a:r>
              <a:rPr lang="en-US" sz="2200" b="1" i="1" dirty="0" smtClean="0">
                <a:solidFill>
                  <a:srgbClr val="000000"/>
                </a:solidFill>
                <a:latin typeface="Cambria Bold Italics"/>
                <a:ea typeface="Cambria Bold Italics"/>
                <a:cs typeface="Cambria Bold Italics"/>
                <a:sym typeface="Cambria Bold Italics"/>
              </a:rPr>
              <a:t> gastroenteritis</a:t>
            </a:r>
            <a:endParaRPr lang="en-US" sz="2200" b="1" i="1" dirty="0">
              <a:solidFill>
                <a:srgbClr val="000000"/>
              </a:solidFill>
              <a:latin typeface="Cambria Bold Italics"/>
              <a:ea typeface="Cambria Bold Italics"/>
              <a:cs typeface="Cambria Bold Italics"/>
              <a:sym typeface="Cambria Bold Italics"/>
            </a:endParaRPr>
          </a:p>
        </p:txBody>
      </p:sp>
      <p:sp>
        <p:nvSpPr>
          <p:cNvPr id="31" name="TextBox 31"/>
          <p:cNvSpPr txBox="1"/>
          <p:nvPr/>
        </p:nvSpPr>
        <p:spPr>
          <a:xfrm>
            <a:off x="3200400" y="811120"/>
            <a:ext cx="11285586" cy="448841"/>
          </a:xfrm>
          <a:prstGeom prst="rect">
            <a:avLst/>
          </a:prstGeom>
        </p:spPr>
        <p:txBody>
          <a:bodyPr wrap="square"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 </a:t>
            </a:r>
            <a:r>
              <a:rPr lang="en-US" sz="1400" dirty="0" smtClean="0"/>
              <a:t> </a:t>
            </a:r>
            <a:r>
              <a:rPr lang="en-US" sz="1400" dirty="0" err="1" smtClean="0"/>
              <a:t>Lan</a:t>
            </a:r>
            <a:r>
              <a:rPr lang="en-US" sz="1400" dirty="0" smtClean="0"/>
              <a:t> </a:t>
            </a:r>
            <a:r>
              <a:rPr lang="en-US" sz="1400" dirty="0" err="1" smtClean="0"/>
              <a:t>watanabe</a:t>
            </a:r>
            <a:r>
              <a:rPr lang="en-US" sz="1400" dirty="0" smtClean="0"/>
              <a:t> </a:t>
            </a:r>
            <a:r>
              <a:rPr lang="en-US" sz="1399" b="1" dirty="0">
                <a:solidFill>
                  <a:srgbClr val="000000"/>
                </a:solidFill>
                <a:latin typeface="Cambria Bold"/>
                <a:ea typeface="Cambria Bold"/>
                <a:cs typeface="Cambria Bold"/>
                <a:sym typeface="Cambria Bold"/>
              </a:rPr>
              <a:t>                                                                                                                            Age: 5                       Gender</a:t>
            </a:r>
            <a:r>
              <a:rPr lang="en-US" sz="1399" b="1" dirty="0" smtClean="0">
                <a:solidFill>
                  <a:srgbClr val="000000"/>
                </a:solidFill>
                <a:latin typeface="Cambria Bold"/>
                <a:ea typeface="Cambria Bold"/>
                <a:cs typeface="Cambria Bold"/>
                <a:sym typeface="Cambria Bold"/>
              </a:rPr>
              <a:t>: female</a:t>
            </a:r>
            <a:r>
              <a:rPr lang="en-US" sz="1399" b="1" dirty="0">
                <a:solidFill>
                  <a:srgbClr val="000000"/>
                </a:solidFill>
                <a:latin typeface="Cambria Bold"/>
                <a:ea typeface="Cambria Bold"/>
                <a:cs typeface="Cambria Bold"/>
                <a:sym typeface="Cambria Bold"/>
              </a:rPr>
              <a:t>  </a:t>
            </a: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22474" y="4124620"/>
            <a:ext cx="649062"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Workup:</a:t>
            </a:r>
            <a:r>
              <a:rPr lang="en-US" sz="1200">
                <a:solidFill>
                  <a:srgbClr val="000000"/>
                </a:solidFill>
                <a:latin typeface="Cambria"/>
                <a:ea typeface="Cambria"/>
                <a:cs typeface="Cambria"/>
                <a:sym typeface="Cambria"/>
              </a:rPr>
              <a:t> </a:t>
            </a:r>
          </a:p>
        </p:txBody>
      </p:sp>
      <p:sp>
        <p:nvSpPr>
          <p:cNvPr id="48" name="TextBox 48"/>
          <p:cNvSpPr txBox="1"/>
          <p:nvPr/>
        </p:nvSpPr>
        <p:spPr>
          <a:xfrm>
            <a:off x="7222474" y="1589475"/>
            <a:ext cx="1563557"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30723" y="7355434"/>
            <a:ext cx="228650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Management / Procedure done:</a:t>
            </a:r>
            <a:r>
              <a:rPr lang="en-US" sz="1200">
                <a:solidFill>
                  <a:srgbClr val="000000"/>
                </a:solidFill>
                <a:latin typeface="Cambria"/>
                <a:ea typeface="Cambria"/>
                <a:cs typeface="Cambria"/>
                <a:sym typeface="Cambria"/>
              </a:rPr>
              <a:t> </a:t>
            </a:r>
          </a:p>
        </p:txBody>
      </p:sp>
      <p:sp>
        <p:nvSpPr>
          <p:cNvPr id="50" name="TextBox 50"/>
          <p:cNvSpPr txBox="1"/>
          <p:nvPr/>
        </p:nvSpPr>
        <p:spPr>
          <a:xfrm>
            <a:off x="7222474" y="5932475"/>
            <a:ext cx="292598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Differential diagnosis / Clinical insights :</a:t>
            </a:r>
            <a:r>
              <a:rPr lang="en-US" sz="1200">
                <a:solidFill>
                  <a:srgbClr val="000000"/>
                </a:solidFill>
                <a:latin typeface="Cambria"/>
                <a:ea typeface="Cambria"/>
                <a:cs typeface="Cambria"/>
                <a:sym typeface="Cambria"/>
              </a:rPr>
              <a:t> </a:t>
            </a:r>
          </a:p>
        </p:txBody>
      </p:sp>
      <p:pic>
        <p:nvPicPr>
          <p:cNvPr id="2050" name="Picture 2"/>
          <p:cNvPicPr>
            <a:picLocks noChangeAspect="1" noChangeArrowheads="1"/>
          </p:cNvPicPr>
          <p:nvPr/>
        </p:nvPicPr>
        <p:blipFill>
          <a:blip r:embed="rId2"/>
          <a:srcRect/>
          <a:stretch>
            <a:fillRect/>
          </a:stretch>
        </p:blipFill>
        <p:spPr bwMode="auto">
          <a:xfrm>
            <a:off x="12485722" y="1489048"/>
            <a:ext cx="2214578" cy="2500330"/>
          </a:xfrm>
          <a:prstGeom prst="rect">
            <a:avLst/>
          </a:prstGeom>
          <a:noFill/>
          <a:ln w="9525">
            <a:noFill/>
            <a:miter lim="800000"/>
            <a:headEnd/>
            <a:tailEnd/>
          </a:ln>
          <a:effectLst/>
        </p:spPr>
      </p:pic>
      <p:sp>
        <p:nvSpPr>
          <p:cNvPr id="52" name="TextBox 51"/>
          <p:cNvSpPr txBox="1"/>
          <p:nvPr/>
        </p:nvSpPr>
        <p:spPr>
          <a:xfrm>
            <a:off x="7270748" y="1917676"/>
            <a:ext cx="4929222" cy="2031325"/>
          </a:xfrm>
          <a:prstGeom prst="rect">
            <a:avLst/>
          </a:prstGeom>
          <a:noFill/>
        </p:spPr>
        <p:txBody>
          <a:bodyPr wrap="square" rtlCol="0">
            <a:spAutoFit/>
          </a:bodyPr>
          <a:lstStyle/>
          <a:p>
            <a:r>
              <a:rPr lang="en-US" sz="1400" dirty="0" smtClean="0"/>
              <a:t>C/o </a:t>
            </a:r>
            <a:r>
              <a:rPr lang="en-US" sz="1400" dirty="0" err="1" smtClean="0"/>
              <a:t>diarrhoea</a:t>
            </a:r>
            <a:r>
              <a:rPr lang="en-US" sz="1400" dirty="0" smtClean="0"/>
              <a:t> for past 2 days</a:t>
            </a:r>
          </a:p>
          <a:p>
            <a:r>
              <a:rPr lang="en-US" sz="1400" dirty="0" err="1" smtClean="0"/>
              <a:t>Diarrhoea</a:t>
            </a:r>
            <a:r>
              <a:rPr lang="en-US" sz="1400" dirty="0" smtClean="0"/>
              <a:t> for past 2 days, sudden in onset, progressive in nature, no aggravating and reliving factors. H/o fever, </a:t>
            </a:r>
            <a:r>
              <a:rPr lang="en-US" sz="1400" dirty="0" err="1" smtClean="0"/>
              <a:t>diarrhoea</a:t>
            </a:r>
            <a:r>
              <a:rPr lang="en-US" sz="1400" dirty="0" smtClean="0"/>
              <a:t> ( </a:t>
            </a:r>
            <a:r>
              <a:rPr lang="en-US" sz="1400" dirty="0" err="1" smtClean="0"/>
              <a:t>waterly</a:t>
            </a:r>
            <a:r>
              <a:rPr lang="en-US" sz="1400" dirty="0" smtClean="0"/>
              <a:t> in consistency, brown in color, 2 episodes), abdominal pain, running nose, cough</a:t>
            </a:r>
          </a:p>
          <a:p>
            <a:r>
              <a:rPr lang="en-US" sz="1400" dirty="0" smtClean="0"/>
              <a:t>No h/o vomiting, headache, body rashes, blood in stools, signs of dehydration, vomiting, weight loss, chills, rigor, skin rashes, joint pain</a:t>
            </a:r>
          </a:p>
          <a:p>
            <a:endParaRPr lang="en-US" sz="1400" dirty="0"/>
          </a:p>
        </p:txBody>
      </p:sp>
      <p:sp>
        <p:nvSpPr>
          <p:cNvPr id="53" name="TextBox 52"/>
          <p:cNvSpPr txBox="1"/>
          <p:nvPr/>
        </p:nvSpPr>
        <p:spPr>
          <a:xfrm>
            <a:off x="7270748" y="4275130"/>
            <a:ext cx="7215238" cy="1615827"/>
          </a:xfrm>
          <a:prstGeom prst="rect">
            <a:avLst/>
          </a:prstGeom>
          <a:noFill/>
        </p:spPr>
        <p:txBody>
          <a:bodyPr wrap="square" rtlCol="0">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On arrival child was alert, conscious and oriented to time, place and person. </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Development history= </a:t>
            </a:r>
            <a:r>
              <a:rPr lang="en-IN" sz="1200" dirty="0" smtClean="0">
                <a:solidFill>
                  <a:srgbClr val="000000"/>
                </a:solidFill>
                <a:latin typeface="Cambria"/>
                <a:ea typeface="Cambria"/>
                <a:cs typeface="Cambria"/>
                <a:sym typeface="Cambria"/>
              </a:rPr>
              <a:t>patient was developed </a:t>
            </a:r>
            <a:r>
              <a:rPr lang="en-IN" sz="1200" dirty="0" err="1" smtClean="0">
                <a:solidFill>
                  <a:srgbClr val="000000"/>
                </a:solidFill>
                <a:latin typeface="Cambria"/>
                <a:ea typeface="Cambria"/>
                <a:cs typeface="Cambria"/>
                <a:sym typeface="Cambria"/>
              </a:rPr>
              <a:t>upto</a:t>
            </a:r>
            <a:r>
              <a:rPr lang="en-IN" sz="1200" dirty="0" smtClean="0">
                <a:solidFill>
                  <a:srgbClr val="000000"/>
                </a:solidFill>
                <a:latin typeface="Cambria"/>
                <a:ea typeface="Cambria"/>
                <a:cs typeface="Cambria"/>
                <a:sym typeface="Cambria"/>
              </a:rPr>
              <a:t> the age</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Dietary history = </a:t>
            </a:r>
            <a:r>
              <a:rPr lang="en-IN" sz="1200" dirty="0" smtClean="0">
                <a:solidFill>
                  <a:srgbClr val="000000"/>
                </a:solidFill>
                <a:latin typeface="Cambria"/>
                <a:ea typeface="Cambria"/>
                <a:cs typeface="Cambria"/>
                <a:sym typeface="Cambria"/>
              </a:rPr>
              <a:t>normal</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Vitals= </a:t>
            </a:r>
            <a:r>
              <a:rPr lang="en-IN" sz="1200" dirty="0" smtClean="0">
                <a:solidFill>
                  <a:srgbClr val="000000"/>
                </a:solidFill>
                <a:latin typeface="Cambria"/>
                <a:ea typeface="Cambria"/>
                <a:cs typeface="Cambria"/>
                <a:sym typeface="Cambria"/>
              </a:rPr>
              <a:t>PR: 96/min, RR: 18/min, Spo2-98%, temp:101 F</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Anthropometry =  </a:t>
            </a:r>
            <a:r>
              <a:rPr lang="en-IN" sz="1200" dirty="0" smtClean="0">
                <a:solidFill>
                  <a:srgbClr val="000000"/>
                </a:solidFill>
                <a:latin typeface="Cambria"/>
                <a:ea typeface="Cambria"/>
                <a:cs typeface="Cambria"/>
                <a:sym typeface="Cambria"/>
              </a:rPr>
              <a:t>weight: 19.7 kg, height:117cm</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Abdomen examination= </a:t>
            </a:r>
            <a:r>
              <a:rPr lang="en-IN" sz="1200" dirty="0" smtClean="0">
                <a:solidFill>
                  <a:srgbClr val="000000"/>
                </a:solidFill>
                <a:latin typeface="Cambria"/>
                <a:ea typeface="Cambria"/>
                <a:cs typeface="Cambria"/>
                <a:sym typeface="Cambria"/>
              </a:rPr>
              <a:t>soft, non tender, no </a:t>
            </a:r>
            <a:r>
              <a:rPr lang="en-IN" sz="1200" dirty="0" err="1" smtClean="0">
                <a:solidFill>
                  <a:srgbClr val="000000"/>
                </a:solidFill>
                <a:latin typeface="Cambria"/>
                <a:ea typeface="Cambria"/>
                <a:cs typeface="Cambria"/>
                <a:sym typeface="Cambria"/>
              </a:rPr>
              <a:t>organomegaly</a:t>
            </a:r>
            <a:endParaRPr lang="en-IN" sz="1200" dirty="0" smtClean="0">
              <a:solidFill>
                <a:srgbClr val="000000"/>
              </a:solidFill>
              <a:latin typeface="Cambria"/>
              <a:ea typeface="Cambria"/>
              <a:cs typeface="Cambria"/>
              <a:sym typeface="Cambria"/>
            </a:endParaRPr>
          </a:p>
          <a:p>
            <a:pPr>
              <a:buFont typeface="Arial" pitchFamily="34" charset="0"/>
              <a:buChar char="•"/>
            </a:pPr>
            <a:endParaRPr lang="en-US" sz="1200" dirty="0"/>
          </a:p>
        </p:txBody>
      </p:sp>
      <p:sp>
        <p:nvSpPr>
          <p:cNvPr id="54" name="TextBox 53"/>
          <p:cNvSpPr txBox="1"/>
          <p:nvPr/>
        </p:nvSpPr>
        <p:spPr>
          <a:xfrm>
            <a:off x="7270748" y="6132518"/>
            <a:ext cx="7215238" cy="954107"/>
          </a:xfrm>
          <a:prstGeom prst="rect">
            <a:avLst/>
          </a:prstGeom>
          <a:noFill/>
        </p:spPr>
        <p:txBody>
          <a:bodyPr wrap="square" rtlCol="0">
            <a:spAutoFit/>
          </a:bodyPr>
          <a:lstStyle/>
          <a:p>
            <a:pPr>
              <a:buFont typeface="Arial" pitchFamily="34" charset="0"/>
              <a:buChar char="•"/>
            </a:pPr>
            <a:r>
              <a:rPr lang="en-IN" sz="1400" dirty="0" smtClean="0"/>
              <a:t>Peptic ulcer</a:t>
            </a:r>
          </a:p>
          <a:p>
            <a:pPr>
              <a:buFont typeface="Arial" pitchFamily="34" charset="0"/>
              <a:buChar char="•"/>
            </a:pPr>
            <a:r>
              <a:rPr lang="en-IN" sz="1400" dirty="0" smtClean="0"/>
              <a:t>Inflammatory bowel disease</a:t>
            </a:r>
          </a:p>
          <a:p>
            <a:pPr>
              <a:buFont typeface="Arial" pitchFamily="34" charset="0"/>
              <a:buChar char="•"/>
            </a:pPr>
            <a:r>
              <a:rPr lang="en-IN" sz="1400" dirty="0" smtClean="0"/>
              <a:t>Typhoid fever</a:t>
            </a:r>
          </a:p>
          <a:p>
            <a:pPr>
              <a:buFont typeface="Arial" pitchFamily="34" charset="0"/>
              <a:buChar char="•"/>
            </a:pPr>
            <a:r>
              <a:rPr lang="en-IN" sz="1400" dirty="0" smtClean="0"/>
              <a:t>Food poisoning</a:t>
            </a:r>
            <a:endParaRPr lang="en-US" sz="1400" dirty="0"/>
          </a:p>
        </p:txBody>
      </p:sp>
      <p:sp>
        <p:nvSpPr>
          <p:cNvPr id="55" name="TextBox 54"/>
          <p:cNvSpPr txBox="1"/>
          <p:nvPr/>
        </p:nvSpPr>
        <p:spPr>
          <a:xfrm>
            <a:off x="7199310" y="7561278"/>
            <a:ext cx="7215238" cy="1169551"/>
          </a:xfrm>
          <a:prstGeom prst="rect">
            <a:avLst/>
          </a:prstGeom>
          <a:noFill/>
        </p:spPr>
        <p:txBody>
          <a:bodyPr wrap="square" rtlCol="0">
            <a:spAutoFit/>
          </a:bodyPr>
          <a:lstStyle/>
          <a:p>
            <a:r>
              <a:rPr lang="en-US" sz="1400" dirty="0" err="1" smtClean="0"/>
              <a:t>Cbc</a:t>
            </a:r>
            <a:r>
              <a:rPr lang="en-US" sz="1400" dirty="0" smtClean="0"/>
              <a:t>= TLC is elevated, absolute </a:t>
            </a:r>
            <a:r>
              <a:rPr lang="en-US" sz="1400" dirty="0" err="1" smtClean="0"/>
              <a:t>neutrophils</a:t>
            </a:r>
            <a:r>
              <a:rPr lang="en-US" sz="1400" dirty="0" smtClean="0"/>
              <a:t> count are increased</a:t>
            </a:r>
          </a:p>
          <a:p>
            <a:r>
              <a:rPr lang="en-US" sz="1400" dirty="0" err="1" smtClean="0"/>
              <a:t>Syp</a:t>
            </a:r>
            <a:r>
              <a:rPr lang="en-US" sz="1400" dirty="0" smtClean="0"/>
              <a:t>. </a:t>
            </a:r>
            <a:r>
              <a:rPr lang="en-US" sz="1400" dirty="0" err="1" smtClean="0"/>
              <a:t>Paracetamol</a:t>
            </a:r>
            <a:r>
              <a:rPr lang="en-US" sz="1400" dirty="0" smtClean="0"/>
              <a:t> 60ml ( 6ml ) </a:t>
            </a:r>
          </a:p>
          <a:p>
            <a:pPr>
              <a:buFont typeface="Arial" pitchFamily="34" charset="0"/>
              <a:buChar char="•"/>
            </a:pPr>
            <a:r>
              <a:rPr lang="en-US" sz="1400" dirty="0" smtClean="0"/>
              <a:t>EMUNZ SUS 5 ML</a:t>
            </a:r>
          </a:p>
          <a:p>
            <a:pPr>
              <a:buFont typeface="Arial" pitchFamily="34" charset="0"/>
              <a:buChar char="•"/>
            </a:pPr>
            <a:r>
              <a:rPr lang="en-US" sz="1400" dirty="0" smtClean="0"/>
              <a:t> ZINCONIA SYP 100 ML </a:t>
            </a:r>
          </a:p>
          <a:p>
            <a:pPr>
              <a:buFont typeface="Arial" pitchFamily="34" charset="0"/>
              <a:buChar char="•"/>
            </a:pPr>
            <a:r>
              <a:rPr lang="en-US" sz="1400" dirty="0" smtClean="0"/>
              <a:t>ELECTRAL 21 GM</a:t>
            </a:r>
            <a:endParaRPr lang="en-US" sz="1400" dirty="0"/>
          </a:p>
        </p:txBody>
      </p:sp>
      <p:pic>
        <p:nvPicPr>
          <p:cNvPr id="56" name="Picture 55" descr="photo_2025-01-07_22-53-54.jpg"/>
          <p:cNvPicPr>
            <a:picLocks noChangeAspect="1"/>
          </p:cNvPicPr>
          <p:nvPr/>
        </p:nvPicPr>
        <p:blipFill>
          <a:blip r:embed="rId3"/>
          <a:stretch>
            <a:fillRect/>
          </a:stretch>
        </p:blipFill>
        <p:spPr>
          <a:xfrm>
            <a:off x="412700" y="1417610"/>
            <a:ext cx="6643734" cy="7429552"/>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76200" y="1338234"/>
            <a:ext cx="14251939" cy="7428230"/>
            <a:chOff x="63500" y="63500"/>
            <a:chExt cx="14251939" cy="742823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10" name="Freeform 10"/>
            <p:cNvSpPr/>
            <p:nvPr/>
          </p:nvSpPr>
          <p:spPr>
            <a:xfrm>
              <a:off x="6803644" y="2742184"/>
              <a:ext cx="7465695" cy="1576070"/>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585722"/>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3" name="Freeform 13"/>
            <p:cNvSpPr/>
            <p:nvPr/>
          </p:nvSpPr>
          <p:spPr>
            <a:xfrm>
              <a:off x="6803644" y="4550029"/>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545330"/>
              <a:ext cx="7475347" cy="1267587"/>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5" name="Freeform 15"/>
            <p:cNvSpPr/>
            <p:nvPr/>
          </p:nvSpPr>
          <p:spPr>
            <a:xfrm>
              <a:off x="6862064" y="4758563"/>
              <a:ext cx="2837053" cy="11557"/>
            </a:xfrm>
            <a:custGeom>
              <a:avLst/>
              <a:gdLst/>
              <a:ahLst/>
              <a:cxnLst/>
              <a:rect l="l" t="t" r="r" b="b"/>
              <a:pathLst>
                <a:path w="2837053" h="11557">
                  <a:moveTo>
                    <a:pt x="0" y="0"/>
                  </a:moveTo>
                  <a:lnTo>
                    <a:pt x="2837053" y="0"/>
                  </a:lnTo>
                  <a:lnTo>
                    <a:pt x="2837053" y="11557"/>
                  </a:lnTo>
                  <a:lnTo>
                    <a:pt x="0" y="11557"/>
                  </a:lnTo>
                  <a:close/>
                </a:path>
              </a:pathLst>
            </a:custGeom>
            <a:solidFill>
              <a:srgbClr val="000000"/>
            </a:solidFill>
          </p:spPr>
        </p:sp>
        <p:sp>
          <p:nvSpPr>
            <p:cNvPr id="16" name="Freeform 16"/>
            <p:cNvSpPr/>
            <p:nvPr/>
          </p:nvSpPr>
          <p:spPr>
            <a:xfrm>
              <a:off x="6811899" y="5973064"/>
              <a:ext cx="7456805" cy="1400175"/>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5968238"/>
              <a:ext cx="7466330" cy="1409827"/>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8" name="Freeform 18"/>
            <p:cNvSpPr/>
            <p:nvPr/>
          </p:nvSpPr>
          <p:spPr>
            <a:xfrm>
              <a:off x="6870319" y="6181598"/>
              <a:ext cx="2210181" cy="11557"/>
            </a:xfrm>
            <a:custGeom>
              <a:avLst/>
              <a:gdLst/>
              <a:ahLst/>
              <a:cxnLst/>
              <a:rect l="l" t="t" r="r" b="b"/>
              <a:pathLst>
                <a:path w="2210181" h="11557">
                  <a:moveTo>
                    <a:pt x="0" y="0"/>
                  </a:moveTo>
                  <a:lnTo>
                    <a:pt x="2210181" y="0"/>
                  </a:lnTo>
                  <a:lnTo>
                    <a:pt x="2210181" y="11557"/>
                  </a:lnTo>
                  <a:lnTo>
                    <a:pt x="0" y="11557"/>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1" name="TextBox 21"/>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2" name="TextBox 22"/>
          <p:cNvSpPr txBox="1"/>
          <p:nvPr/>
        </p:nvSpPr>
        <p:spPr>
          <a:xfrm>
            <a:off x="914400" y="400507"/>
            <a:ext cx="2286000" cy="181525"/>
          </a:xfrm>
          <a:prstGeom prst="rect">
            <a:avLst/>
          </a:prstGeom>
        </p:spPr>
        <p:txBody>
          <a:bodyPr lIns="0" tIns="0" rIns="0" bIns="0" rtlCol="0" anchor="t">
            <a:spAutoFit/>
          </a:bodyPr>
          <a:lstStyle/>
          <a:p>
            <a:pPr>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 BALARAM.S</a:t>
            </a:r>
            <a:endParaRPr lang="en-US" sz="1100" b="1" dirty="0">
              <a:solidFill>
                <a:srgbClr val="000000"/>
              </a:solidFill>
              <a:latin typeface="Calibri (MS) Bold"/>
              <a:ea typeface="Calibri (MS) Bold"/>
              <a:cs typeface="Calibri (MS) Bold"/>
              <a:sym typeface="Calibri (MS) Bold"/>
            </a:endParaRPr>
          </a:p>
        </p:txBody>
      </p:sp>
      <p:sp>
        <p:nvSpPr>
          <p:cNvPr id="23" name="TextBox 23"/>
          <p:cNvSpPr txBox="1"/>
          <p:nvPr/>
        </p:nvSpPr>
        <p:spPr>
          <a:xfrm>
            <a:off x="2849851" y="4220394"/>
            <a:ext cx="1843230" cy="213312"/>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Radiological/ Procedure Image</a:t>
            </a:r>
            <a:r>
              <a:rPr lang="en-US" sz="1100">
                <a:solidFill>
                  <a:srgbClr val="000000"/>
                </a:solidFill>
                <a:latin typeface="Calibri (MS)"/>
                <a:ea typeface="Calibri (MS)"/>
                <a:cs typeface="Calibri (MS)"/>
                <a:sym typeface="Calibri (MS)"/>
              </a:rPr>
              <a:t> </a:t>
            </a:r>
          </a:p>
        </p:txBody>
      </p:sp>
      <p:sp>
        <p:nvSpPr>
          <p:cNvPr id="24" name="TextBox 24"/>
          <p:cNvSpPr txBox="1"/>
          <p:nvPr/>
        </p:nvSpPr>
        <p:spPr>
          <a:xfrm>
            <a:off x="12344400" y="400507"/>
            <a:ext cx="1195149" cy="181525"/>
          </a:xfrm>
          <a:prstGeom prst="rect">
            <a:avLst/>
          </a:prstGeom>
        </p:spPr>
        <p:txBody>
          <a:bodyPr wrap="square" lIns="0" tIns="0" rIns="0" bIns="0" rtlCol="0" anchor="t">
            <a:spAutoFit/>
          </a:bodyPr>
          <a:lstStyle/>
          <a:p>
            <a:pPr>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3134527" y="2179901"/>
            <a:ext cx="959282" cy="208283"/>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Pic with pa/ent </a:t>
            </a:r>
          </a:p>
        </p:txBody>
      </p:sp>
      <p:sp>
        <p:nvSpPr>
          <p:cNvPr id="26" name="TextBox 26"/>
          <p:cNvSpPr txBox="1"/>
          <p:nvPr/>
        </p:nvSpPr>
        <p:spPr>
          <a:xfrm>
            <a:off x="914400" y="953995"/>
            <a:ext cx="3856018" cy="256480"/>
          </a:xfrm>
          <a:prstGeom prst="rect">
            <a:avLst/>
          </a:prstGeom>
        </p:spPr>
        <p:txBody>
          <a:bodyPr wrap="square"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3</a:t>
            </a:r>
            <a:r>
              <a:rPr lang="en-US" sz="1399" b="1" dirty="0">
                <a:solidFill>
                  <a:srgbClr val="000000"/>
                </a:solidFill>
                <a:latin typeface="Cambria Bold"/>
                <a:ea typeface="Cambria Bold"/>
                <a:cs typeface="Cambria Bold"/>
                <a:sym typeface="Cambria Bold"/>
              </a:rPr>
              <a:t>            PID: </a:t>
            </a:r>
            <a:r>
              <a:rPr lang="en-US" sz="1399" b="1" dirty="0" smtClean="0">
                <a:solidFill>
                  <a:srgbClr val="000000"/>
                </a:solidFill>
                <a:latin typeface="Cambria Bold"/>
                <a:ea typeface="Cambria Bold"/>
                <a:cs typeface="Cambria Bold"/>
                <a:sym typeface="Cambria Bold"/>
              </a:rPr>
              <a:t>240719226677</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6199178" y="602837"/>
            <a:ext cx="3143272" cy="487313"/>
          </a:xfrm>
          <a:prstGeom prst="rect">
            <a:avLst/>
          </a:prstGeom>
        </p:spPr>
        <p:txBody>
          <a:bodyPr wrap="square" lIns="0" tIns="0" rIns="0" bIns="0" rtlCol="0" anchor="t">
            <a:spAutoFit/>
          </a:bodyPr>
          <a:lstStyle/>
          <a:p>
            <a:pPr>
              <a:lnSpc>
                <a:spcPts val="1859"/>
              </a:lnSpc>
            </a:pPr>
            <a:r>
              <a:rPr lang="en-US" sz="2200" b="1" i="1" dirty="0" smtClean="0">
                <a:solidFill>
                  <a:srgbClr val="000000"/>
                </a:solidFill>
                <a:latin typeface="Cambria Bold Italics"/>
                <a:ea typeface="Cambria Bold Italics"/>
                <a:cs typeface="Cambria Bold Italics"/>
                <a:sym typeface="Cambria Bold Italics"/>
              </a:rPr>
              <a:t>A case of  LRTI/ ASTHMA</a:t>
            </a:r>
          </a:p>
          <a:p>
            <a:pPr algn="l">
              <a:lnSpc>
                <a:spcPts val="1859"/>
              </a:lnSpc>
            </a:pPr>
            <a:endParaRPr lang="en-US" sz="2200" b="1" i="1" dirty="0">
              <a:solidFill>
                <a:srgbClr val="000000"/>
              </a:solidFill>
              <a:latin typeface="Cambria Bold Italics"/>
              <a:ea typeface="Cambria Bold Italics"/>
              <a:cs typeface="Cambria Bold Italics"/>
              <a:sym typeface="Cambria Bold Italics"/>
            </a:endParaRPr>
          </a:p>
        </p:txBody>
      </p:sp>
      <p:sp>
        <p:nvSpPr>
          <p:cNvPr id="31" name="TextBox 31"/>
          <p:cNvSpPr txBox="1"/>
          <p:nvPr/>
        </p:nvSpPr>
        <p:spPr>
          <a:xfrm>
            <a:off x="3200400" y="811120"/>
            <a:ext cx="11428462" cy="382669"/>
          </a:xfrm>
          <a:prstGeom prst="rect">
            <a:avLst/>
          </a:prstGeom>
        </p:spPr>
        <p:txBody>
          <a:bodyPr wrap="square"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   </a:t>
            </a:r>
            <a:r>
              <a:rPr lang="en-US" sz="1400" b="1" dirty="0" err="1" smtClean="0"/>
              <a:t>Ashwin</a:t>
            </a:r>
            <a:r>
              <a:rPr lang="en-US" sz="1400" b="1" dirty="0" smtClean="0"/>
              <a:t> S</a:t>
            </a:r>
            <a:r>
              <a:rPr lang="en-US" sz="1399" b="1" dirty="0">
                <a:solidFill>
                  <a:srgbClr val="000000"/>
                </a:solidFill>
                <a:latin typeface="Cambria Bold"/>
                <a:ea typeface="Cambria Bold"/>
                <a:cs typeface="Cambria Bold"/>
                <a:sym typeface="Cambria Bold"/>
              </a:rPr>
              <a:t>                                                                                                                        Age:   1                   Gender</a:t>
            </a:r>
            <a:r>
              <a:rPr lang="en-US" sz="1399" b="1" dirty="0" smtClean="0">
                <a:solidFill>
                  <a:srgbClr val="000000"/>
                </a:solidFill>
                <a:latin typeface="Cambria Bold"/>
                <a:ea typeface="Cambria Bold"/>
                <a:cs typeface="Cambria Bold"/>
                <a:sym typeface="Cambria Bold"/>
              </a:rPr>
              <a:t>: Male</a:t>
            </a:r>
            <a:r>
              <a:rPr lang="en-US" sz="1399" b="1" dirty="0">
                <a:solidFill>
                  <a:srgbClr val="000000"/>
                </a:solidFill>
                <a:latin typeface="Cambria Bold"/>
                <a:ea typeface="Cambria Bold"/>
                <a:cs typeface="Cambria Bold"/>
                <a:sym typeface="Cambria Bold"/>
              </a:rPr>
              <a:t>  </a:t>
            </a: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060816"/>
            <a:ext cx="649062" cy="198516"/>
          </a:xfrm>
          <a:prstGeom prst="rect">
            <a:avLst/>
          </a:prstGeom>
        </p:spPr>
        <p:txBody>
          <a:bodyPr lIns="0" tIns="0" rIns="0" bIns="0" rtlCol="0" anchor="t">
            <a:spAutoFit/>
          </a:bodyPr>
          <a:lstStyle/>
          <a:p>
            <a:pPr algn="l">
              <a:lnSpc>
                <a:spcPts val="1679"/>
              </a:lnSpc>
            </a:pPr>
            <a:r>
              <a:rPr lang="en-US" sz="1200" b="1" u="sng" dirty="0">
                <a:solidFill>
                  <a:srgbClr val="000000"/>
                </a:solidFill>
                <a:latin typeface="Cambria Bold"/>
                <a:ea typeface="Cambria Bold"/>
                <a:cs typeface="Cambria Bold"/>
                <a:sym typeface="Cambria Bold"/>
              </a:rPr>
              <a:t>Workup:</a:t>
            </a:r>
            <a:r>
              <a:rPr lang="en-US" sz="1200" u="sng" dirty="0">
                <a:solidFill>
                  <a:srgbClr val="000000"/>
                </a:solidFill>
                <a:latin typeface="Cambria"/>
                <a:ea typeface="Cambria"/>
                <a:cs typeface="Cambria"/>
                <a:sym typeface="Cambria"/>
              </a:rPr>
              <a:t> </a:t>
            </a:r>
          </a:p>
        </p:txBody>
      </p:sp>
      <p:sp>
        <p:nvSpPr>
          <p:cNvPr id="48" name="TextBox 48"/>
          <p:cNvSpPr txBox="1"/>
          <p:nvPr/>
        </p:nvSpPr>
        <p:spPr>
          <a:xfrm>
            <a:off x="7270748" y="1560486"/>
            <a:ext cx="1563557" cy="198516"/>
          </a:xfrm>
          <a:prstGeom prst="rect">
            <a:avLst/>
          </a:prstGeom>
        </p:spPr>
        <p:txBody>
          <a:bodyPr lIns="0" tIns="0" rIns="0" bIns="0" rtlCol="0" anchor="t">
            <a:spAutoFit/>
          </a:bodyPr>
          <a:lstStyle/>
          <a:p>
            <a:pPr algn="l">
              <a:lnSpc>
                <a:spcPts val="1679"/>
              </a:lnSpc>
            </a:pPr>
            <a:r>
              <a:rPr lang="en-US" sz="1200" b="1" u="sng"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275526"/>
            <a:ext cx="2286505"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Management / Procedure done:</a:t>
            </a:r>
            <a:r>
              <a:rPr lang="en-US" sz="1200" dirty="0">
                <a:solidFill>
                  <a:srgbClr val="000000"/>
                </a:solidFill>
                <a:latin typeface="Cambria"/>
                <a:ea typeface="Cambria"/>
                <a:cs typeface="Cambria"/>
                <a:sym typeface="Cambria"/>
              </a:rPr>
              <a:t> </a:t>
            </a:r>
          </a:p>
        </p:txBody>
      </p:sp>
      <p:sp>
        <p:nvSpPr>
          <p:cNvPr id="50" name="TextBox 50"/>
          <p:cNvSpPr txBox="1"/>
          <p:nvPr/>
        </p:nvSpPr>
        <p:spPr>
          <a:xfrm>
            <a:off x="7199310" y="5846766"/>
            <a:ext cx="2925985"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Differential diagnosis / Clinical insights :</a:t>
            </a:r>
            <a:r>
              <a:rPr lang="en-US" sz="1200" dirty="0">
                <a:solidFill>
                  <a:srgbClr val="000000"/>
                </a:solidFill>
                <a:latin typeface="Cambria"/>
                <a:ea typeface="Cambria"/>
                <a:cs typeface="Cambria"/>
                <a:sym typeface="Cambria"/>
              </a:rPr>
              <a:t> </a:t>
            </a:r>
          </a:p>
        </p:txBody>
      </p:sp>
      <p:pic>
        <p:nvPicPr>
          <p:cNvPr id="3074" name="Picture 2"/>
          <p:cNvPicPr>
            <a:picLocks noChangeAspect="1" noChangeArrowheads="1"/>
          </p:cNvPicPr>
          <p:nvPr/>
        </p:nvPicPr>
        <p:blipFill>
          <a:blip r:embed="rId2"/>
          <a:srcRect/>
          <a:stretch>
            <a:fillRect/>
          </a:stretch>
        </p:blipFill>
        <p:spPr bwMode="auto">
          <a:xfrm>
            <a:off x="12485722" y="1489048"/>
            <a:ext cx="2214578" cy="2500330"/>
          </a:xfrm>
          <a:prstGeom prst="rect">
            <a:avLst/>
          </a:prstGeom>
          <a:noFill/>
          <a:ln w="9525">
            <a:noFill/>
            <a:miter lim="800000"/>
            <a:headEnd/>
            <a:tailEnd/>
          </a:ln>
          <a:effectLst/>
        </p:spPr>
      </p:pic>
      <p:sp>
        <p:nvSpPr>
          <p:cNvPr id="52" name="TextBox 51"/>
          <p:cNvSpPr txBox="1"/>
          <p:nvPr/>
        </p:nvSpPr>
        <p:spPr>
          <a:xfrm>
            <a:off x="7199310" y="1846238"/>
            <a:ext cx="5072098" cy="2246769"/>
          </a:xfrm>
          <a:prstGeom prst="rect">
            <a:avLst/>
          </a:prstGeom>
          <a:noFill/>
        </p:spPr>
        <p:txBody>
          <a:bodyPr wrap="square" rtlCol="0">
            <a:spAutoFit/>
          </a:bodyPr>
          <a:lstStyle/>
          <a:p>
            <a:r>
              <a:rPr lang="en-US" sz="1400" dirty="0" smtClean="0"/>
              <a:t>C/o fever and cough with expectoration 10 days</a:t>
            </a:r>
          </a:p>
          <a:p>
            <a:r>
              <a:rPr lang="en-US" sz="1400" dirty="0" smtClean="0"/>
              <a:t>Pt was apparently normal 10 days back after which he developed low grade fever, sudden in onset, continuous, not relieved on medication. H/o cough with expectoration x 10 days, sudden in onset, </a:t>
            </a:r>
            <a:r>
              <a:rPr lang="en-US" sz="1400" dirty="0" err="1" smtClean="0"/>
              <a:t>mucoid</a:t>
            </a:r>
            <a:r>
              <a:rPr lang="en-US" sz="1400" dirty="0" smtClean="0"/>
              <a:t>, white sputum, no aggravating or relieving factor.</a:t>
            </a:r>
          </a:p>
          <a:p>
            <a:r>
              <a:rPr lang="en-US" sz="1400" dirty="0" smtClean="0"/>
              <a:t>No h/o ear and throat complaints,  hoarseness of voice, </a:t>
            </a:r>
            <a:r>
              <a:rPr lang="en-US" sz="1400" dirty="0" err="1" smtClean="0"/>
              <a:t>stridor</a:t>
            </a:r>
            <a:r>
              <a:rPr lang="en-US" sz="1400" dirty="0" smtClean="0"/>
              <a:t>, </a:t>
            </a:r>
            <a:r>
              <a:rPr lang="en-US" sz="1400" dirty="0" err="1" smtClean="0"/>
              <a:t>trismus</a:t>
            </a:r>
            <a:r>
              <a:rPr lang="en-US" sz="1400" dirty="0" smtClean="0"/>
              <a:t>, rashes on body, weight loss, night sweats, diarrhea, skin </a:t>
            </a:r>
            <a:r>
              <a:rPr lang="en-US" sz="1400" dirty="0" err="1" smtClean="0"/>
              <a:t>lessions</a:t>
            </a:r>
            <a:r>
              <a:rPr lang="en-US" sz="1400" dirty="0" smtClean="0"/>
              <a:t>, decreased urine output, chills and rigor</a:t>
            </a:r>
          </a:p>
          <a:p>
            <a:endParaRPr lang="en-US" sz="1400" dirty="0" smtClean="0"/>
          </a:p>
          <a:p>
            <a:endParaRPr lang="en-US" sz="1400" dirty="0"/>
          </a:p>
        </p:txBody>
      </p:sp>
      <p:sp>
        <p:nvSpPr>
          <p:cNvPr id="53" name="TextBox 52"/>
          <p:cNvSpPr txBox="1"/>
          <p:nvPr/>
        </p:nvSpPr>
        <p:spPr>
          <a:xfrm>
            <a:off x="7199310" y="4275130"/>
            <a:ext cx="7358114" cy="1833835"/>
          </a:xfrm>
          <a:prstGeom prst="rect">
            <a:avLst/>
          </a:prstGeom>
          <a:noFill/>
        </p:spPr>
        <p:txBody>
          <a:bodyPr wrap="square" rtlCol="0">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On arrival child was alert, conscious and oriented to time, place and person. </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Development history= </a:t>
            </a:r>
            <a:r>
              <a:rPr lang="en-IN" sz="1200" dirty="0" smtClean="0">
                <a:solidFill>
                  <a:srgbClr val="000000"/>
                </a:solidFill>
                <a:latin typeface="Cambria"/>
                <a:ea typeface="Cambria"/>
                <a:cs typeface="Cambria"/>
                <a:sym typeface="Cambria"/>
              </a:rPr>
              <a:t>patient was developed </a:t>
            </a:r>
            <a:r>
              <a:rPr lang="en-IN" sz="1200" dirty="0" err="1" smtClean="0">
                <a:solidFill>
                  <a:srgbClr val="000000"/>
                </a:solidFill>
                <a:latin typeface="Cambria"/>
                <a:ea typeface="Cambria"/>
                <a:cs typeface="Cambria"/>
                <a:sym typeface="Cambria"/>
              </a:rPr>
              <a:t>upto</a:t>
            </a:r>
            <a:r>
              <a:rPr lang="en-IN" sz="1200" dirty="0" smtClean="0">
                <a:solidFill>
                  <a:srgbClr val="000000"/>
                </a:solidFill>
                <a:latin typeface="Cambria"/>
                <a:ea typeface="Cambria"/>
                <a:cs typeface="Cambria"/>
                <a:sym typeface="Cambria"/>
              </a:rPr>
              <a:t> the age</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Dietary history = </a:t>
            </a:r>
            <a:r>
              <a:rPr lang="en-IN" sz="1200" dirty="0" smtClean="0">
                <a:solidFill>
                  <a:srgbClr val="000000"/>
                </a:solidFill>
                <a:latin typeface="Cambria"/>
                <a:ea typeface="Cambria"/>
                <a:cs typeface="Cambria"/>
                <a:sym typeface="Cambria"/>
              </a:rPr>
              <a:t>normal</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Vitals= </a:t>
            </a:r>
            <a:r>
              <a:rPr lang="en-IN" sz="1200" dirty="0" smtClean="0">
                <a:solidFill>
                  <a:srgbClr val="000000"/>
                </a:solidFill>
                <a:latin typeface="Cambria"/>
                <a:ea typeface="Cambria"/>
                <a:cs typeface="Cambria"/>
                <a:sym typeface="Cambria"/>
              </a:rPr>
              <a:t>PR: 126/min, RR: 20/min, Spo2-98%, temp: 100 F</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Anthropometry =  </a:t>
            </a:r>
            <a:r>
              <a:rPr lang="en-IN" sz="1200" dirty="0" smtClean="0">
                <a:solidFill>
                  <a:srgbClr val="000000"/>
                </a:solidFill>
                <a:latin typeface="Cambria"/>
                <a:ea typeface="Cambria"/>
                <a:cs typeface="Cambria"/>
                <a:sym typeface="Cambria"/>
              </a:rPr>
              <a:t>weight:</a:t>
            </a:r>
            <a:r>
              <a:rPr lang="en-US" sz="1200" dirty="0" smtClean="0"/>
              <a:t>9.5Kg</a:t>
            </a:r>
            <a:r>
              <a:rPr lang="en-IN" sz="1200" dirty="0" smtClean="0">
                <a:solidFill>
                  <a:srgbClr val="000000"/>
                </a:solidFill>
                <a:latin typeface="Cambria"/>
                <a:ea typeface="Cambria"/>
                <a:cs typeface="Cambria"/>
                <a:sym typeface="Cambria"/>
              </a:rPr>
              <a:t>, height:79 cm</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Respiratory examination= </a:t>
            </a:r>
            <a:r>
              <a:rPr lang="en-US" sz="1200" dirty="0" smtClean="0">
                <a:solidFill>
                  <a:srgbClr val="000000"/>
                </a:solidFill>
                <a:latin typeface="Cambria"/>
                <a:ea typeface="Cambria"/>
                <a:cs typeface="Cambria"/>
                <a:sym typeface="Cambria"/>
              </a:rPr>
              <a:t>Wheeze on bilateral mammary and infra </a:t>
            </a:r>
            <a:r>
              <a:rPr lang="en-US" sz="1200" dirty="0" err="1" smtClean="0">
                <a:solidFill>
                  <a:srgbClr val="000000"/>
                </a:solidFill>
                <a:latin typeface="Cambria"/>
                <a:ea typeface="Cambria"/>
                <a:cs typeface="Cambria"/>
                <a:sym typeface="Cambria"/>
              </a:rPr>
              <a:t>axillary</a:t>
            </a:r>
            <a:r>
              <a:rPr lang="en-US" sz="1200" dirty="0" smtClean="0">
                <a:solidFill>
                  <a:srgbClr val="000000"/>
                </a:solidFill>
                <a:latin typeface="Cambria"/>
                <a:ea typeface="Cambria"/>
                <a:cs typeface="Cambria"/>
                <a:sym typeface="Cambria"/>
              </a:rPr>
              <a:t> region</a:t>
            </a:r>
            <a:endParaRPr lang="en-IN" sz="1200"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a:p>
            <a:pPr>
              <a:buFont typeface="Arial" pitchFamily="34" charset="0"/>
              <a:buChar char="•"/>
            </a:pPr>
            <a:endParaRPr lang="en-US" sz="1200" b="1" dirty="0"/>
          </a:p>
        </p:txBody>
      </p:sp>
      <p:sp>
        <p:nvSpPr>
          <p:cNvPr id="54" name="TextBox 53"/>
          <p:cNvSpPr txBox="1"/>
          <p:nvPr/>
        </p:nvSpPr>
        <p:spPr>
          <a:xfrm>
            <a:off x="7270748" y="6132518"/>
            <a:ext cx="2928958" cy="1179810"/>
          </a:xfrm>
          <a:prstGeom prst="rect">
            <a:avLst/>
          </a:prstGeom>
          <a:noFill/>
        </p:spPr>
        <p:txBody>
          <a:bodyPr wrap="square" rtlCol="0">
            <a:spAutoFit/>
          </a:bodyPr>
          <a:lstStyle/>
          <a:p>
            <a:pPr marL="259080" lvl="1" indent="-129540">
              <a:lnSpc>
                <a:spcPts val="1679"/>
              </a:lnSpc>
              <a:buFont typeface="Arial"/>
              <a:buChar char="•"/>
            </a:pPr>
            <a:r>
              <a:rPr lang="en-IN" sz="1200" dirty="0" smtClean="0">
                <a:solidFill>
                  <a:srgbClr val="000000"/>
                </a:solidFill>
                <a:latin typeface="Cambria"/>
                <a:ea typeface="Cambria"/>
                <a:cs typeface="Cambria"/>
                <a:sym typeface="Cambria"/>
              </a:rPr>
              <a:t>Inhaled foreign body</a:t>
            </a:r>
            <a:endParaRPr lang="en-US" sz="1200" dirty="0" smtClean="0">
              <a:solidFill>
                <a:srgbClr val="000000"/>
              </a:solidFill>
              <a:latin typeface="Cambria"/>
              <a:ea typeface="Cambria"/>
              <a:cs typeface="Cambria"/>
              <a:sym typeface="Cambria"/>
            </a:endParaRPr>
          </a:p>
          <a:p>
            <a:pPr marL="259080" lvl="1" indent="-129540">
              <a:lnSpc>
                <a:spcPts val="1679"/>
              </a:lnSpc>
              <a:buFont typeface="Arial"/>
              <a:buChar char="•"/>
            </a:pPr>
            <a:r>
              <a:rPr lang="en-IN" sz="1200" dirty="0" smtClean="0">
                <a:solidFill>
                  <a:srgbClr val="000000"/>
                </a:solidFill>
                <a:latin typeface="Cambria"/>
                <a:ea typeface="Cambria"/>
                <a:cs typeface="Cambria"/>
                <a:sym typeface="Cambria"/>
              </a:rPr>
              <a:t>URTI</a:t>
            </a:r>
            <a:endParaRPr lang="en-US" sz="1200" dirty="0" smtClean="0">
              <a:solidFill>
                <a:srgbClr val="000000"/>
              </a:solidFill>
              <a:latin typeface="Cambria"/>
              <a:ea typeface="Cambria"/>
              <a:cs typeface="Cambria"/>
              <a:sym typeface="Cambria"/>
            </a:endParaRPr>
          </a:p>
          <a:p>
            <a:pPr marL="259080" lvl="1" indent="-129540">
              <a:lnSpc>
                <a:spcPts val="1679"/>
              </a:lnSpc>
              <a:buFont typeface="Arial"/>
              <a:buChar char="•"/>
            </a:pPr>
            <a:r>
              <a:rPr lang="en-IN" sz="1200" dirty="0" smtClean="0">
                <a:solidFill>
                  <a:srgbClr val="000000"/>
                </a:solidFill>
                <a:latin typeface="Cambria"/>
                <a:ea typeface="Cambria"/>
                <a:cs typeface="Cambria"/>
                <a:sym typeface="Cambria"/>
              </a:rPr>
              <a:t>Asthma</a:t>
            </a:r>
            <a:endParaRPr lang="en-US" sz="1200" dirty="0" smtClean="0">
              <a:solidFill>
                <a:srgbClr val="000000"/>
              </a:solidFill>
              <a:latin typeface="Cambria"/>
              <a:ea typeface="Cambria"/>
              <a:cs typeface="Cambria"/>
              <a:sym typeface="Cambria"/>
            </a:endParaRPr>
          </a:p>
          <a:p>
            <a:pPr marL="259080" lvl="1" indent="-129540">
              <a:lnSpc>
                <a:spcPts val="1679"/>
              </a:lnSpc>
              <a:buFont typeface="Arial"/>
              <a:buChar char="•"/>
            </a:pPr>
            <a:r>
              <a:rPr lang="en-IN" sz="1200" dirty="0" smtClean="0">
                <a:solidFill>
                  <a:srgbClr val="000000"/>
                </a:solidFill>
                <a:latin typeface="Cambria"/>
                <a:ea typeface="Cambria"/>
                <a:cs typeface="Cambria"/>
                <a:sym typeface="Cambria"/>
              </a:rPr>
              <a:t>Tuberculosis</a:t>
            </a:r>
            <a:endParaRPr lang="en-US" sz="1200" dirty="0" smtClean="0">
              <a:solidFill>
                <a:srgbClr val="000000"/>
              </a:solidFill>
              <a:latin typeface="Cambria"/>
              <a:ea typeface="Cambria"/>
              <a:cs typeface="Cambria"/>
              <a:sym typeface="Cambria"/>
            </a:endParaRPr>
          </a:p>
          <a:p>
            <a:endParaRPr lang="en-US" sz="1400" dirty="0"/>
          </a:p>
        </p:txBody>
      </p:sp>
      <p:sp>
        <p:nvSpPr>
          <p:cNvPr id="55" name="TextBox 54"/>
          <p:cNvSpPr txBox="1"/>
          <p:nvPr/>
        </p:nvSpPr>
        <p:spPr>
          <a:xfrm>
            <a:off x="10699772" y="6203956"/>
            <a:ext cx="2928958" cy="743793"/>
          </a:xfrm>
          <a:prstGeom prst="rect">
            <a:avLst/>
          </a:prstGeom>
          <a:noFill/>
        </p:spPr>
        <p:txBody>
          <a:bodyPr wrap="square" rtlCol="0">
            <a:spAutoFit/>
          </a:bodyPr>
          <a:lstStyle/>
          <a:p>
            <a:pPr marL="259080" lvl="1" indent="-129540">
              <a:lnSpc>
                <a:spcPts val="1679"/>
              </a:lnSpc>
              <a:buFont typeface="Arial"/>
              <a:buChar char="•"/>
            </a:pPr>
            <a:r>
              <a:rPr lang="en-US" sz="1200" dirty="0" smtClean="0">
                <a:solidFill>
                  <a:srgbClr val="000000"/>
                </a:solidFill>
                <a:latin typeface="Cambria"/>
                <a:ea typeface="Cambria"/>
                <a:cs typeface="Cambria"/>
                <a:sym typeface="Cambria"/>
              </a:rPr>
              <a:t>Pneumonia </a:t>
            </a:r>
          </a:p>
          <a:p>
            <a:pPr marL="259080" lvl="1" indent="-129540">
              <a:lnSpc>
                <a:spcPts val="1679"/>
              </a:lnSpc>
              <a:buFont typeface="Arial"/>
              <a:buChar char="•"/>
            </a:pPr>
            <a:r>
              <a:rPr lang="en-IN" sz="1200" dirty="0" err="1" smtClean="0">
                <a:solidFill>
                  <a:srgbClr val="000000"/>
                </a:solidFill>
                <a:latin typeface="Cambria"/>
                <a:ea typeface="Cambria"/>
                <a:cs typeface="Cambria"/>
                <a:sym typeface="Cambria"/>
              </a:rPr>
              <a:t>pneumothorax</a:t>
            </a:r>
            <a:endParaRPr lang="en-US" sz="1200" dirty="0" smtClean="0">
              <a:solidFill>
                <a:srgbClr val="000000"/>
              </a:solidFill>
              <a:latin typeface="Cambria"/>
              <a:ea typeface="Cambria"/>
              <a:cs typeface="Cambria"/>
              <a:sym typeface="Cambria"/>
            </a:endParaRPr>
          </a:p>
          <a:p>
            <a:endParaRPr lang="en-US" sz="1400" dirty="0"/>
          </a:p>
        </p:txBody>
      </p:sp>
      <p:sp>
        <p:nvSpPr>
          <p:cNvPr id="56" name="TextBox 55"/>
          <p:cNvSpPr txBox="1"/>
          <p:nvPr/>
        </p:nvSpPr>
        <p:spPr>
          <a:xfrm>
            <a:off x="7270748" y="7561278"/>
            <a:ext cx="7215238" cy="1169551"/>
          </a:xfrm>
          <a:prstGeom prst="rect">
            <a:avLst/>
          </a:prstGeom>
          <a:noFill/>
        </p:spPr>
        <p:txBody>
          <a:bodyPr wrap="square" rtlCol="0">
            <a:spAutoFit/>
          </a:bodyPr>
          <a:lstStyle/>
          <a:p>
            <a:pPr>
              <a:buFont typeface="Arial" pitchFamily="34" charset="0"/>
              <a:buChar char="•"/>
            </a:pPr>
            <a:r>
              <a:rPr lang="en-IN" sz="1400" dirty="0" smtClean="0"/>
              <a:t>Chest  </a:t>
            </a:r>
            <a:r>
              <a:rPr lang="en-IN" sz="1400" dirty="0" err="1" smtClean="0"/>
              <a:t>xray</a:t>
            </a:r>
            <a:r>
              <a:rPr lang="en-IN" sz="1400" dirty="0" smtClean="0"/>
              <a:t> = consolidation were present</a:t>
            </a:r>
          </a:p>
          <a:p>
            <a:pPr>
              <a:buFont typeface="Arial" pitchFamily="34" charset="0"/>
              <a:buChar char="•"/>
            </a:pPr>
            <a:r>
              <a:rPr lang="en-IN" sz="1400" dirty="0" err="1" smtClean="0"/>
              <a:t>Cbc</a:t>
            </a:r>
            <a:r>
              <a:rPr lang="en-IN" sz="1400" dirty="0" smtClean="0"/>
              <a:t>= </a:t>
            </a:r>
            <a:r>
              <a:rPr lang="en-US" sz="1400" dirty="0" smtClean="0"/>
              <a:t>TLC is elevated, lymphocytes are increased</a:t>
            </a:r>
          </a:p>
          <a:p>
            <a:pPr>
              <a:buFont typeface="Arial" pitchFamily="34" charset="0"/>
              <a:buChar char="•"/>
            </a:pPr>
            <a:r>
              <a:rPr lang="en-IN" sz="1400" dirty="0" smtClean="0"/>
              <a:t>Pulmonary function test were done</a:t>
            </a:r>
            <a:endParaRPr lang="en-US" sz="1400" dirty="0" smtClean="0"/>
          </a:p>
          <a:p>
            <a:pPr>
              <a:buFont typeface="Arial" pitchFamily="34" charset="0"/>
              <a:buChar char="•"/>
            </a:pPr>
            <a:r>
              <a:rPr lang="en-US" sz="1400" dirty="0" smtClean="0"/>
              <a:t>MDI </a:t>
            </a:r>
            <a:r>
              <a:rPr lang="en-US" sz="1400" dirty="0" err="1" smtClean="0"/>
              <a:t>budecort</a:t>
            </a:r>
            <a:r>
              <a:rPr lang="en-US" sz="1400" dirty="0" smtClean="0"/>
              <a:t> 100mcg 1 puff BD </a:t>
            </a:r>
          </a:p>
          <a:p>
            <a:pPr>
              <a:buFont typeface="Arial" pitchFamily="34" charset="0"/>
              <a:buChar char="•"/>
            </a:pPr>
            <a:r>
              <a:rPr lang="en-US" sz="1400" dirty="0" err="1" smtClean="0"/>
              <a:t>Syp.montek</a:t>
            </a:r>
            <a:r>
              <a:rPr lang="en-US" sz="1400" dirty="0" smtClean="0"/>
              <a:t> </a:t>
            </a:r>
            <a:r>
              <a:rPr lang="en-US" sz="1400" dirty="0" err="1" smtClean="0"/>
              <a:t>lc</a:t>
            </a:r>
            <a:r>
              <a:rPr lang="en-US" sz="1400" dirty="0" smtClean="0"/>
              <a:t> P/O 3.5ml p/o HS</a:t>
            </a:r>
            <a:endParaRPr lang="en-US" sz="1400" dirty="0"/>
          </a:p>
        </p:txBody>
      </p:sp>
      <p:pic>
        <p:nvPicPr>
          <p:cNvPr id="3075" name="Picture 3"/>
          <p:cNvPicPr>
            <a:picLocks noChangeAspect="1" noChangeArrowheads="1"/>
          </p:cNvPicPr>
          <p:nvPr/>
        </p:nvPicPr>
        <p:blipFill>
          <a:blip r:embed="rId3"/>
          <a:srcRect/>
          <a:stretch>
            <a:fillRect/>
          </a:stretch>
        </p:blipFill>
        <p:spPr bwMode="auto">
          <a:xfrm>
            <a:off x="412700" y="5561014"/>
            <a:ext cx="6643734" cy="3286148"/>
          </a:xfrm>
          <a:prstGeom prst="rect">
            <a:avLst/>
          </a:prstGeom>
          <a:noFill/>
          <a:ln w="9525">
            <a:noFill/>
            <a:miter lim="800000"/>
            <a:headEnd/>
            <a:tailEnd/>
          </a:ln>
          <a:effectLst/>
        </p:spPr>
      </p:pic>
      <p:pic>
        <p:nvPicPr>
          <p:cNvPr id="58" name="Picture 57" descr="photo_2025-01-07_23-17-32.jpg"/>
          <p:cNvPicPr>
            <a:picLocks noChangeAspect="1"/>
          </p:cNvPicPr>
          <p:nvPr/>
        </p:nvPicPr>
        <p:blipFill>
          <a:blip r:embed="rId4"/>
          <a:stretch>
            <a:fillRect/>
          </a:stretch>
        </p:blipFill>
        <p:spPr>
          <a:xfrm>
            <a:off x="412700" y="1417610"/>
            <a:ext cx="6643734" cy="4143404"/>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360359" y="1343339"/>
            <a:ext cx="14378940" cy="7555230"/>
            <a:chOff x="0" y="0"/>
            <a:chExt cx="14378940" cy="755523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576070"/>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585722"/>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03644" y="4550029"/>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545330"/>
              <a:ext cx="7475347" cy="1267587"/>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5" name="Freeform 15"/>
            <p:cNvSpPr/>
            <p:nvPr/>
          </p:nvSpPr>
          <p:spPr>
            <a:xfrm>
              <a:off x="6862064" y="4758563"/>
              <a:ext cx="2837053" cy="11557"/>
            </a:xfrm>
            <a:custGeom>
              <a:avLst/>
              <a:gdLst/>
              <a:ahLst/>
              <a:cxnLst/>
              <a:rect l="l" t="t" r="r" b="b"/>
              <a:pathLst>
                <a:path w="2837053" h="11557">
                  <a:moveTo>
                    <a:pt x="0" y="0"/>
                  </a:moveTo>
                  <a:lnTo>
                    <a:pt x="2837053" y="0"/>
                  </a:lnTo>
                  <a:lnTo>
                    <a:pt x="2837053" y="11557"/>
                  </a:lnTo>
                  <a:lnTo>
                    <a:pt x="0" y="11557"/>
                  </a:lnTo>
                  <a:close/>
                </a:path>
              </a:pathLst>
            </a:custGeom>
            <a:solidFill>
              <a:srgbClr val="000000"/>
            </a:solidFill>
          </p:spPr>
        </p:sp>
        <p:sp>
          <p:nvSpPr>
            <p:cNvPr id="16" name="Freeform 16"/>
            <p:cNvSpPr/>
            <p:nvPr/>
          </p:nvSpPr>
          <p:spPr>
            <a:xfrm>
              <a:off x="6811899" y="5973064"/>
              <a:ext cx="7456805" cy="1400175"/>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5968238"/>
              <a:ext cx="7466330" cy="1409827"/>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8" name="Freeform 18"/>
            <p:cNvSpPr/>
            <p:nvPr/>
          </p:nvSpPr>
          <p:spPr>
            <a:xfrm>
              <a:off x="6870319" y="6181598"/>
              <a:ext cx="2210181" cy="11557"/>
            </a:xfrm>
            <a:custGeom>
              <a:avLst/>
              <a:gdLst/>
              <a:ahLst/>
              <a:cxnLst/>
              <a:rect l="l" t="t" r="r" b="b"/>
              <a:pathLst>
                <a:path w="2210181" h="11557">
                  <a:moveTo>
                    <a:pt x="0" y="0"/>
                  </a:moveTo>
                  <a:lnTo>
                    <a:pt x="2210181" y="0"/>
                  </a:lnTo>
                  <a:lnTo>
                    <a:pt x="2210181" y="11557"/>
                  </a:lnTo>
                  <a:lnTo>
                    <a:pt x="0" y="11557"/>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1" name="TextBox 21"/>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4</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2" name="TextBox 22"/>
          <p:cNvSpPr txBox="1"/>
          <p:nvPr/>
        </p:nvSpPr>
        <p:spPr>
          <a:xfrm>
            <a:off x="914400" y="400507"/>
            <a:ext cx="2286000" cy="181525"/>
          </a:xfrm>
          <a:prstGeom prst="rect">
            <a:avLst/>
          </a:prstGeom>
        </p:spPr>
        <p:txBody>
          <a:bodyPr lIns="0" tIns="0" rIns="0" bIns="0" rtlCol="0" anchor="t">
            <a:spAutoFit/>
          </a:bodyPr>
          <a:lstStyle/>
          <a:p>
            <a:pPr>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 BALARAM.S</a:t>
            </a:r>
            <a:endParaRPr lang="en-US" sz="1100" b="1" dirty="0">
              <a:solidFill>
                <a:srgbClr val="000000"/>
              </a:solidFill>
              <a:latin typeface="Calibri (MS) Bold"/>
              <a:ea typeface="Calibri (MS) Bold"/>
              <a:cs typeface="Calibri (MS) Bold"/>
              <a:sym typeface="Calibri (MS) Bold"/>
            </a:endParaRPr>
          </a:p>
        </p:txBody>
      </p:sp>
      <p:sp>
        <p:nvSpPr>
          <p:cNvPr id="23" name="TextBox 23"/>
          <p:cNvSpPr txBox="1"/>
          <p:nvPr/>
        </p:nvSpPr>
        <p:spPr>
          <a:xfrm>
            <a:off x="2849851" y="4220394"/>
            <a:ext cx="1843230" cy="213312"/>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Radiological/ Procedure Image</a:t>
            </a:r>
            <a:r>
              <a:rPr lang="en-US" sz="1100">
                <a:solidFill>
                  <a:srgbClr val="000000"/>
                </a:solidFill>
                <a:latin typeface="Calibri (MS)"/>
                <a:ea typeface="Calibri (MS)"/>
                <a:cs typeface="Calibri (MS)"/>
                <a:sym typeface="Calibri (MS)"/>
              </a:rPr>
              <a:t> </a:t>
            </a:r>
          </a:p>
        </p:txBody>
      </p:sp>
      <p:sp>
        <p:nvSpPr>
          <p:cNvPr id="24" name="TextBox 24"/>
          <p:cNvSpPr txBox="1"/>
          <p:nvPr/>
        </p:nvSpPr>
        <p:spPr>
          <a:xfrm>
            <a:off x="12344400" y="400507"/>
            <a:ext cx="1195149" cy="181525"/>
          </a:xfrm>
          <a:prstGeom prst="rect">
            <a:avLst/>
          </a:prstGeom>
        </p:spPr>
        <p:txBody>
          <a:bodyPr wrap="square" lIns="0" tIns="0" rIns="0" bIns="0" rtlCol="0" anchor="t">
            <a:spAutoFit/>
          </a:bodyPr>
          <a:lstStyle/>
          <a:p>
            <a:pPr>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3134527" y="2179901"/>
            <a:ext cx="959282" cy="208283"/>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Pic with pa/ent </a:t>
            </a:r>
          </a:p>
        </p:txBody>
      </p:sp>
      <p:sp>
        <p:nvSpPr>
          <p:cNvPr id="26" name="TextBox 26"/>
          <p:cNvSpPr txBox="1"/>
          <p:nvPr/>
        </p:nvSpPr>
        <p:spPr>
          <a:xfrm>
            <a:off x="914400" y="953995"/>
            <a:ext cx="3641704" cy="238399"/>
          </a:xfrm>
          <a:prstGeom prst="rect">
            <a:avLst/>
          </a:prstGeom>
        </p:spPr>
        <p:txBody>
          <a:bodyPr wrap="square"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4</a:t>
            </a:r>
            <a:r>
              <a:rPr lang="en-US" sz="1399" b="1" dirty="0">
                <a:solidFill>
                  <a:srgbClr val="000000"/>
                </a:solidFill>
                <a:latin typeface="Cambria Bold"/>
                <a:ea typeface="Cambria Bold"/>
                <a:cs typeface="Cambria Bold"/>
                <a:sym typeface="Cambria Bold"/>
              </a:rPr>
              <a:t>            PID</a:t>
            </a:r>
            <a:r>
              <a:rPr lang="en-US" sz="1399" b="1" dirty="0" smtClean="0">
                <a:solidFill>
                  <a:srgbClr val="000000"/>
                </a:solidFill>
                <a:latin typeface="Cambria Bold"/>
                <a:ea typeface="Cambria Bold"/>
                <a:cs typeface="Cambria Bold"/>
                <a:sym typeface="Cambria Bold"/>
              </a:rPr>
              <a:t>: </a:t>
            </a:r>
            <a:r>
              <a:rPr lang="en-US" sz="1400" dirty="0" smtClean="0"/>
              <a:t>230621100910</a:t>
            </a:r>
            <a:r>
              <a:rPr lang="en-US" sz="1399" b="1" dirty="0">
                <a:solidFill>
                  <a:srgbClr val="000000"/>
                </a:solidFill>
                <a:latin typeface="Cambria Bold"/>
                <a:ea typeface="Cambria Bold"/>
                <a:cs typeface="Cambria Bold"/>
                <a:sym typeface="Cambria Bold"/>
              </a:rPr>
              <a:t> </a:t>
            </a: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5484798" y="602837"/>
            <a:ext cx="4714908" cy="730969"/>
          </a:xfrm>
          <a:prstGeom prst="rect">
            <a:avLst/>
          </a:prstGeom>
        </p:spPr>
        <p:txBody>
          <a:bodyPr wrap="square" lIns="0" tIns="0" rIns="0" bIns="0" rtlCol="0" anchor="t">
            <a:spAutoFit/>
          </a:bodyPr>
          <a:lstStyle/>
          <a:p>
            <a:pPr algn="ctr">
              <a:lnSpc>
                <a:spcPts val="1859"/>
              </a:lnSpc>
            </a:pPr>
            <a:r>
              <a:rPr lang="en-US" sz="2200" b="1" i="1" dirty="0" smtClean="0">
                <a:solidFill>
                  <a:srgbClr val="000000"/>
                </a:solidFill>
                <a:latin typeface="Cambria Bold Italics"/>
                <a:ea typeface="Cambria Bold Italics"/>
                <a:cs typeface="Cambria Bold Italics"/>
                <a:sym typeface="Cambria Bold Italics"/>
              </a:rPr>
              <a:t>A case of  FEBRILE SEIZURES/UTI</a:t>
            </a:r>
          </a:p>
          <a:p>
            <a:pPr algn="ctr">
              <a:lnSpc>
                <a:spcPts val="1859"/>
              </a:lnSpc>
            </a:pPr>
            <a:endParaRPr lang="en-US" sz="2200" b="1" i="1" dirty="0" smtClean="0">
              <a:solidFill>
                <a:srgbClr val="000000"/>
              </a:solidFill>
              <a:latin typeface="Cambria Bold Italics"/>
              <a:ea typeface="Cambria Bold Italics"/>
              <a:cs typeface="Cambria Bold Italics"/>
              <a:sym typeface="Cambria Bold Italics"/>
            </a:endParaRPr>
          </a:p>
          <a:p>
            <a:pPr algn="ctr">
              <a:lnSpc>
                <a:spcPts val="1859"/>
              </a:lnSpc>
            </a:pPr>
            <a:endParaRPr lang="en-US" sz="2200" b="1" i="1" dirty="0">
              <a:solidFill>
                <a:srgbClr val="000000"/>
              </a:solidFill>
              <a:latin typeface="Cambria Bold Italics"/>
              <a:ea typeface="Cambria Bold Italics"/>
              <a:cs typeface="Cambria Bold Italics"/>
              <a:sym typeface="Cambria Bold Italics"/>
            </a:endParaRPr>
          </a:p>
        </p:txBody>
      </p:sp>
      <p:sp>
        <p:nvSpPr>
          <p:cNvPr id="31" name="TextBox 31"/>
          <p:cNvSpPr txBox="1"/>
          <p:nvPr/>
        </p:nvSpPr>
        <p:spPr>
          <a:xfrm>
            <a:off x="3200400" y="811120"/>
            <a:ext cx="11357024" cy="448841"/>
          </a:xfrm>
          <a:prstGeom prst="rect">
            <a:avLst/>
          </a:prstGeom>
        </p:spPr>
        <p:txBody>
          <a:bodyPr wrap="square"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   </a:t>
            </a:r>
            <a:r>
              <a:rPr lang="en-US" sz="1400" dirty="0" err="1" smtClean="0"/>
              <a:t>Kiruthiswara</a:t>
            </a:r>
            <a:r>
              <a:rPr lang="en-US" sz="1400" dirty="0" smtClean="0"/>
              <a:t> R</a:t>
            </a:r>
            <a:r>
              <a:rPr lang="en-US" sz="1399" b="1" dirty="0">
                <a:solidFill>
                  <a:srgbClr val="000000"/>
                </a:solidFill>
                <a:latin typeface="Cambria Bold"/>
                <a:ea typeface="Cambria Bold"/>
                <a:cs typeface="Cambria Bold"/>
                <a:sym typeface="Cambria Bold"/>
              </a:rPr>
              <a:t>                                                                                                                             Age:  </a:t>
            </a:r>
            <a:r>
              <a:rPr lang="en-US" sz="1399" b="1" dirty="0" smtClean="0">
                <a:solidFill>
                  <a:srgbClr val="000000"/>
                </a:solidFill>
                <a:latin typeface="Cambria Bold"/>
                <a:ea typeface="Cambria Bold"/>
                <a:cs typeface="Cambria Bold"/>
                <a:sym typeface="Cambria Bold"/>
              </a:rPr>
              <a:t>3</a:t>
            </a:r>
            <a:r>
              <a:rPr lang="en-US" sz="1399" b="1" dirty="0">
                <a:solidFill>
                  <a:srgbClr val="000000"/>
                </a:solidFill>
                <a:latin typeface="Cambria Bold"/>
                <a:ea typeface="Cambria Bold"/>
                <a:cs typeface="Cambria Bold"/>
                <a:sym typeface="Cambria Bold"/>
              </a:rPr>
              <a:t>                        Gender</a:t>
            </a:r>
            <a:r>
              <a:rPr lang="en-US" sz="1399" b="1" dirty="0" smtClean="0">
                <a:solidFill>
                  <a:srgbClr val="000000"/>
                </a:solidFill>
                <a:latin typeface="Cambria Bold"/>
                <a:ea typeface="Cambria Bold"/>
                <a:cs typeface="Cambria Bold"/>
                <a:sym typeface="Cambria Bold"/>
              </a:rPr>
              <a:t>: Male</a:t>
            </a:r>
            <a:r>
              <a:rPr lang="en-US" sz="1399" b="1" dirty="0">
                <a:solidFill>
                  <a:srgbClr val="000000"/>
                </a:solidFill>
                <a:latin typeface="Cambria Bold"/>
                <a:ea typeface="Cambria Bold"/>
                <a:cs typeface="Cambria Bold"/>
                <a:sym typeface="Cambria Bold"/>
              </a:rPr>
              <a:t>  </a:t>
            </a: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22474" y="4124620"/>
            <a:ext cx="649062"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Workup:</a:t>
            </a:r>
            <a:r>
              <a:rPr lang="en-US" sz="1200">
                <a:solidFill>
                  <a:srgbClr val="000000"/>
                </a:solidFill>
                <a:latin typeface="Cambria"/>
                <a:ea typeface="Cambria"/>
                <a:cs typeface="Cambria"/>
                <a:sym typeface="Cambria"/>
              </a:rPr>
              <a:t> </a:t>
            </a:r>
          </a:p>
        </p:txBody>
      </p:sp>
      <p:sp>
        <p:nvSpPr>
          <p:cNvPr id="48" name="TextBox 48"/>
          <p:cNvSpPr txBox="1"/>
          <p:nvPr/>
        </p:nvSpPr>
        <p:spPr>
          <a:xfrm>
            <a:off x="7222474" y="1589475"/>
            <a:ext cx="1563557"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30723" y="7355434"/>
            <a:ext cx="228650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Management / Procedure done:</a:t>
            </a:r>
            <a:r>
              <a:rPr lang="en-US" sz="1200">
                <a:solidFill>
                  <a:srgbClr val="000000"/>
                </a:solidFill>
                <a:latin typeface="Cambria"/>
                <a:ea typeface="Cambria"/>
                <a:cs typeface="Cambria"/>
                <a:sym typeface="Cambria"/>
              </a:rPr>
              <a:t> </a:t>
            </a:r>
          </a:p>
        </p:txBody>
      </p:sp>
      <p:sp>
        <p:nvSpPr>
          <p:cNvPr id="50" name="TextBox 50"/>
          <p:cNvSpPr txBox="1"/>
          <p:nvPr/>
        </p:nvSpPr>
        <p:spPr>
          <a:xfrm>
            <a:off x="7222474" y="5932475"/>
            <a:ext cx="292598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Differential diagnosis / Clinical insights :</a:t>
            </a:r>
            <a:r>
              <a:rPr lang="en-US" sz="1200">
                <a:solidFill>
                  <a:srgbClr val="000000"/>
                </a:solidFill>
                <a:latin typeface="Cambria"/>
                <a:ea typeface="Cambria"/>
                <a:cs typeface="Cambria"/>
                <a:sym typeface="Cambria"/>
              </a:rPr>
              <a:t> </a:t>
            </a:r>
          </a:p>
        </p:txBody>
      </p:sp>
      <p:pic>
        <p:nvPicPr>
          <p:cNvPr id="4098" name="Picture 2"/>
          <p:cNvPicPr>
            <a:picLocks noChangeAspect="1" noChangeArrowheads="1"/>
          </p:cNvPicPr>
          <p:nvPr/>
        </p:nvPicPr>
        <p:blipFill>
          <a:blip r:embed="rId3"/>
          <a:srcRect/>
          <a:stretch>
            <a:fillRect/>
          </a:stretch>
        </p:blipFill>
        <p:spPr bwMode="auto">
          <a:xfrm>
            <a:off x="12485722" y="1560486"/>
            <a:ext cx="2185991" cy="2500330"/>
          </a:xfrm>
          <a:prstGeom prst="rect">
            <a:avLst/>
          </a:prstGeom>
          <a:noFill/>
          <a:ln w="9525">
            <a:noFill/>
            <a:miter lim="800000"/>
            <a:headEnd/>
            <a:tailEnd/>
          </a:ln>
          <a:effectLst/>
        </p:spPr>
      </p:pic>
      <p:sp>
        <p:nvSpPr>
          <p:cNvPr id="52" name="TextBox 51"/>
          <p:cNvSpPr txBox="1"/>
          <p:nvPr/>
        </p:nvSpPr>
        <p:spPr>
          <a:xfrm>
            <a:off x="7270748" y="1846238"/>
            <a:ext cx="5000660" cy="2246769"/>
          </a:xfrm>
          <a:prstGeom prst="rect">
            <a:avLst/>
          </a:prstGeom>
          <a:noFill/>
        </p:spPr>
        <p:txBody>
          <a:bodyPr wrap="square" rtlCol="0">
            <a:spAutoFit/>
          </a:bodyPr>
          <a:lstStyle/>
          <a:p>
            <a:r>
              <a:rPr lang="en-US" sz="1400" dirty="0" smtClean="0"/>
              <a:t>Fever for past 5 days</a:t>
            </a:r>
          </a:p>
          <a:p>
            <a:r>
              <a:rPr lang="en-US" sz="1400" dirty="0" smtClean="0"/>
              <a:t>Patient was apparently normal 5 days back after which he developed fever for past 5 days, sudden in onset progressive in nature, no aggravating and reliving factors.</a:t>
            </a:r>
          </a:p>
          <a:p>
            <a:r>
              <a:rPr lang="en-US" sz="1400" dirty="0" smtClean="0"/>
              <a:t>H/o vomiting (2 episodes, watery in </a:t>
            </a:r>
            <a:r>
              <a:rPr lang="en-US" sz="1400" dirty="0" err="1" smtClean="0"/>
              <a:t>consistency,foul</a:t>
            </a:r>
            <a:r>
              <a:rPr lang="en-US" sz="1400" dirty="0" smtClean="0"/>
              <a:t> smelling), cough with expectoration, breathlessness, seizure(1 episodes), loss of appetite. No h/o </a:t>
            </a:r>
            <a:r>
              <a:rPr lang="en-US" sz="1400" dirty="0" err="1" smtClean="0"/>
              <a:t>diarrhoea</a:t>
            </a:r>
            <a:r>
              <a:rPr lang="en-US" sz="1400" dirty="0" smtClean="0"/>
              <a:t>, </a:t>
            </a:r>
            <a:r>
              <a:rPr lang="en-US" sz="1400" dirty="0" err="1" smtClean="0"/>
              <a:t>phimosis</a:t>
            </a:r>
            <a:r>
              <a:rPr lang="en-US" sz="1400" dirty="0" smtClean="0"/>
              <a:t>, headache, throat and ear complaints, skin rashes, hoarseness of voice, neck stiffness, altered consciousness, head trauma</a:t>
            </a:r>
          </a:p>
          <a:p>
            <a:endParaRPr lang="en-US" sz="1400" dirty="0"/>
          </a:p>
        </p:txBody>
      </p:sp>
      <p:sp>
        <p:nvSpPr>
          <p:cNvPr id="53" name="TextBox 52"/>
          <p:cNvSpPr txBox="1"/>
          <p:nvPr/>
        </p:nvSpPr>
        <p:spPr>
          <a:xfrm>
            <a:off x="7199310" y="4275130"/>
            <a:ext cx="7286676" cy="1615827"/>
          </a:xfrm>
          <a:prstGeom prst="rect">
            <a:avLst/>
          </a:prstGeom>
          <a:noFill/>
        </p:spPr>
        <p:txBody>
          <a:bodyPr wrap="square" rtlCol="0">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On arrival child was alert, conscious and oriented to time, place and person. </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Development history= </a:t>
            </a:r>
            <a:r>
              <a:rPr lang="en-IN" sz="1200" dirty="0" smtClean="0">
                <a:solidFill>
                  <a:srgbClr val="000000"/>
                </a:solidFill>
                <a:latin typeface="Cambria"/>
                <a:ea typeface="Cambria"/>
                <a:cs typeface="Cambria"/>
                <a:sym typeface="Cambria"/>
              </a:rPr>
              <a:t>patient was developed </a:t>
            </a:r>
            <a:r>
              <a:rPr lang="en-IN" sz="1200" dirty="0" err="1" smtClean="0">
                <a:solidFill>
                  <a:srgbClr val="000000"/>
                </a:solidFill>
                <a:latin typeface="Cambria"/>
                <a:ea typeface="Cambria"/>
                <a:cs typeface="Cambria"/>
                <a:sym typeface="Cambria"/>
              </a:rPr>
              <a:t>upto</a:t>
            </a:r>
            <a:r>
              <a:rPr lang="en-IN" sz="1200" dirty="0" smtClean="0">
                <a:solidFill>
                  <a:srgbClr val="000000"/>
                </a:solidFill>
                <a:latin typeface="Cambria"/>
                <a:ea typeface="Cambria"/>
                <a:cs typeface="Cambria"/>
                <a:sym typeface="Cambria"/>
              </a:rPr>
              <a:t> the age</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Dietary history = </a:t>
            </a:r>
            <a:r>
              <a:rPr lang="en-IN" sz="1200" dirty="0" smtClean="0">
                <a:solidFill>
                  <a:srgbClr val="000000"/>
                </a:solidFill>
                <a:latin typeface="Cambria"/>
                <a:ea typeface="Cambria"/>
                <a:cs typeface="Cambria"/>
                <a:sym typeface="Cambria"/>
              </a:rPr>
              <a:t>normal</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Vitals= </a:t>
            </a:r>
            <a:r>
              <a:rPr lang="en-IN" sz="1200" dirty="0" smtClean="0">
                <a:solidFill>
                  <a:srgbClr val="000000"/>
                </a:solidFill>
                <a:latin typeface="Cambria"/>
                <a:ea typeface="Cambria"/>
                <a:cs typeface="Cambria"/>
                <a:sym typeface="Cambria"/>
              </a:rPr>
              <a:t>PR: 102/min, RR: 18/min, Spo2-98%, temp: 100 F</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Anthropometry </a:t>
            </a:r>
            <a:r>
              <a:rPr lang="en-IN" sz="1200" dirty="0" smtClean="0">
                <a:solidFill>
                  <a:srgbClr val="000000"/>
                </a:solidFill>
                <a:latin typeface="Cambria"/>
                <a:ea typeface="Cambria"/>
                <a:cs typeface="Cambria"/>
                <a:sym typeface="Cambria"/>
              </a:rPr>
              <a:t>=  weight:</a:t>
            </a:r>
            <a:r>
              <a:rPr lang="en-US" sz="1200" dirty="0" smtClean="0">
                <a:solidFill>
                  <a:srgbClr val="000000"/>
                </a:solidFill>
                <a:latin typeface="Cambria"/>
                <a:ea typeface="Cambria"/>
                <a:cs typeface="Cambria"/>
                <a:sym typeface="Cambria"/>
              </a:rPr>
              <a:t>11</a:t>
            </a:r>
            <a:r>
              <a:rPr lang="en-US" sz="1200" dirty="0" smtClean="0"/>
              <a:t>Kg</a:t>
            </a:r>
            <a:r>
              <a:rPr lang="en-IN" sz="1200" dirty="0" smtClean="0">
                <a:solidFill>
                  <a:srgbClr val="000000"/>
                </a:solidFill>
                <a:latin typeface="Cambria"/>
                <a:ea typeface="Cambria"/>
                <a:cs typeface="Cambria"/>
                <a:sym typeface="Cambria"/>
              </a:rPr>
              <a:t>, height:89 cm</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CNS examination= </a:t>
            </a:r>
            <a:r>
              <a:rPr lang="en-IN" sz="1200" dirty="0" smtClean="0">
                <a:solidFill>
                  <a:srgbClr val="000000"/>
                </a:solidFill>
                <a:latin typeface="Cambria"/>
                <a:ea typeface="Cambria"/>
                <a:cs typeface="Cambria"/>
                <a:sym typeface="Cambria"/>
              </a:rPr>
              <a:t>NFND, no loss of consciousness, no altered </a:t>
            </a:r>
            <a:r>
              <a:rPr lang="en-IN" sz="1200" dirty="0" err="1" smtClean="0">
                <a:solidFill>
                  <a:srgbClr val="000000"/>
                </a:solidFill>
                <a:latin typeface="Cambria"/>
                <a:ea typeface="Cambria"/>
                <a:cs typeface="Cambria"/>
                <a:sym typeface="Cambria"/>
              </a:rPr>
              <a:t>sensorium</a:t>
            </a:r>
            <a:endParaRPr lang="en-IN" sz="1200" dirty="0" smtClean="0">
              <a:solidFill>
                <a:srgbClr val="000000"/>
              </a:solidFill>
              <a:latin typeface="Cambria"/>
              <a:ea typeface="Cambria"/>
              <a:cs typeface="Cambria"/>
              <a:sym typeface="Cambria"/>
            </a:endParaRPr>
          </a:p>
          <a:p>
            <a:pPr>
              <a:buFont typeface="Arial" pitchFamily="34" charset="0"/>
              <a:buChar char="•"/>
            </a:pPr>
            <a:endParaRPr lang="en-US" sz="1200" dirty="0"/>
          </a:p>
        </p:txBody>
      </p:sp>
      <p:sp>
        <p:nvSpPr>
          <p:cNvPr id="54" name="TextBox 53"/>
          <p:cNvSpPr txBox="1"/>
          <p:nvPr/>
        </p:nvSpPr>
        <p:spPr>
          <a:xfrm>
            <a:off x="7270748" y="6132518"/>
            <a:ext cx="7286676" cy="1015663"/>
          </a:xfrm>
          <a:prstGeom prst="rect">
            <a:avLst/>
          </a:prstGeom>
          <a:noFill/>
        </p:spPr>
        <p:txBody>
          <a:bodyPr wrap="square" rtlCol="0">
            <a:spAutoFit/>
          </a:bodyPr>
          <a:lstStyle/>
          <a:p>
            <a:pPr>
              <a:buFont typeface="Arial" pitchFamily="34" charset="0"/>
              <a:buChar char="•"/>
            </a:pPr>
            <a:r>
              <a:rPr lang="en-IN" sz="1200" dirty="0" smtClean="0"/>
              <a:t>Meningitis</a:t>
            </a:r>
          </a:p>
          <a:p>
            <a:pPr>
              <a:buFont typeface="Arial" pitchFamily="34" charset="0"/>
              <a:buChar char="•"/>
            </a:pPr>
            <a:r>
              <a:rPr lang="en-IN" sz="1200" dirty="0" smtClean="0"/>
              <a:t>Encephalitis</a:t>
            </a:r>
          </a:p>
          <a:p>
            <a:pPr>
              <a:buFont typeface="Arial" pitchFamily="34" charset="0"/>
              <a:buChar char="•"/>
            </a:pPr>
            <a:r>
              <a:rPr lang="en-IN" sz="1200" dirty="0" smtClean="0"/>
              <a:t>Brain abscess</a:t>
            </a:r>
          </a:p>
          <a:p>
            <a:pPr>
              <a:buFont typeface="Arial" pitchFamily="34" charset="0"/>
              <a:buChar char="•"/>
            </a:pPr>
            <a:r>
              <a:rPr lang="en-IN" sz="1200" dirty="0" err="1" smtClean="0"/>
              <a:t>Hypoglycemia</a:t>
            </a:r>
            <a:endParaRPr lang="en-IN" sz="1200" dirty="0" smtClean="0"/>
          </a:p>
          <a:p>
            <a:pPr>
              <a:buFont typeface="Arial" pitchFamily="34" charset="0"/>
              <a:buChar char="•"/>
            </a:pPr>
            <a:r>
              <a:rPr lang="en-IN" sz="1200" dirty="0" err="1" smtClean="0"/>
              <a:t>Dravet</a:t>
            </a:r>
            <a:r>
              <a:rPr lang="en-IN" sz="1200" dirty="0" smtClean="0"/>
              <a:t> syndrome</a:t>
            </a:r>
            <a:endParaRPr lang="en-US" sz="1200" dirty="0"/>
          </a:p>
        </p:txBody>
      </p:sp>
      <p:sp>
        <p:nvSpPr>
          <p:cNvPr id="55" name="TextBox 54"/>
          <p:cNvSpPr txBox="1"/>
          <p:nvPr/>
        </p:nvSpPr>
        <p:spPr>
          <a:xfrm>
            <a:off x="7270748" y="7561278"/>
            <a:ext cx="7286676" cy="1569660"/>
          </a:xfrm>
          <a:prstGeom prst="rect">
            <a:avLst/>
          </a:prstGeom>
          <a:noFill/>
        </p:spPr>
        <p:txBody>
          <a:bodyPr wrap="square" rtlCol="0">
            <a:spAutoFit/>
          </a:bodyPr>
          <a:lstStyle/>
          <a:p>
            <a:pPr>
              <a:buFont typeface="Arial" pitchFamily="34" charset="0"/>
              <a:buChar char="•"/>
            </a:pPr>
            <a:r>
              <a:rPr lang="en-IN" sz="1200" dirty="0" err="1" smtClean="0"/>
              <a:t>Cbc</a:t>
            </a:r>
            <a:r>
              <a:rPr lang="en-IN" sz="1200" dirty="0" smtClean="0"/>
              <a:t>= TLC is elevated and </a:t>
            </a:r>
            <a:r>
              <a:rPr lang="en-IN" sz="1200" dirty="0" err="1" smtClean="0"/>
              <a:t>neutrophills</a:t>
            </a:r>
            <a:r>
              <a:rPr lang="en-IN" sz="1200" dirty="0" smtClean="0"/>
              <a:t> count also elevated</a:t>
            </a:r>
          </a:p>
          <a:p>
            <a:pPr>
              <a:buFont typeface="Arial" pitchFamily="34" charset="0"/>
              <a:buChar char="•"/>
            </a:pPr>
            <a:r>
              <a:rPr lang="en-IN" sz="1200" dirty="0" smtClean="0"/>
              <a:t>Peripheral blood smear= mild </a:t>
            </a:r>
            <a:r>
              <a:rPr lang="en-IN" sz="1200" dirty="0" err="1" smtClean="0"/>
              <a:t>lymphopenia</a:t>
            </a:r>
            <a:r>
              <a:rPr lang="en-IN" sz="1200" dirty="0" smtClean="0"/>
              <a:t> present</a:t>
            </a:r>
          </a:p>
          <a:p>
            <a:pPr>
              <a:buFont typeface="Arial" pitchFamily="34" charset="0"/>
              <a:buChar char="•"/>
            </a:pPr>
            <a:r>
              <a:rPr lang="en-US" sz="1200" dirty="0" err="1" smtClean="0"/>
              <a:t>Syp</a:t>
            </a:r>
            <a:r>
              <a:rPr lang="en-US" sz="1200" dirty="0" smtClean="0"/>
              <a:t>. Para(250/5) 4 ml q6h</a:t>
            </a:r>
          </a:p>
          <a:p>
            <a:pPr>
              <a:buFont typeface="Arial" pitchFamily="34" charset="0"/>
              <a:buChar char="•"/>
            </a:pPr>
            <a:r>
              <a:rPr lang="en-US" sz="1200" dirty="0" smtClean="0"/>
              <a:t> Tab. </a:t>
            </a:r>
            <a:r>
              <a:rPr lang="en-US" sz="1200" dirty="0" err="1" smtClean="0"/>
              <a:t>Frisium</a:t>
            </a:r>
            <a:r>
              <a:rPr lang="en-US" sz="1200" dirty="0" smtClean="0"/>
              <a:t> 5 mg </a:t>
            </a:r>
          </a:p>
          <a:p>
            <a:pPr>
              <a:buFont typeface="Arial" pitchFamily="34" charset="0"/>
              <a:buChar char="•"/>
            </a:pPr>
            <a:r>
              <a:rPr lang="en-US" sz="1200" dirty="0" smtClean="0"/>
              <a:t>Tab  </a:t>
            </a:r>
            <a:r>
              <a:rPr lang="en-US" sz="1200" dirty="0" err="1" smtClean="0"/>
              <a:t>Inj.Cefotaxim</a:t>
            </a:r>
            <a:r>
              <a:rPr lang="en-US" sz="1200" dirty="0" smtClean="0"/>
              <a:t> 750mg iv </a:t>
            </a:r>
            <a:r>
              <a:rPr lang="en-US" sz="1200" dirty="0" err="1" smtClean="0"/>
              <a:t>bd</a:t>
            </a:r>
            <a:r>
              <a:rPr lang="en-US" sz="1200" dirty="0" smtClean="0"/>
              <a:t> </a:t>
            </a:r>
          </a:p>
          <a:p>
            <a:pPr>
              <a:buFont typeface="Arial" pitchFamily="34" charset="0"/>
              <a:buChar char="•"/>
            </a:pPr>
            <a:r>
              <a:rPr lang="en-US" sz="1200" dirty="0" err="1" smtClean="0"/>
              <a:t>Syp.Relent</a:t>
            </a:r>
            <a:r>
              <a:rPr lang="en-US" sz="1200" dirty="0" smtClean="0"/>
              <a:t> 2.5ml </a:t>
            </a:r>
            <a:r>
              <a:rPr lang="en-US" sz="1200" dirty="0" err="1" smtClean="0"/>
              <a:t>bd</a:t>
            </a:r>
            <a:endParaRPr lang="en-IN" sz="1200" dirty="0" smtClean="0"/>
          </a:p>
          <a:p>
            <a:pPr>
              <a:buFont typeface="Arial" pitchFamily="34" charset="0"/>
              <a:buChar char="•"/>
            </a:pPr>
            <a:endParaRPr lang="en-IN" sz="1200" dirty="0" smtClean="0"/>
          </a:p>
          <a:p>
            <a:pPr>
              <a:buFont typeface="Arial" pitchFamily="34" charset="0"/>
              <a:buChar char="•"/>
            </a:pPr>
            <a:endParaRPr lang="en-US" sz="1200" dirty="0"/>
          </a:p>
        </p:txBody>
      </p:sp>
      <p:pic>
        <p:nvPicPr>
          <p:cNvPr id="56" name="Picture 55" descr="photo_2025-01-07_22-53-54.jpg"/>
          <p:cNvPicPr>
            <a:picLocks noChangeAspect="1"/>
          </p:cNvPicPr>
          <p:nvPr/>
        </p:nvPicPr>
        <p:blipFill>
          <a:blip r:embed="rId4"/>
          <a:stretch>
            <a:fillRect/>
          </a:stretch>
        </p:blipFill>
        <p:spPr>
          <a:xfrm>
            <a:off x="412700" y="4060816"/>
            <a:ext cx="6643734" cy="4786346"/>
          </a:xfrm>
          <a:prstGeom prst="rect">
            <a:avLst/>
          </a:prstGeom>
        </p:spPr>
      </p:pic>
      <p:pic>
        <p:nvPicPr>
          <p:cNvPr id="57" name="Picture 56" descr="photo_2025-01-07_23-29-01.jpg"/>
          <p:cNvPicPr>
            <a:picLocks noChangeAspect="1"/>
          </p:cNvPicPr>
          <p:nvPr/>
        </p:nvPicPr>
        <p:blipFill>
          <a:blip r:embed="rId5"/>
          <a:stretch>
            <a:fillRect/>
          </a:stretch>
        </p:blipFill>
        <p:spPr>
          <a:xfrm>
            <a:off x="412700" y="1417610"/>
            <a:ext cx="6612940" cy="264320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360359" y="1343339"/>
            <a:ext cx="14378940" cy="7555230"/>
            <a:chOff x="0" y="0"/>
            <a:chExt cx="14378940" cy="755523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576070"/>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585722"/>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03644" y="4550029"/>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545330"/>
              <a:ext cx="7475347" cy="1267587"/>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5" name="Freeform 15"/>
            <p:cNvSpPr/>
            <p:nvPr/>
          </p:nvSpPr>
          <p:spPr>
            <a:xfrm>
              <a:off x="6862064" y="4758563"/>
              <a:ext cx="2837053" cy="11557"/>
            </a:xfrm>
            <a:custGeom>
              <a:avLst/>
              <a:gdLst/>
              <a:ahLst/>
              <a:cxnLst/>
              <a:rect l="l" t="t" r="r" b="b"/>
              <a:pathLst>
                <a:path w="2837053" h="11557">
                  <a:moveTo>
                    <a:pt x="0" y="0"/>
                  </a:moveTo>
                  <a:lnTo>
                    <a:pt x="2837053" y="0"/>
                  </a:lnTo>
                  <a:lnTo>
                    <a:pt x="2837053" y="11557"/>
                  </a:lnTo>
                  <a:lnTo>
                    <a:pt x="0" y="11557"/>
                  </a:lnTo>
                  <a:close/>
                </a:path>
              </a:pathLst>
            </a:custGeom>
            <a:solidFill>
              <a:srgbClr val="000000"/>
            </a:solidFill>
          </p:spPr>
        </p:sp>
        <p:sp>
          <p:nvSpPr>
            <p:cNvPr id="16" name="Freeform 16"/>
            <p:cNvSpPr/>
            <p:nvPr/>
          </p:nvSpPr>
          <p:spPr>
            <a:xfrm>
              <a:off x="6811899" y="5973064"/>
              <a:ext cx="7456805" cy="1400175"/>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5968238"/>
              <a:ext cx="7466330" cy="1409827"/>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8" name="Freeform 18"/>
            <p:cNvSpPr/>
            <p:nvPr/>
          </p:nvSpPr>
          <p:spPr>
            <a:xfrm>
              <a:off x="6870319" y="6181598"/>
              <a:ext cx="2210181" cy="11557"/>
            </a:xfrm>
            <a:custGeom>
              <a:avLst/>
              <a:gdLst/>
              <a:ahLst/>
              <a:cxnLst/>
              <a:rect l="l" t="t" r="r" b="b"/>
              <a:pathLst>
                <a:path w="2210181" h="11557">
                  <a:moveTo>
                    <a:pt x="0" y="0"/>
                  </a:moveTo>
                  <a:lnTo>
                    <a:pt x="2210181" y="0"/>
                  </a:lnTo>
                  <a:lnTo>
                    <a:pt x="2210181" y="11557"/>
                  </a:lnTo>
                  <a:lnTo>
                    <a:pt x="0" y="11557"/>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1" name="TextBox 21"/>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5</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2" name="TextBox 22"/>
          <p:cNvSpPr txBox="1"/>
          <p:nvPr/>
        </p:nvSpPr>
        <p:spPr>
          <a:xfrm>
            <a:off x="914400" y="400507"/>
            <a:ext cx="2286000" cy="181525"/>
          </a:xfrm>
          <a:prstGeom prst="rect">
            <a:avLst/>
          </a:prstGeom>
        </p:spPr>
        <p:txBody>
          <a:bodyPr lIns="0" tIns="0" rIns="0" bIns="0" rtlCol="0" anchor="t">
            <a:spAutoFit/>
          </a:bodyPr>
          <a:lstStyle/>
          <a:p>
            <a:pPr>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 BALARAM.S</a:t>
            </a:r>
            <a:endParaRPr lang="en-US" sz="1100" b="1" dirty="0">
              <a:solidFill>
                <a:srgbClr val="000000"/>
              </a:solidFill>
              <a:latin typeface="Calibri (MS) Bold"/>
              <a:ea typeface="Calibri (MS) Bold"/>
              <a:cs typeface="Calibri (MS) Bold"/>
              <a:sym typeface="Calibri (MS) Bold"/>
            </a:endParaRPr>
          </a:p>
        </p:txBody>
      </p:sp>
      <p:sp>
        <p:nvSpPr>
          <p:cNvPr id="23" name="TextBox 23"/>
          <p:cNvSpPr txBox="1"/>
          <p:nvPr/>
        </p:nvSpPr>
        <p:spPr>
          <a:xfrm>
            <a:off x="2849851" y="4220394"/>
            <a:ext cx="1843230" cy="213312"/>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Radiological/ Procedure Image</a:t>
            </a:r>
            <a:r>
              <a:rPr lang="en-US" sz="1100">
                <a:solidFill>
                  <a:srgbClr val="000000"/>
                </a:solidFill>
                <a:latin typeface="Calibri (MS)"/>
                <a:ea typeface="Calibri (MS)"/>
                <a:cs typeface="Calibri (MS)"/>
                <a:sym typeface="Calibri (MS)"/>
              </a:rPr>
              <a:t> </a:t>
            </a:r>
          </a:p>
        </p:txBody>
      </p:sp>
      <p:sp>
        <p:nvSpPr>
          <p:cNvPr id="24" name="TextBox 24"/>
          <p:cNvSpPr txBox="1"/>
          <p:nvPr/>
        </p:nvSpPr>
        <p:spPr>
          <a:xfrm>
            <a:off x="12344400" y="400507"/>
            <a:ext cx="1195149" cy="181525"/>
          </a:xfrm>
          <a:prstGeom prst="rect">
            <a:avLst/>
          </a:prstGeom>
        </p:spPr>
        <p:txBody>
          <a:bodyPr wrap="square" lIns="0" tIns="0" rIns="0" bIns="0" rtlCol="0" anchor="t">
            <a:spAutoFit/>
          </a:bodyPr>
          <a:lstStyle/>
          <a:p>
            <a:pPr>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3134527" y="2179901"/>
            <a:ext cx="959282" cy="208283"/>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Pic with pa/ent </a:t>
            </a:r>
          </a:p>
        </p:txBody>
      </p:sp>
      <p:sp>
        <p:nvSpPr>
          <p:cNvPr id="26" name="TextBox 26"/>
          <p:cNvSpPr txBox="1"/>
          <p:nvPr/>
        </p:nvSpPr>
        <p:spPr>
          <a:xfrm>
            <a:off x="914400" y="953995"/>
            <a:ext cx="4141770" cy="238399"/>
          </a:xfrm>
          <a:prstGeom prst="rect">
            <a:avLst/>
          </a:prstGeom>
        </p:spPr>
        <p:txBody>
          <a:bodyPr wrap="square"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5</a:t>
            </a:r>
            <a:r>
              <a:rPr lang="en-US" sz="1399" b="1" dirty="0">
                <a:solidFill>
                  <a:srgbClr val="000000"/>
                </a:solidFill>
                <a:latin typeface="Cambria Bold"/>
                <a:ea typeface="Cambria Bold"/>
                <a:cs typeface="Cambria Bold"/>
                <a:sym typeface="Cambria Bold"/>
              </a:rPr>
              <a:t>            PID</a:t>
            </a:r>
            <a:r>
              <a:rPr lang="en-US" sz="1399" b="1" dirty="0" smtClean="0">
                <a:solidFill>
                  <a:srgbClr val="000000"/>
                </a:solidFill>
                <a:latin typeface="Cambria Bold"/>
                <a:ea typeface="Cambria Bold"/>
                <a:cs typeface="Cambria Bold"/>
                <a:sym typeface="Cambria Bold"/>
              </a:rPr>
              <a:t>: 23022863058 </a:t>
            </a:r>
            <a:r>
              <a:rPr lang="en-US" sz="1399" b="1" dirty="0">
                <a:solidFill>
                  <a:srgbClr val="000000"/>
                </a:solidFill>
                <a:latin typeface="Cambria Bold"/>
                <a:ea typeface="Cambria Bold"/>
                <a:cs typeface="Cambria Bold"/>
                <a:sym typeface="Cambria Bold"/>
              </a:rPr>
              <a:t> </a:t>
            </a: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5627674" y="602837"/>
            <a:ext cx="4071966" cy="730969"/>
          </a:xfrm>
          <a:prstGeom prst="rect">
            <a:avLst/>
          </a:prstGeom>
        </p:spPr>
        <p:txBody>
          <a:bodyPr wrap="square" lIns="0" tIns="0" rIns="0" bIns="0" rtlCol="0" anchor="t">
            <a:spAutoFit/>
          </a:bodyPr>
          <a:lstStyle/>
          <a:p>
            <a:pPr algn="ctr">
              <a:lnSpc>
                <a:spcPts val="1859"/>
              </a:lnSpc>
            </a:pPr>
            <a:r>
              <a:rPr lang="en-US" sz="2200" b="1" i="1" dirty="0" smtClean="0">
                <a:solidFill>
                  <a:srgbClr val="000000"/>
                </a:solidFill>
                <a:latin typeface="Cambria Bold Italics"/>
                <a:ea typeface="Cambria Bold Italics"/>
                <a:cs typeface="Cambria Bold Italics"/>
                <a:sym typeface="Cambria Bold Italics"/>
              </a:rPr>
              <a:t>A case of  URTI</a:t>
            </a:r>
          </a:p>
          <a:p>
            <a:pPr algn="ctr">
              <a:lnSpc>
                <a:spcPts val="1859"/>
              </a:lnSpc>
            </a:pPr>
            <a:endParaRPr lang="en-US" sz="2200" b="1" i="1" dirty="0" smtClean="0">
              <a:solidFill>
                <a:srgbClr val="000000"/>
              </a:solidFill>
              <a:latin typeface="Cambria Bold Italics"/>
              <a:ea typeface="Cambria Bold Italics"/>
              <a:cs typeface="Cambria Bold Italics"/>
              <a:sym typeface="Cambria Bold Italics"/>
            </a:endParaRPr>
          </a:p>
          <a:p>
            <a:pPr algn="ctr">
              <a:lnSpc>
                <a:spcPts val="1859"/>
              </a:lnSpc>
            </a:pPr>
            <a:endParaRPr lang="en-US" sz="2200" b="1" i="1" dirty="0">
              <a:solidFill>
                <a:srgbClr val="000000"/>
              </a:solidFill>
              <a:latin typeface="Cambria Bold Italics"/>
              <a:ea typeface="Cambria Bold Italics"/>
              <a:cs typeface="Cambria Bold Italics"/>
              <a:sym typeface="Cambria Bold Italics"/>
            </a:endParaRPr>
          </a:p>
        </p:txBody>
      </p:sp>
      <p:sp>
        <p:nvSpPr>
          <p:cNvPr id="31" name="TextBox 31"/>
          <p:cNvSpPr txBox="1"/>
          <p:nvPr/>
        </p:nvSpPr>
        <p:spPr>
          <a:xfrm>
            <a:off x="3200400" y="811120"/>
            <a:ext cx="11499900" cy="897682"/>
          </a:xfrm>
          <a:prstGeom prst="rect">
            <a:avLst/>
          </a:prstGeom>
        </p:spPr>
        <p:txBody>
          <a:bodyPr wrap="square"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Name:  </a:t>
            </a:r>
            <a:r>
              <a:rPr lang="en-US" sz="1400" dirty="0" err="1" smtClean="0"/>
              <a:t>Saisha</a:t>
            </a:r>
            <a:r>
              <a:rPr lang="en-US" sz="1400" dirty="0" smtClean="0"/>
              <a:t> </a:t>
            </a:r>
            <a:r>
              <a:rPr lang="en-US" sz="1400" dirty="0" err="1" smtClean="0"/>
              <a:t>Heymu</a:t>
            </a:r>
            <a:r>
              <a:rPr lang="en-US" sz="1400" dirty="0" smtClean="0"/>
              <a:t>                                                                                                                    </a:t>
            </a:r>
            <a:r>
              <a:rPr lang="en-US" sz="1399" b="1" dirty="0" smtClean="0">
                <a:solidFill>
                  <a:srgbClr val="000000"/>
                </a:solidFill>
                <a:latin typeface="Cambria Bold"/>
                <a:ea typeface="Cambria Bold"/>
                <a:cs typeface="Cambria Bold"/>
                <a:sym typeface="Cambria Bold"/>
              </a:rPr>
              <a:t>   Age:  1                     Gender:  female   </a:t>
            </a:r>
            <a:r>
              <a:rPr lang="en-US" sz="1400" dirty="0" smtClean="0"/>
              <a:t> </a:t>
            </a:r>
            <a:br>
              <a:rPr lang="en-US" sz="1400" dirty="0" smtClean="0"/>
            </a:br>
            <a:r>
              <a:rPr lang="en-US" sz="1400" dirty="0" smtClean="0"/>
              <a:t>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t>
            </a: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22474" y="4124620"/>
            <a:ext cx="649062"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Workup:</a:t>
            </a:r>
            <a:r>
              <a:rPr lang="en-US" sz="1200">
                <a:solidFill>
                  <a:srgbClr val="000000"/>
                </a:solidFill>
                <a:latin typeface="Cambria"/>
                <a:ea typeface="Cambria"/>
                <a:cs typeface="Cambria"/>
                <a:sym typeface="Cambria"/>
              </a:rPr>
              <a:t> </a:t>
            </a:r>
          </a:p>
        </p:txBody>
      </p:sp>
      <p:sp>
        <p:nvSpPr>
          <p:cNvPr id="48" name="TextBox 48"/>
          <p:cNvSpPr txBox="1"/>
          <p:nvPr/>
        </p:nvSpPr>
        <p:spPr>
          <a:xfrm>
            <a:off x="7222474" y="1589475"/>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30723" y="7355434"/>
            <a:ext cx="228650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Management / Procedure done:</a:t>
            </a:r>
            <a:r>
              <a:rPr lang="en-US" sz="1200">
                <a:solidFill>
                  <a:srgbClr val="000000"/>
                </a:solidFill>
                <a:latin typeface="Cambria"/>
                <a:ea typeface="Cambria"/>
                <a:cs typeface="Cambria"/>
                <a:sym typeface="Cambria"/>
              </a:rPr>
              <a:t> </a:t>
            </a:r>
          </a:p>
        </p:txBody>
      </p:sp>
      <p:sp>
        <p:nvSpPr>
          <p:cNvPr id="50" name="TextBox 50"/>
          <p:cNvSpPr txBox="1"/>
          <p:nvPr/>
        </p:nvSpPr>
        <p:spPr>
          <a:xfrm>
            <a:off x="7222474" y="5932475"/>
            <a:ext cx="2925985"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Differential diagnosis / Clinical insights :</a:t>
            </a:r>
            <a:r>
              <a:rPr lang="en-US" sz="1200" dirty="0">
                <a:solidFill>
                  <a:srgbClr val="000000"/>
                </a:solidFill>
                <a:latin typeface="Cambria"/>
                <a:ea typeface="Cambria"/>
                <a:cs typeface="Cambria"/>
                <a:sym typeface="Cambria"/>
              </a:rPr>
              <a:t> </a:t>
            </a:r>
          </a:p>
        </p:txBody>
      </p:sp>
      <p:pic>
        <p:nvPicPr>
          <p:cNvPr id="5122" name="Picture 2"/>
          <p:cNvPicPr>
            <a:picLocks noChangeAspect="1" noChangeArrowheads="1"/>
          </p:cNvPicPr>
          <p:nvPr/>
        </p:nvPicPr>
        <p:blipFill>
          <a:blip r:embed="rId2"/>
          <a:srcRect/>
          <a:stretch>
            <a:fillRect/>
          </a:stretch>
        </p:blipFill>
        <p:spPr bwMode="auto">
          <a:xfrm>
            <a:off x="12485722" y="1560486"/>
            <a:ext cx="2214578" cy="2500330"/>
          </a:xfrm>
          <a:prstGeom prst="rect">
            <a:avLst/>
          </a:prstGeom>
          <a:noFill/>
          <a:ln w="9525">
            <a:noFill/>
            <a:miter lim="800000"/>
            <a:headEnd/>
            <a:tailEnd/>
          </a:ln>
          <a:effectLst/>
        </p:spPr>
      </p:pic>
      <p:sp>
        <p:nvSpPr>
          <p:cNvPr id="52" name="TextBox 51"/>
          <p:cNvSpPr txBox="1"/>
          <p:nvPr/>
        </p:nvSpPr>
        <p:spPr>
          <a:xfrm>
            <a:off x="7270748" y="1774800"/>
            <a:ext cx="5000660" cy="2246769"/>
          </a:xfrm>
          <a:prstGeom prst="rect">
            <a:avLst/>
          </a:prstGeom>
          <a:noFill/>
        </p:spPr>
        <p:txBody>
          <a:bodyPr wrap="square" rtlCol="0">
            <a:spAutoFit/>
          </a:bodyPr>
          <a:lstStyle/>
          <a:p>
            <a:r>
              <a:rPr lang="en-US" sz="1400" dirty="0" smtClean="0"/>
              <a:t>Cough for past 4 days</a:t>
            </a:r>
          </a:p>
          <a:p>
            <a:r>
              <a:rPr lang="en-US" sz="1400" dirty="0" smtClean="0"/>
              <a:t>Patient was apparently normal 4 days before after which he developed Cough for past 4 days, sudden in onset, no </a:t>
            </a:r>
            <a:r>
              <a:rPr lang="en-US" sz="1400" dirty="0" err="1" smtClean="0"/>
              <a:t>aggrevated</a:t>
            </a:r>
            <a:r>
              <a:rPr lang="en-US" sz="1400" dirty="0" smtClean="0"/>
              <a:t> and reliving factors. H/o cough (</a:t>
            </a:r>
            <a:r>
              <a:rPr lang="en-US" sz="1400" dirty="0" err="1" smtClean="0"/>
              <a:t>waterly</a:t>
            </a:r>
            <a:r>
              <a:rPr lang="en-US" sz="1400" dirty="0" smtClean="0"/>
              <a:t> in consistency, no </a:t>
            </a:r>
            <a:r>
              <a:rPr lang="en-US" sz="1400" dirty="0" err="1" smtClean="0"/>
              <a:t>odour</a:t>
            </a:r>
            <a:r>
              <a:rPr lang="en-US" sz="1400" dirty="0" smtClean="0"/>
              <a:t>), difficulty in passing stools</a:t>
            </a:r>
          </a:p>
          <a:p>
            <a:r>
              <a:rPr lang="en-US" sz="1400" dirty="0" smtClean="0"/>
              <a:t>No h/o fever, vomiting, </a:t>
            </a:r>
            <a:r>
              <a:rPr lang="en-US" sz="1400" dirty="0" err="1" smtClean="0"/>
              <a:t>diarrhoea</a:t>
            </a:r>
            <a:r>
              <a:rPr lang="en-US" sz="1400" dirty="0" smtClean="0"/>
              <a:t>, breathlessness, ear and throat complaints,  hoarseness of voice, </a:t>
            </a:r>
            <a:r>
              <a:rPr lang="en-US" sz="1400" dirty="0" err="1" smtClean="0"/>
              <a:t>stridor</a:t>
            </a:r>
            <a:r>
              <a:rPr lang="en-US" sz="1400" dirty="0" smtClean="0"/>
              <a:t>, wheezing, </a:t>
            </a:r>
            <a:r>
              <a:rPr lang="en-US" sz="1400" dirty="0" err="1" smtClean="0"/>
              <a:t>trismus</a:t>
            </a:r>
            <a:r>
              <a:rPr lang="en-US" sz="1400" dirty="0" smtClean="0"/>
              <a:t>, rashes on body, weight loss, night sweats, diarrhea, asthma, skin </a:t>
            </a:r>
            <a:r>
              <a:rPr lang="en-US" sz="1400" dirty="0" err="1" smtClean="0"/>
              <a:t>lessions</a:t>
            </a:r>
            <a:r>
              <a:rPr lang="en-US" sz="1400" dirty="0" smtClean="0"/>
              <a:t>, decreased urine output, chills and rigor</a:t>
            </a:r>
          </a:p>
          <a:p>
            <a:endParaRPr lang="en-US" sz="1400" dirty="0"/>
          </a:p>
        </p:txBody>
      </p:sp>
      <p:sp>
        <p:nvSpPr>
          <p:cNvPr id="53" name="TextBox 52"/>
          <p:cNvSpPr txBox="1"/>
          <p:nvPr/>
        </p:nvSpPr>
        <p:spPr>
          <a:xfrm>
            <a:off x="7199310" y="4346568"/>
            <a:ext cx="7429552" cy="1615827"/>
          </a:xfrm>
          <a:prstGeom prst="rect">
            <a:avLst/>
          </a:prstGeom>
          <a:noFill/>
        </p:spPr>
        <p:txBody>
          <a:bodyPr wrap="square" rtlCol="0">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On arrival child was alert, conscious and oriented to time, place and person. </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Development history= </a:t>
            </a:r>
            <a:r>
              <a:rPr lang="en-IN" sz="1200" dirty="0" smtClean="0">
                <a:solidFill>
                  <a:srgbClr val="000000"/>
                </a:solidFill>
                <a:latin typeface="Cambria"/>
                <a:ea typeface="Cambria"/>
                <a:cs typeface="Cambria"/>
                <a:sym typeface="Cambria"/>
              </a:rPr>
              <a:t>patient was developed </a:t>
            </a:r>
            <a:r>
              <a:rPr lang="en-IN" sz="1200" dirty="0" err="1" smtClean="0">
                <a:solidFill>
                  <a:srgbClr val="000000"/>
                </a:solidFill>
                <a:latin typeface="Cambria"/>
                <a:ea typeface="Cambria"/>
                <a:cs typeface="Cambria"/>
                <a:sym typeface="Cambria"/>
              </a:rPr>
              <a:t>upto</a:t>
            </a:r>
            <a:r>
              <a:rPr lang="en-IN" sz="1200" dirty="0" smtClean="0">
                <a:solidFill>
                  <a:srgbClr val="000000"/>
                </a:solidFill>
                <a:latin typeface="Cambria"/>
                <a:ea typeface="Cambria"/>
                <a:cs typeface="Cambria"/>
                <a:sym typeface="Cambria"/>
              </a:rPr>
              <a:t> the age</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Dietary history = </a:t>
            </a:r>
            <a:r>
              <a:rPr lang="en-IN" sz="1200" dirty="0" smtClean="0">
                <a:solidFill>
                  <a:srgbClr val="000000"/>
                </a:solidFill>
                <a:latin typeface="Cambria"/>
                <a:ea typeface="Cambria"/>
                <a:cs typeface="Cambria"/>
                <a:sym typeface="Cambria"/>
              </a:rPr>
              <a:t>normal</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Vitals= </a:t>
            </a:r>
            <a:r>
              <a:rPr lang="en-IN" sz="1200" dirty="0" smtClean="0">
                <a:solidFill>
                  <a:srgbClr val="000000"/>
                </a:solidFill>
                <a:latin typeface="Cambria"/>
                <a:ea typeface="Cambria"/>
                <a:cs typeface="Cambria"/>
                <a:sym typeface="Cambria"/>
              </a:rPr>
              <a:t>PR: 128/min, RR: 22/min, Spo2-98%, temp: 98F</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Anthropometry =  </a:t>
            </a:r>
            <a:r>
              <a:rPr lang="en-IN" sz="1200" dirty="0" smtClean="0">
                <a:solidFill>
                  <a:srgbClr val="000000"/>
                </a:solidFill>
                <a:latin typeface="Cambria"/>
                <a:ea typeface="Cambria"/>
                <a:cs typeface="Cambria"/>
                <a:sym typeface="Cambria"/>
              </a:rPr>
              <a:t>weight: 10kg, height: 83cm</a:t>
            </a:r>
          </a:p>
          <a:p>
            <a:pPr>
              <a:lnSpc>
                <a:spcPts val="1679"/>
              </a:lnSpc>
              <a:buFont typeface="Arial" pitchFamily="34" charset="0"/>
              <a:buChar char="•"/>
            </a:pPr>
            <a:r>
              <a:rPr lang="en-IN" sz="1200" b="1" dirty="0" smtClean="0">
                <a:solidFill>
                  <a:srgbClr val="000000"/>
                </a:solidFill>
                <a:latin typeface="Cambria"/>
                <a:ea typeface="Cambria"/>
                <a:cs typeface="Cambria"/>
                <a:sym typeface="Cambria"/>
              </a:rPr>
              <a:t>Nasal examination= </a:t>
            </a:r>
            <a:r>
              <a:rPr lang="en-IN" sz="1200" dirty="0" smtClean="0">
                <a:solidFill>
                  <a:srgbClr val="000000"/>
                </a:solidFill>
                <a:latin typeface="Cambria"/>
                <a:ea typeface="Cambria"/>
                <a:cs typeface="Cambria"/>
                <a:sym typeface="Cambria"/>
              </a:rPr>
              <a:t>inferior turbinate hypertrophy, nasal discharge +</a:t>
            </a:r>
          </a:p>
          <a:p>
            <a:pPr>
              <a:buFont typeface="Arial" pitchFamily="34" charset="0"/>
              <a:buChar char="•"/>
            </a:pPr>
            <a:endParaRPr lang="en-US" sz="1200" b="1" dirty="0"/>
          </a:p>
        </p:txBody>
      </p:sp>
      <p:sp>
        <p:nvSpPr>
          <p:cNvPr id="54" name="TextBox 53"/>
          <p:cNvSpPr txBox="1"/>
          <p:nvPr/>
        </p:nvSpPr>
        <p:spPr>
          <a:xfrm>
            <a:off x="7270748" y="6203956"/>
            <a:ext cx="2786082" cy="1149033"/>
          </a:xfrm>
          <a:prstGeom prst="rect">
            <a:avLst/>
          </a:prstGeom>
          <a:noFill/>
        </p:spPr>
        <p:txBody>
          <a:bodyPr wrap="square" rtlCol="0">
            <a:spAutoFit/>
          </a:bodyPr>
          <a:lstStyle/>
          <a:p>
            <a:pPr marL="259080" lvl="1" indent="-129540">
              <a:lnSpc>
                <a:spcPts val="1679"/>
              </a:lnSpc>
              <a:buFont typeface="Arial"/>
              <a:buChar char="•"/>
            </a:pPr>
            <a:r>
              <a:rPr lang="en-IN" sz="1200" dirty="0" smtClean="0">
                <a:solidFill>
                  <a:srgbClr val="000000"/>
                </a:solidFill>
                <a:latin typeface="Cambria"/>
                <a:ea typeface="Cambria"/>
                <a:cs typeface="Cambria"/>
                <a:sym typeface="Cambria"/>
              </a:rPr>
              <a:t>Allergic rhinitis</a:t>
            </a:r>
            <a:endParaRPr lang="en-US" sz="1200" dirty="0" smtClean="0">
              <a:solidFill>
                <a:srgbClr val="000000"/>
              </a:solidFill>
              <a:latin typeface="Cambria"/>
              <a:ea typeface="Cambria"/>
              <a:cs typeface="Cambria"/>
              <a:sym typeface="Cambria"/>
            </a:endParaRPr>
          </a:p>
          <a:p>
            <a:pPr marL="259080" lvl="1" indent="-129540">
              <a:lnSpc>
                <a:spcPts val="1679"/>
              </a:lnSpc>
              <a:buFont typeface="Arial"/>
              <a:buChar char="•"/>
            </a:pPr>
            <a:r>
              <a:rPr lang="en-IN" sz="1200" dirty="0" smtClean="0">
                <a:solidFill>
                  <a:srgbClr val="000000"/>
                </a:solidFill>
                <a:latin typeface="Cambria"/>
                <a:ea typeface="Cambria"/>
                <a:cs typeface="Cambria"/>
                <a:sym typeface="Cambria"/>
              </a:rPr>
              <a:t>LRTI</a:t>
            </a:r>
            <a:endParaRPr lang="en-US" sz="1200" dirty="0" smtClean="0">
              <a:solidFill>
                <a:srgbClr val="000000"/>
              </a:solidFill>
              <a:latin typeface="Cambria"/>
              <a:ea typeface="Cambria"/>
              <a:cs typeface="Cambria"/>
              <a:sym typeface="Cambria"/>
            </a:endParaRPr>
          </a:p>
          <a:p>
            <a:pPr marL="259080" lvl="1" indent="-129540">
              <a:lnSpc>
                <a:spcPts val="1679"/>
              </a:lnSpc>
              <a:buFont typeface="Arial"/>
              <a:buChar char="•"/>
            </a:pPr>
            <a:r>
              <a:rPr lang="en-IN" sz="1200" dirty="0" smtClean="0">
                <a:solidFill>
                  <a:srgbClr val="000000"/>
                </a:solidFill>
                <a:latin typeface="Cambria"/>
                <a:ea typeface="Cambria"/>
                <a:cs typeface="Cambria"/>
                <a:sym typeface="Cambria"/>
              </a:rPr>
              <a:t>Asthma</a:t>
            </a:r>
            <a:endParaRPr lang="en-US" sz="1200" dirty="0" smtClean="0">
              <a:solidFill>
                <a:srgbClr val="000000"/>
              </a:solidFill>
              <a:latin typeface="Cambria"/>
              <a:ea typeface="Cambria"/>
              <a:cs typeface="Cambria"/>
              <a:sym typeface="Cambria"/>
            </a:endParaRPr>
          </a:p>
          <a:p>
            <a:pPr marL="259080" lvl="1" indent="-129540">
              <a:lnSpc>
                <a:spcPts val="1679"/>
              </a:lnSpc>
              <a:buFont typeface="Arial"/>
              <a:buChar char="•"/>
            </a:pPr>
            <a:r>
              <a:rPr lang="en-IN" sz="1200" dirty="0" smtClean="0">
                <a:solidFill>
                  <a:srgbClr val="000000"/>
                </a:solidFill>
                <a:latin typeface="Cambria"/>
                <a:ea typeface="Cambria"/>
                <a:cs typeface="Cambria"/>
                <a:sym typeface="Cambria"/>
              </a:rPr>
              <a:t>Tuberculosis</a:t>
            </a:r>
            <a:endParaRPr lang="en-US" sz="1200" dirty="0" smtClean="0">
              <a:solidFill>
                <a:srgbClr val="000000"/>
              </a:solidFill>
              <a:latin typeface="Cambria"/>
              <a:ea typeface="Cambria"/>
              <a:cs typeface="Cambria"/>
              <a:sym typeface="Cambria"/>
            </a:endParaRPr>
          </a:p>
          <a:p>
            <a:endParaRPr lang="en-US" sz="1200" b="1" dirty="0"/>
          </a:p>
        </p:txBody>
      </p:sp>
      <p:sp>
        <p:nvSpPr>
          <p:cNvPr id="55" name="TextBox 54"/>
          <p:cNvSpPr txBox="1"/>
          <p:nvPr/>
        </p:nvSpPr>
        <p:spPr>
          <a:xfrm>
            <a:off x="10628334" y="6275394"/>
            <a:ext cx="2786082" cy="931024"/>
          </a:xfrm>
          <a:prstGeom prst="rect">
            <a:avLst/>
          </a:prstGeom>
          <a:noFill/>
        </p:spPr>
        <p:txBody>
          <a:bodyPr wrap="square" rtlCol="0">
            <a:spAutoFit/>
          </a:bodyPr>
          <a:lstStyle/>
          <a:p>
            <a:pPr marL="259080" lvl="1" indent="-129540">
              <a:lnSpc>
                <a:spcPts val="1679"/>
              </a:lnSpc>
              <a:buFont typeface="Arial"/>
              <a:buChar char="•"/>
            </a:pPr>
            <a:r>
              <a:rPr lang="en-US" sz="1200" dirty="0" err="1" smtClean="0">
                <a:solidFill>
                  <a:srgbClr val="000000"/>
                </a:solidFill>
                <a:latin typeface="Cambria"/>
                <a:ea typeface="Cambria"/>
                <a:cs typeface="Cambria"/>
                <a:sym typeface="Cambria"/>
              </a:rPr>
              <a:t>Paediatric</a:t>
            </a:r>
            <a:r>
              <a:rPr lang="en-US" sz="1200" dirty="0" smtClean="0">
                <a:solidFill>
                  <a:srgbClr val="000000"/>
                </a:solidFill>
                <a:latin typeface="Cambria"/>
                <a:ea typeface="Cambria"/>
                <a:cs typeface="Cambria"/>
                <a:sym typeface="Cambria"/>
              </a:rPr>
              <a:t> retropharyngeal abscess</a:t>
            </a:r>
          </a:p>
          <a:p>
            <a:pPr marL="259080" lvl="1" indent="-129540">
              <a:lnSpc>
                <a:spcPts val="1679"/>
              </a:lnSpc>
              <a:buFont typeface="Arial"/>
              <a:buChar char="•"/>
            </a:pPr>
            <a:r>
              <a:rPr lang="en-US" sz="1200" dirty="0" smtClean="0">
                <a:solidFill>
                  <a:srgbClr val="000000"/>
                </a:solidFill>
                <a:latin typeface="Cambria"/>
                <a:ea typeface="Cambria"/>
                <a:cs typeface="Cambria"/>
                <a:sym typeface="Cambria"/>
              </a:rPr>
              <a:t>Pneumonia </a:t>
            </a:r>
          </a:p>
          <a:p>
            <a:pPr marL="259080" lvl="1" indent="-129540">
              <a:lnSpc>
                <a:spcPts val="1679"/>
              </a:lnSpc>
              <a:buFont typeface="Arial"/>
              <a:buChar char="•"/>
            </a:pPr>
            <a:r>
              <a:rPr lang="en-IN" sz="1200" dirty="0" smtClean="0">
                <a:solidFill>
                  <a:srgbClr val="000000"/>
                </a:solidFill>
                <a:latin typeface="Cambria"/>
                <a:ea typeface="Cambria"/>
                <a:cs typeface="Cambria"/>
                <a:sym typeface="Cambria"/>
              </a:rPr>
              <a:t>Sinusitis</a:t>
            </a:r>
            <a:endParaRPr lang="en-US" sz="1200" dirty="0" smtClean="0">
              <a:solidFill>
                <a:srgbClr val="000000"/>
              </a:solidFill>
              <a:latin typeface="Cambria"/>
              <a:ea typeface="Cambria"/>
              <a:cs typeface="Cambria"/>
              <a:sym typeface="Cambria"/>
            </a:endParaRPr>
          </a:p>
          <a:p>
            <a:endParaRPr lang="en-US" sz="1200" b="1" dirty="0"/>
          </a:p>
        </p:txBody>
      </p:sp>
      <p:sp>
        <p:nvSpPr>
          <p:cNvPr id="56" name="TextBox 55"/>
          <p:cNvSpPr txBox="1"/>
          <p:nvPr/>
        </p:nvSpPr>
        <p:spPr>
          <a:xfrm>
            <a:off x="7270748" y="7632716"/>
            <a:ext cx="7215238" cy="830997"/>
          </a:xfrm>
          <a:prstGeom prst="rect">
            <a:avLst/>
          </a:prstGeom>
          <a:noFill/>
        </p:spPr>
        <p:txBody>
          <a:bodyPr wrap="square" rtlCol="0">
            <a:spAutoFit/>
          </a:bodyPr>
          <a:lstStyle/>
          <a:p>
            <a:pPr>
              <a:buFont typeface="Arial" pitchFamily="34" charset="0"/>
              <a:buChar char="•"/>
            </a:pPr>
            <a:r>
              <a:rPr lang="en-IN" sz="1200" dirty="0" err="1" smtClean="0"/>
              <a:t>Cbc</a:t>
            </a:r>
            <a:r>
              <a:rPr lang="en-IN" sz="1200" dirty="0" smtClean="0"/>
              <a:t>= TLC is elevated and lymphocytes also elevated, </a:t>
            </a:r>
            <a:r>
              <a:rPr lang="en-IN" sz="1200" dirty="0" err="1" smtClean="0"/>
              <a:t>hb</a:t>
            </a:r>
            <a:r>
              <a:rPr lang="en-IN" sz="1200" dirty="0" smtClean="0"/>
              <a:t> is low</a:t>
            </a:r>
          </a:p>
          <a:p>
            <a:pPr>
              <a:buFont typeface="Arial" pitchFamily="34" charset="0"/>
              <a:buChar char="•"/>
            </a:pPr>
            <a:r>
              <a:rPr lang="en-IN" sz="1200" dirty="0" smtClean="0"/>
              <a:t>CRP= Increased</a:t>
            </a:r>
            <a:endParaRPr lang="en-US" sz="1200" dirty="0" smtClean="0"/>
          </a:p>
          <a:p>
            <a:pPr>
              <a:buFont typeface="Arial" pitchFamily="34" charset="0"/>
              <a:buChar char="•"/>
            </a:pPr>
            <a:r>
              <a:rPr lang="en-US" sz="1200" dirty="0" err="1" smtClean="0"/>
              <a:t>Nasoclear</a:t>
            </a:r>
            <a:r>
              <a:rPr lang="en-US" sz="1200" dirty="0" smtClean="0"/>
              <a:t> nasal drops- 1 drop per nostril for 3 days</a:t>
            </a:r>
          </a:p>
          <a:p>
            <a:pPr>
              <a:buFont typeface="Arial" pitchFamily="34" charset="0"/>
              <a:buChar char="•"/>
            </a:pPr>
            <a:r>
              <a:rPr lang="en-US" sz="1200" dirty="0" err="1" smtClean="0"/>
              <a:t>Syp</a:t>
            </a:r>
            <a:r>
              <a:rPr lang="en-US" sz="1200" dirty="0" smtClean="0"/>
              <a:t>. </a:t>
            </a:r>
            <a:r>
              <a:rPr lang="en-US" sz="1200" dirty="0" err="1" smtClean="0"/>
              <a:t>Maxtra</a:t>
            </a:r>
            <a:r>
              <a:rPr lang="en-US" sz="1200" dirty="0" smtClean="0"/>
              <a:t> 2.5ml BD for 3 days</a:t>
            </a:r>
            <a:endParaRPr lang="en-US" sz="1200" dirty="0"/>
          </a:p>
        </p:txBody>
      </p:sp>
      <p:pic>
        <p:nvPicPr>
          <p:cNvPr id="57" name="Picture 56" descr="photo_2025-01-07_23-13-00.jpg"/>
          <p:cNvPicPr>
            <a:picLocks noChangeAspect="1"/>
          </p:cNvPicPr>
          <p:nvPr/>
        </p:nvPicPr>
        <p:blipFill>
          <a:blip r:embed="rId3"/>
          <a:stretch>
            <a:fillRect/>
          </a:stretch>
        </p:blipFill>
        <p:spPr>
          <a:xfrm>
            <a:off x="412700" y="1346172"/>
            <a:ext cx="6643733" cy="4929222"/>
          </a:xfrm>
          <a:prstGeom prst="rect">
            <a:avLst/>
          </a:prstGeom>
        </p:spPr>
      </p:pic>
      <p:pic>
        <p:nvPicPr>
          <p:cNvPr id="58" name="Picture 57" descr="photo_2025-01-07_23-13-02.jpg"/>
          <p:cNvPicPr>
            <a:picLocks noChangeAspect="1"/>
          </p:cNvPicPr>
          <p:nvPr/>
        </p:nvPicPr>
        <p:blipFill>
          <a:blip r:embed="rId4"/>
          <a:srcRect r="863"/>
          <a:stretch>
            <a:fillRect/>
          </a:stretch>
        </p:blipFill>
        <p:spPr>
          <a:xfrm>
            <a:off x="484138" y="6346832"/>
            <a:ext cx="6572296" cy="24288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TotalTime>
  <Words>1492</Words>
  <Application>Microsoft Office PowerPoint</Application>
  <PresentationFormat>Custom</PresentationFormat>
  <Paragraphs>282</Paragraphs>
  <Slides>8</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Arial</vt:lpstr>
      <vt:lpstr>IBM Plex Sans Bold</vt:lpstr>
      <vt:lpstr>IBM Plex Sans</vt:lpstr>
      <vt:lpstr>Calibri (MS) Bold</vt:lpstr>
      <vt:lpstr>Calibri (MS)</vt:lpstr>
      <vt:lpstr>Cambria Bold</vt:lpstr>
      <vt:lpstr>Calibri</vt:lpstr>
      <vt:lpstr>Cambria Bold Italics</vt:lpstr>
      <vt:lpstr>Cambria</vt:lpstr>
      <vt:lpstr>Office Theme</vt:lpstr>
      <vt:lpstr>Slide 1</vt:lpstr>
      <vt:lpstr>Slide 2</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Bhuvan Ophthal Logbook</dc:title>
  <dc:creator>SARAVANAN</dc:creator>
  <cp:lastModifiedBy>Windows User</cp:lastModifiedBy>
  <cp:revision>31</cp:revision>
  <dcterms:created xsi:type="dcterms:W3CDTF">2006-08-16T00:00:00Z</dcterms:created>
  <dcterms:modified xsi:type="dcterms:W3CDTF">2025-01-19T10:47:05Z</dcterms:modified>
  <dc:identifier>DAGZhNZM21c</dc:identifier>
</cp:coreProperties>
</file>