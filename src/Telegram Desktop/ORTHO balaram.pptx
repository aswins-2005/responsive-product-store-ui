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61" r:id="rId5"/>
    <p:sldId id="262" r:id="rId6"/>
    <p:sldId id="263" r:id="rId7"/>
    <p:sldId id="264" r:id="rId8"/>
    <p:sldId id="265" r:id="rId9"/>
  </p:sldIdLst>
  <p:sldSz cx="15113000" cy="10693400"/>
  <p:notesSz cx="6858000" cy="9144000"/>
  <p:embeddedFontLst>
    <p:embeddedFont>
      <p:font typeface="IBM Plex Sans Bold" charset="0"/>
      <p:regular r:id="rId11"/>
    </p:embeddedFont>
    <p:embeddedFont>
      <p:font typeface="IBM Plex Sans" charset="0"/>
      <p:regular r:id="rId12"/>
    </p:embeddedFont>
    <p:embeddedFont>
      <p:font typeface="Calibri (MS) Bold" charset="0"/>
      <p:regular r:id="rId13"/>
    </p:embeddedFont>
    <p:embeddedFont>
      <p:font typeface="Calibri (MS)" charset="0"/>
      <p:regular r:id="rId14"/>
    </p:embeddedFont>
    <p:embeddedFont>
      <p:font typeface="Cambria Bold" charset="0"/>
      <p:regular r:id="rId15"/>
    </p:embeddedFont>
    <p:embeddedFont>
      <p:font typeface="Cambria Bold Italics" charset="0"/>
      <p:regular r:id="rId16"/>
    </p:embeddedFont>
    <p:embeddedFont>
      <p:font typeface="Calibri" pitchFamily="34" charset="0"/>
      <p:regular r:id="rId17"/>
      <p:bold r:id="rId18"/>
      <p:italic r:id="rId19"/>
      <p:boldItalic r:id="rId20"/>
    </p:embeddedFont>
    <p:embeddedFont>
      <p:font typeface="Cambria" pitchFamily="18" charset="0"/>
      <p:regular r:id="rId21"/>
      <p:bold r:id="rId22"/>
      <p:italic r:id="rId23"/>
      <p:bold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15" autoAdjust="0"/>
    <p:restoredTop sz="94622" autoAdjust="0"/>
  </p:normalViewPr>
  <p:slideViewPr>
    <p:cSldViewPr>
      <p:cViewPr>
        <p:scale>
          <a:sx n="60" d="100"/>
          <a:sy n="60" d="100"/>
        </p:scale>
        <p:origin x="-522"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font" Target="fonts/font13.fntdata"/><Relationship Id="rId28" Type="http://schemas.openxmlformats.org/officeDocument/2006/relationships/tableStyles" Target="tableStyle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708485-A10A-49F0-BB1D-044E5E21927B}" type="datetimeFigureOut">
              <a:rPr lang="en-US" smtClean="0"/>
              <a:pPr/>
              <a:t>1/20/2025</a:t>
            </a:fld>
            <a:endParaRPr lang="en-US"/>
          </a:p>
        </p:txBody>
      </p:sp>
      <p:sp>
        <p:nvSpPr>
          <p:cNvPr id="4" name="Slide Image Placeholder 3"/>
          <p:cNvSpPr>
            <a:spLocks noGrp="1" noRot="1" noChangeAspect="1"/>
          </p:cNvSpPr>
          <p:nvPr>
            <p:ph type="sldImg" idx="2"/>
          </p:nvPr>
        </p:nvSpPr>
        <p:spPr>
          <a:xfrm>
            <a:off x="1006475" y="685800"/>
            <a:ext cx="484505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4C2F56-6CB4-43F1-B1C7-516A1D503BA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4C2F56-6CB4-43F1-B1C7-516A1D503BAD}" type="slidenum">
              <a:rPr lang="en-US" smtClean="0"/>
              <a:pPr/>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4C2F56-6CB4-43F1-B1C7-516A1D503BAD}" type="slidenum">
              <a:rPr lang="en-US" smtClean="0"/>
              <a:pPr/>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4C2F56-6CB4-43F1-B1C7-516A1D503BAD}" type="slidenum">
              <a:rPr lang="en-US" smtClean="0"/>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4C2F56-6CB4-43F1-B1C7-516A1D503BAD}" type="slidenum">
              <a:rPr lang="en-US" smtClean="0"/>
              <a:pPr/>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4C2F56-6CB4-43F1-B1C7-516A1D503BAD}" type="slidenum">
              <a:rPr lang="en-US" smtClean="0"/>
              <a:pPr/>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3" y="-1"/>
            <a:ext cx="15119985" cy="10692127"/>
          </a:xfrm>
          <a:custGeom>
            <a:avLst/>
            <a:gdLst/>
            <a:ahLst/>
            <a:cxnLst/>
            <a:rect l="l" t="t" r="r" b="b"/>
            <a:pathLst>
              <a:path w="15119985" h="10692127">
                <a:moveTo>
                  <a:pt x="0" y="0"/>
                </a:moveTo>
                <a:lnTo>
                  <a:pt x="15119985" y="0"/>
                </a:lnTo>
                <a:lnTo>
                  <a:pt x="15119985" y="10692127"/>
                </a:lnTo>
                <a:lnTo>
                  <a:pt x="0" y="10692127"/>
                </a:lnTo>
                <a:lnTo>
                  <a:pt x="0" y="0"/>
                </a:lnTo>
                <a:close/>
              </a:path>
            </a:pathLst>
          </a:custGeom>
          <a:blipFill>
            <a:blip r:embed="rId2"/>
            <a:stretch>
              <a:fillRect/>
            </a:stretch>
          </a:blipFill>
        </p:spPr>
      </p:sp>
      <p:grpSp>
        <p:nvGrpSpPr>
          <p:cNvPr id="5" name="Group 5"/>
          <p:cNvGrpSpPr>
            <a:grpSpLocks noChangeAspect="1"/>
          </p:cNvGrpSpPr>
          <p:nvPr/>
        </p:nvGrpSpPr>
        <p:grpSpPr>
          <a:xfrm>
            <a:off x="5908672" y="3617595"/>
            <a:ext cx="3310252" cy="3300727"/>
            <a:chOff x="0" y="0"/>
            <a:chExt cx="3310255" cy="3300730"/>
          </a:xfrm>
        </p:grpSpPr>
        <p:sp>
          <p:nvSpPr>
            <p:cNvPr id="6" name="Freeform 6"/>
            <p:cNvSpPr/>
            <p:nvPr/>
          </p:nvSpPr>
          <p:spPr>
            <a:xfrm>
              <a:off x="-147574" y="12700"/>
              <a:ext cx="3605530" cy="3275330"/>
            </a:xfrm>
            <a:custGeom>
              <a:avLst/>
              <a:gdLst/>
              <a:ahLst/>
              <a:cxnLst/>
              <a:rect l="l" t="t" r="r" b="b"/>
              <a:pathLst>
                <a:path w="3605530" h="3275330">
                  <a:moveTo>
                    <a:pt x="1802765" y="25400"/>
                  </a:moveTo>
                  <a:cubicBezTo>
                    <a:pt x="2216658" y="25400"/>
                    <a:pt x="2630424" y="182753"/>
                    <a:pt x="2946146" y="497586"/>
                  </a:cubicBezTo>
                  <a:lnTo>
                    <a:pt x="2946146" y="497586"/>
                  </a:lnTo>
                  <a:cubicBezTo>
                    <a:pt x="3576447" y="1126109"/>
                    <a:pt x="3577590" y="2144395"/>
                    <a:pt x="2949575" y="2774188"/>
                  </a:cubicBezTo>
                  <a:cubicBezTo>
                    <a:pt x="2948432" y="2775331"/>
                    <a:pt x="2947289" y="2776474"/>
                    <a:pt x="2946146" y="2777617"/>
                  </a:cubicBezTo>
                  <a:lnTo>
                    <a:pt x="2946146" y="2777617"/>
                  </a:lnTo>
                  <a:cubicBezTo>
                    <a:pt x="2630424" y="3092450"/>
                    <a:pt x="2216531" y="3249803"/>
                    <a:pt x="1802765" y="3249803"/>
                  </a:cubicBezTo>
                  <a:cubicBezTo>
                    <a:pt x="1388999" y="3249803"/>
                    <a:pt x="975106" y="3092450"/>
                    <a:pt x="659384" y="2777617"/>
                  </a:cubicBezTo>
                  <a:cubicBezTo>
                    <a:pt x="28956" y="2149221"/>
                    <a:pt x="27813" y="1130935"/>
                    <a:pt x="655828" y="501015"/>
                  </a:cubicBezTo>
                  <a:cubicBezTo>
                    <a:pt x="656971" y="499872"/>
                    <a:pt x="658114" y="498729"/>
                    <a:pt x="659257" y="497586"/>
                  </a:cubicBezTo>
                  <a:cubicBezTo>
                    <a:pt x="974979" y="182753"/>
                    <a:pt x="1388872" y="25400"/>
                    <a:pt x="1802765" y="25400"/>
                  </a:cubicBezTo>
                  <a:close/>
                  <a:moveTo>
                    <a:pt x="1802765" y="0"/>
                  </a:moveTo>
                  <a:cubicBezTo>
                    <a:pt x="1382395" y="0"/>
                    <a:pt x="962025" y="159893"/>
                    <a:pt x="641350" y="479679"/>
                  </a:cubicBezTo>
                  <a:lnTo>
                    <a:pt x="649732" y="488061"/>
                  </a:lnTo>
                  <a:lnTo>
                    <a:pt x="641350" y="479679"/>
                  </a:lnTo>
                  <a:cubicBezTo>
                    <a:pt x="640207" y="480822"/>
                    <a:pt x="639064" y="481965"/>
                    <a:pt x="637921" y="483108"/>
                  </a:cubicBezTo>
                  <a:cubicBezTo>
                    <a:pt x="0" y="1122934"/>
                    <a:pt x="1143" y="2157222"/>
                    <a:pt x="641350" y="2795651"/>
                  </a:cubicBezTo>
                  <a:lnTo>
                    <a:pt x="641350" y="2795651"/>
                  </a:lnTo>
                  <a:cubicBezTo>
                    <a:pt x="962025" y="3115437"/>
                    <a:pt x="1382395" y="3275330"/>
                    <a:pt x="1802765" y="3275330"/>
                  </a:cubicBezTo>
                  <a:cubicBezTo>
                    <a:pt x="2223135" y="3275330"/>
                    <a:pt x="2643378" y="3115437"/>
                    <a:pt x="2964180" y="2795651"/>
                  </a:cubicBezTo>
                  <a:cubicBezTo>
                    <a:pt x="2965323" y="2794508"/>
                    <a:pt x="2966466" y="2793365"/>
                    <a:pt x="2967609" y="2792222"/>
                  </a:cubicBezTo>
                  <a:cubicBezTo>
                    <a:pt x="3605530" y="2152396"/>
                    <a:pt x="3604387" y="1118108"/>
                    <a:pt x="2964180" y="479679"/>
                  </a:cubicBezTo>
                  <a:cubicBezTo>
                    <a:pt x="2643378" y="159893"/>
                    <a:pt x="2223008" y="0"/>
                    <a:pt x="1802765" y="0"/>
                  </a:cubicBezTo>
                  <a:close/>
                </a:path>
              </a:pathLst>
            </a:custGeom>
            <a:solidFill>
              <a:srgbClr val="3A5E8A"/>
            </a:solidFill>
          </p:spPr>
        </p:sp>
      </p:grpSp>
      <p:sp>
        <p:nvSpPr>
          <p:cNvPr id="7" name="TextBox 7"/>
          <p:cNvSpPr txBox="1"/>
          <p:nvPr/>
        </p:nvSpPr>
        <p:spPr>
          <a:xfrm>
            <a:off x="4217784" y="7754407"/>
            <a:ext cx="6887099" cy="1333698"/>
          </a:xfrm>
          <a:prstGeom prst="rect">
            <a:avLst/>
          </a:prstGeom>
        </p:spPr>
        <p:txBody>
          <a:bodyPr lIns="0" tIns="0" rIns="0" bIns="0" rtlCol="0" anchor="t">
            <a:spAutoFit/>
          </a:bodyPr>
          <a:lstStyle/>
          <a:p>
            <a:pPr algn="ctr">
              <a:lnSpc>
                <a:spcPts val="3235"/>
              </a:lnSpc>
            </a:pPr>
            <a:r>
              <a:rPr lang="en-US" sz="2550" b="1" spc="-5" dirty="0">
                <a:solidFill>
                  <a:srgbClr val="FFFFFF"/>
                </a:solidFill>
                <a:latin typeface="IBM Plex Sans Bold"/>
                <a:ea typeface="IBM Plex Sans Bold"/>
                <a:cs typeface="IBM Plex Sans Bold"/>
                <a:sym typeface="IBM Plex Sans Bold"/>
              </a:rPr>
              <a:t>Dr. </a:t>
            </a:r>
            <a:r>
              <a:rPr lang="en-US" sz="2550" b="1" spc="-5" dirty="0" smtClean="0">
                <a:solidFill>
                  <a:srgbClr val="FFFFFF"/>
                </a:solidFill>
                <a:latin typeface="IBM Plex Sans Bold"/>
                <a:ea typeface="IBM Plex Sans Bold"/>
                <a:cs typeface="IBM Plex Sans Bold"/>
                <a:sym typeface="IBM Plex Sans Bold"/>
              </a:rPr>
              <a:t>BALARAM</a:t>
            </a:r>
          </a:p>
          <a:p>
            <a:pPr algn="ctr">
              <a:lnSpc>
                <a:spcPts val="3235"/>
              </a:lnSpc>
            </a:pPr>
            <a:r>
              <a:rPr lang="en-US" sz="2550" b="1" spc="-5" dirty="0" smtClean="0">
                <a:solidFill>
                  <a:srgbClr val="FFFFFF"/>
                </a:solidFill>
                <a:latin typeface="IBM Plex Sans Bold"/>
                <a:ea typeface="IBM Plex Sans Bold"/>
                <a:cs typeface="IBM Plex Sans Bold"/>
                <a:sym typeface="IBM Plex Sans Bold"/>
              </a:rPr>
              <a:t> PROMETHEANS </a:t>
            </a:r>
            <a:r>
              <a:rPr lang="en-US" sz="2550" b="1" spc="-5" dirty="0">
                <a:solidFill>
                  <a:srgbClr val="FFFFFF"/>
                </a:solidFill>
                <a:latin typeface="IBM Plex Sans Bold"/>
                <a:ea typeface="IBM Plex Sans Bold"/>
                <a:cs typeface="IBM Plex Sans Bold"/>
                <a:sym typeface="IBM Plex Sans Bold"/>
              </a:rPr>
              <a:t>[</a:t>
            </a:r>
            <a:r>
              <a:rPr lang="en-US" sz="2550" b="1" spc="-5" dirty="0" smtClean="0">
                <a:solidFill>
                  <a:srgbClr val="FFFFFF"/>
                </a:solidFill>
                <a:latin typeface="IBM Plex Sans Bold"/>
                <a:ea typeface="IBM Plex Sans Bold"/>
                <a:cs typeface="IBM Plex Sans Bold"/>
                <a:sym typeface="IBM Plex Sans Bold"/>
              </a:rPr>
              <a:t>2020 </a:t>
            </a:r>
            <a:r>
              <a:rPr lang="en-US" sz="2550" b="1" spc="-5" dirty="0">
                <a:solidFill>
                  <a:srgbClr val="FFFFFF"/>
                </a:solidFill>
                <a:latin typeface="IBM Plex Sans Bold"/>
                <a:ea typeface="IBM Plex Sans Bold"/>
                <a:cs typeface="IBM Plex Sans Bold"/>
                <a:sym typeface="IBM Plex Sans Bold"/>
              </a:rPr>
              <a:t>– </a:t>
            </a:r>
            <a:r>
              <a:rPr lang="en-US" sz="2550" b="1" spc="-5" dirty="0" smtClean="0">
                <a:solidFill>
                  <a:srgbClr val="FFFFFF"/>
                </a:solidFill>
                <a:latin typeface="IBM Plex Sans Bold"/>
                <a:ea typeface="IBM Plex Sans Bold"/>
                <a:cs typeface="IBM Plex Sans Bold"/>
                <a:sym typeface="IBM Plex Sans Bold"/>
              </a:rPr>
              <a:t>2025]</a:t>
            </a:r>
            <a:endParaRPr lang="en-US" sz="2550" b="1" spc="-5" dirty="0">
              <a:solidFill>
                <a:srgbClr val="FFFFFF"/>
              </a:solidFill>
              <a:latin typeface="IBM Plex Sans Bold"/>
              <a:ea typeface="IBM Plex Sans Bold"/>
              <a:cs typeface="IBM Plex Sans Bold"/>
              <a:sym typeface="IBM Plex Sans Bold"/>
            </a:endParaRPr>
          </a:p>
          <a:p>
            <a:pPr algn="ctr">
              <a:lnSpc>
                <a:spcPts val="1999"/>
              </a:lnSpc>
            </a:pPr>
            <a:r>
              <a:rPr lang="en-US" sz="1700" spc="-3" dirty="0" err="1">
                <a:solidFill>
                  <a:srgbClr val="FFFFFF"/>
                </a:solidFill>
                <a:latin typeface="IBM Plex Sans"/>
                <a:ea typeface="IBM Plex Sans"/>
                <a:cs typeface="IBM Plex Sans"/>
                <a:sym typeface="IBM Plex Sans"/>
              </a:rPr>
              <a:t>Saveetha</a:t>
            </a:r>
            <a:r>
              <a:rPr lang="en-US" sz="1700" spc="-3" dirty="0">
                <a:solidFill>
                  <a:srgbClr val="FFFFFF"/>
                </a:solidFill>
                <a:latin typeface="IBM Plex Sans"/>
                <a:ea typeface="IBM Plex Sans"/>
                <a:cs typeface="IBM Plex Sans"/>
                <a:sym typeface="IBM Plex Sans"/>
              </a:rPr>
              <a:t> Medical College, </a:t>
            </a:r>
            <a:r>
              <a:rPr lang="en-US" sz="1700" spc="-3" dirty="0" err="1">
                <a:solidFill>
                  <a:srgbClr val="FFFFFF"/>
                </a:solidFill>
                <a:latin typeface="IBM Plex Sans"/>
                <a:ea typeface="IBM Plex Sans"/>
                <a:cs typeface="IBM Plex Sans"/>
                <a:sym typeface="IBM Plex Sans"/>
              </a:rPr>
              <a:t>Saveetha</a:t>
            </a:r>
            <a:r>
              <a:rPr lang="en-US" sz="1700" spc="-3" dirty="0">
                <a:solidFill>
                  <a:srgbClr val="FFFFFF"/>
                </a:solidFill>
                <a:latin typeface="IBM Plex Sans"/>
                <a:ea typeface="IBM Plex Sans"/>
                <a:cs typeface="IBM Plex Sans"/>
                <a:sym typeface="IBM Plex Sans"/>
              </a:rPr>
              <a:t> Institute of Medical and Technical Sciences.</a:t>
            </a:r>
          </a:p>
        </p:txBody>
      </p:sp>
      <p:pic>
        <p:nvPicPr>
          <p:cNvPr id="8" name="Picture 7" descr="photo_2025-01-07_21-49-11.jpg"/>
          <p:cNvPicPr>
            <a:picLocks noChangeAspect="1"/>
          </p:cNvPicPr>
          <p:nvPr/>
        </p:nvPicPr>
        <p:blipFill>
          <a:blip r:embed="rId3"/>
          <a:stretch>
            <a:fillRect/>
          </a:stretch>
        </p:blipFill>
        <p:spPr>
          <a:xfrm>
            <a:off x="5913426" y="3632188"/>
            <a:ext cx="3286148" cy="328614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a:grpSpLocks noChangeAspect="1"/>
          </p:cNvGrpSpPr>
          <p:nvPr/>
        </p:nvGrpSpPr>
        <p:grpSpPr>
          <a:xfrm>
            <a:off x="397507" y="417833"/>
            <a:ext cx="6760207" cy="2068192"/>
            <a:chOff x="0" y="0"/>
            <a:chExt cx="6760210" cy="2068195"/>
          </a:xfrm>
        </p:grpSpPr>
        <p:sp>
          <p:nvSpPr>
            <p:cNvPr id="5" name="Freeform 5"/>
            <p:cNvSpPr/>
            <p:nvPr/>
          </p:nvSpPr>
          <p:spPr>
            <a:xfrm>
              <a:off x="63500" y="63500"/>
              <a:ext cx="6633210" cy="1941195"/>
            </a:xfrm>
            <a:custGeom>
              <a:avLst/>
              <a:gdLst/>
              <a:ahLst/>
              <a:cxnLst/>
              <a:rect l="l" t="t" r="r" b="b"/>
              <a:pathLst>
                <a:path w="6633210" h="1941195">
                  <a:moveTo>
                    <a:pt x="0" y="1941195"/>
                  </a:moveTo>
                  <a:lnTo>
                    <a:pt x="6633210" y="1941195"/>
                  </a:lnTo>
                  <a:lnTo>
                    <a:pt x="6633210" y="0"/>
                  </a:lnTo>
                  <a:lnTo>
                    <a:pt x="0" y="0"/>
                  </a:lnTo>
                  <a:lnTo>
                    <a:pt x="0" y="1941195"/>
                  </a:lnTo>
                  <a:close/>
                </a:path>
              </a:pathLst>
            </a:custGeom>
            <a:solidFill>
              <a:srgbClr val="376092"/>
            </a:solidFill>
          </p:spPr>
        </p:sp>
        <p:sp>
          <p:nvSpPr>
            <p:cNvPr id="6" name="Freeform 6"/>
            <p:cNvSpPr/>
            <p:nvPr/>
          </p:nvSpPr>
          <p:spPr>
            <a:xfrm>
              <a:off x="465455" y="519557"/>
              <a:ext cx="5829300" cy="17526"/>
            </a:xfrm>
            <a:custGeom>
              <a:avLst/>
              <a:gdLst/>
              <a:ahLst/>
              <a:cxnLst/>
              <a:rect l="l" t="t" r="r" b="b"/>
              <a:pathLst>
                <a:path w="5829300" h="17526">
                  <a:moveTo>
                    <a:pt x="0" y="0"/>
                  </a:moveTo>
                  <a:lnTo>
                    <a:pt x="5829300" y="0"/>
                  </a:lnTo>
                  <a:lnTo>
                    <a:pt x="5829300" y="17526"/>
                  </a:lnTo>
                  <a:lnTo>
                    <a:pt x="0" y="17526"/>
                  </a:lnTo>
                  <a:close/>
                </a:path>
              </a:pathLst>
            </a:custGeom>
            <a:solidFill>
              <a:srgbClr val="FFFFFF"/>
            </a:solidFill>
          </p:spPr>
        </p:sp>
        <p:sp>
          <p:nvSpPr>
            <p:cNvPr id="7" name="Freeform 7"/>
            <p:cNvSpPr/>
            <p:nvPr/>
          </p:nvSpPr>
          <p:spPr>
            <a:xfrm>
              <a:off x="465455" y="1531112"/>
              <a:ext cx="5829300" cy="17526"/>
            </a:xfrm>
            <a:custGeom>
              <a:avLst/>
              <a:gdLst/>
              <a:ahLst/>
              <a:cxnLst/>
              <a:rect l="l" t="t" r="r" b="b"/>
              <a:pathLst>
                <a:path w="5829300" h="17526">
                  <a:moveTo>
                    <a:pt x="0" y="0"/>
                  </a:moveTo>
                  <a:lnTo>
                    <a:pt x="5829300" y="0"/>
                  </a:lnTo>
                  <a:lnTo>
                    <a:pt x="5829300" y="17526"/>
                  </a:lnTo>
                  <a:lnTo>
                    <a:pt x="0" y="17526"/>
                  </a:lnTo>
                  <a:close/>
                </a:path>
              </a:pathLst>
            </a:custGeom>
            <a:solidFill>
              <a:srgbClr val="FFFFFF"/>
            </a:solidFill>
          </p:spPr>
        </p:sp>
      </p:grpSp>
      <p:grpSp>
        <p:nvGrpSpPr>
          <p:cNvPr id="9" name="Group 9"/>
          <p:cNvGrpSpPr>
            <a:grpSpLocks noChangeAspect="1"/>
          </p:cNvGrpSpPr>
          <p:nvPr/>
        </p:nvGrpSpPr>
        <p:grpSpPr>
          <a:xfrm>
            <a:off x="4560232" y="6815808"/>
            <a:ext cx="2683393" cy="3538644"/>
            <a:chOff x="0" y="0"/>
            <a:chExt cx="2619159" cy="3453955"/>
          </a:xfrm>
        </p:grpSpPr>
        <p:sp>
          <p:nvSpPr>
            <p:cNvPr id="10" name="Freeform 10"/>
            <p:cNvSpPr/>
            <p:nvPr/>
          </p:nvSpPr>
          <p:spPr>
            <a:xfrm>
              <a:off x="63500" y="63500"/>
              <a:ext cx="2486660" cy="2370455"/>
            </a:xfrm>
            <a:custGeom>
              <a:avLst/>
              <a:gdLst/>
              <a:ahLst/>
              <a:cxnLst/>
              <a:rect l="l" t="t" r="r" b="b"/>
              <a:pathLst>
                <a:path w="2486660" h="2370455">
                  <a:moveTo>
                    <a:pt x="0" y="2370455"/>
                  </a:moveTo>
                  <a:lnTo>
                    <a:pt x="2486660" y="2370455"/>
                  </a:lnTo>
                  <a:lnTo>
                    <a:pt x="2486660" y="0"/>
                  </a:lnTo>
                  <a:lnTo>
                    <a:pt x="0" y="0"/>
                  </a:lnTo>
                  <a:lnTo>
                    <a:pt x="0" y="2370455"/>
                  </a:lnTo>
                  <a:close/>
                </a:path>
              </a:pathLst>
            </a:custGeom>
            <a:solidFill>
              <a:srgbClr val="FFAE70"/>
            </a:solidFill>
          </p:spPr>
        </p:sp>
        <p:sp>
          <p:nvSpPr>
            <p:cNvPr id="11" name="Freeform 11"/>
            <p:cNvSpPr/>
            <p:nvPr/>
          </p:nvSpPr>
          <p:spPr>
            <a:xfrm>
              <a:off x="68961" y="783463"/>
              <a:ext cx="2486660" cy="2606929"/>
            </a:xfrm>
            <a:custGeom>
              <a:avLst/>
              <a:gdLst/>
              <a:ahLst/>
              <a:cxnLst/>
              <a:rect l="l" t="t" r="r" b="b"/>
              <a:pathLst>
                <a:path w="2486660" h="2606929">
                  <a:moveTo>
                    <a:pt x="0" y="2606929"/>
                  </a:moveTo>
                  <a:lnTo>
                    <a:pt x="2486660" y="2606929"/>
                  </a:lnTo>
                  <a:lnTo>
                    <a:pt x="2486660" y="0"/>
                  </a:lnTo>
                  <a:lnTo>
                    <a:pt x="0" y="0"/>
                  </a:lnTo>
                  <a:lnTo>
                    <a:pt x="0" y="2606929"/>
                  </a:lnTo>
                  <a:close/>
                </a:path>
              </a:pathLst>
            </a:custGeom>
            <a:solidFill>
              <a:srgbClr val="018391"/>
            </a:solidFill>
          </p:spPr>
        </p:sp>
      </p:grpSp>
      <p:grpSp>
        <p:nvGrpSpPr>
          <p:cNvPr id="12" name="Group 12"/>
          <p:cNvGrpSpPr>
            <a:grpSpLocks noChangeAspect="1"/>
          </p:cNvGrpSpPr>
          <p:nvPr/>
        </p:nvGrpSpPr>
        <p:grpSpPr>
          <a:xfrm>
            <a:off x="4620263" y="3054982"/>
            <a:ext cx="2486663" cy="2370458"/>
            <a:chOff x="0" y="0"/>
            <a:chExt cx="2486660" cy="2370455"/>
          </a:xfrm>
        </p:grpSpPr>
        <p:sp>
          <p:nvSpPr>
            <p:cNvPr id="13" name="Freeform 13"/>
            <p:cNvSpPr/>
            <p:nvPr/>
          </p:nvSpPr>
          <p:spPr>
            <a:xfrm>
              <a:off x="0" y="0"/>
              <a:ext cx="2486660" cy="2370455"/>
            </a:xfrm>
            <a:custGeom>
              <a:avLst/>
              <a:gdLst/>
              <a:ahLst/>
              <a:cxnLst/>
              <a:rect l="l" t="t" r="r" b="b"/>
              <a:pathLst>
                <a:path w="2486660" h="2370455">
                  <a:moveTo>
                    <a:pt x="0" y="2370455"/>
                  </a:moveTo>
                  <a:lnTo>
                    <a:pt x="2486660" y="2370455"/>
                  </a:lnTo>
                  <a:lnTo>
                    <a:pt x="2486660" y="0"/>
                  </a:lnTo>
                  <a:lnTo>
                    <a:pt x="0" y="0"/>
                  </a:lnTo>
                  <a:lnTo>
                    <a:pt x="0" y="2370455"/>
                  </a:lnTo>
                  <a:close/>
                </a:path>
              </a:pathLst>
            </a:custGeom>
            <a:solidFill>
              <a:srgbClr val="F4DBAB"/>
            </a:solidFill>
          </p:spPr>
        </p:sp>
      </p:grpSp>
      <p:grpSp>
        <p:nvGrpSpPr>
          <p:cNvPr id="14" name="Group 14"/>
          <p:cNvGrpSpPr>
            <a:grpSpLocks noChangeAspect="1"/>
          </p:cNvGrpSpPr>
          <p:nvPr/>
        </p:nvGrpSpPr>
        <p:grpSpPr>
          <a:xfrm>
            <a:off x="7569203" y="1772917"/>
            <a:ext cx="7142483" cy="6644002"/>
            <a:chOff x="0" y="0"/>
            <a:chExt cx="7142480" cy="6644005"/>
          </a:xfrm>
        </p:grpSpPr>
        <p:sp>
          <p:nvSpPr>
            <p:cNvPr id="15" name="Freeform 15"/>
            <p:cNvSpPr/>
            <p:nvPr/>
          </p:nvSpPr>
          <p:spPr>
            <a:xfrm>
              <a:off x="0" y="0"/>
              <a:ext cx="7142480" cy="6644005"/>
            </a:xfrm>
            <a:custGeom>
              <a:avLst/>
              <a:gdLst/>
              <a:ahLst/>
              <a:cxnLst/>
              <a:rect l="l" t="t" r="r" b="b"/>
              <a:pathLst>
                <a:path w="7142480" h="6644005">
                  <a:moveTo>
                    <a:pt x="0" y="6644005"/>
                  </a:moveTo>
                  <a:lnTo>
                    <a:pt x="7142480" y="6644005"/>
                  </a:lnTo>
                  <a:lnTo>
                    <a:pt x="7142480" y="0"/>
                  </a:lnTo>
                  <a:lnTo>
                    <a:pt x="0" y="0"/>
                  </a:lnTo>
                  <a:close/>
                </a:path>
              </a:pathLst>
            </a:custGeom>
            <a:solidFill>
              <a:srgbClr val="FFFFFF"/>
            </a:solidFill>
          </p:spPr>
        </p:sp>
      </p:grpSp>
      <p:sp>
        <p:nvSpPr>
          <p:cNvPr id="16" name="TextBox 16"/>
          <p:cNvSpPr txBox="1"/>
          <p:nvPr/>
        </p:nvSpPr>
        <p:spPr>
          <a:xfrm>
            <a:off x="813383" y="603856"/>
            <a:ext cx="1997821" cy="218008"/>
          </a:xfrm>
          <a:prstGeom prst="rect">
            <a:avLst/>
          </a:prstGeom>
        </p:spPr>
        <p:txBody>
          <a:bodyPr lIns="0" tIns="0" rIns="0" bIns="0" rtlCol="0" anchor="t">
            <a:spAutoFit/>
          </a:bodyPr>
          <a:lstStyle/>
          <a:p>
            <a:pPr algn="l">
              <a:lnSpc>
                <a:spcPts val="1679"/>
              </a:lnSpc>
            </a:pPr>
            <a:r>
              <a:rPr lang="en-US" sz="1200" b="1" spc="-2" dirty="0">
                <a:solidFill>
                  <a:srgbClr val="FFFFFF"/>
                </a:solidFill>
                <a:latin typeface="IBM Plex Sans Bold"/>
                <a:ea typeface="IBM Plex Sans Bold"/>
                <a:cs typeface="IBM Plex Sans Bold"/>
                <a:sym typeface="IBM Plex Sans Bold"/>
              </a:rPr>
              <a:t>Dr. </a:t>
            </a:r>
            <a:r>
              <a:rPr lang="en-US" sz="1200" b="1" spc="-2" dirty="0" smtClean="0">
                <a:solidFill>
                  <a:srgbClr val="FFFFFF"/>
                </a:solidFill>
                <a:latin typeface="IBM Plex Sans Bold"/>
                <a:ea typeface="IBM Plex Sans Bold"/>
                <a:cs typeface="IBM Plex Sans Bold"/>
                <a:sym typeface="IBM Plex Sans Bold"/>
              </a:rPr>
              <a:t>BALARAM </a:t>
            </a:r>
            <a:endParaRPr lang="en-US" sz="1200" b="1" spc="-2" dirty="0">
              <a:solidFill>
                <a:srgbClr val="FFFFFF"/>
              </a:solidFill>
              <a:latin typeface="IBM Plex Sans Bold"/>
              <a:ea typeface="IBM Plex Sans Bold"/>
              <a:cs typeface="IBM Plex Sans Bold"/>
              <a:sym typeface="IBM Plex Sans Bold"/>
            </a:endParaRPr>
          </a:p>
        </p:txBody>
      </p:sp>
      <p:sp>
        <p:nvSpPr>
          <p:cNvPr id="17" name="TextBox 17"/>
          <p:cNvSpPr txBox="1"/>
          <p:nvPr/>
        </p:nvSpPr>
        <p:spPr>
          <a:xfrm>
            <a:off x="4489780" y="648148"/>
            <a:ext cx="1951021" cy="123825"/>
          </a:xfrm>
          <a:prstGeom prst="rect">
            <a:avLst/>
          </a:prstGeom>
        </p:spPr>
        <p:txBody>
          <a:bodyPr lIns="0" tIns="0" rIns="0" bIns="0" rtlCol="0" anchor="t">
            <a:spAutoFit/>
          </a:bodyPr>
          <a:lstStyle/>
          <a:p>
            <a:pPr algn="l">
              <a:lnSpc>
                <a:spcPts val="1050"/>
              </a:lnSpc>
            </a:pPr>
            <a:r>
              <a:rPr lang="en-US" sz="750" b="1" spc="-1">
                <a:solidFill>
                  <a:srgbClr val="FFFFFF"/>
                </a:solidFill>
                <a:latin typeface="IBM Plex Sans Bold"/>
                <a:ea typeface="IBM Plex Sans Bold"/>
                <a:cs typeface="IBM Plex Sans Bold"/>
                <a:sym typeface="IBM Plex Sans Bold"/>
              </a:rPr>
              <a:t>Bachelor of Medicine, Bachelor of Surgery</a:t>
            </a:r>
          </a:p>
        </p:txBody>
      </p:sp>
      <p:sp>
        <p:nvSpPr>
          <p:cNvPr id="18" name="TextBox 18"/>
          <p:cNvSpPr txBox="1"/>
          <p:nvPr/>
        </p:nvSpPr>
        <p:spPr>
          <a:xfrm>
            <a:off x="1859461" y="1039466"/>
            <a:ext cx="3836299" cy="795089"/>
          </a:xfrm>
          <a:prstGeom prst="rect">
            <a:avLst/>
          </a:prstGeom>
        </p:spPr>
        <p:txBody>
          <a:bodyPr lIns="0" tIns="0" rIns="0" bIns="0" rtlCol="0" anchor="t">
            <a:spAutoFit/>
          </a:bodyPr>
          <a:lstStyle/>
          <a:p>
            <a:pPr algn="ctr">
              <a:lnSpc>
                <a:spcPts val="4820"/>
              </a:lnSpc>
            </a:pPr>
            <a:r>
              <a:rPr lang="en-US" sz="3443" b="1" spc="-6" dirty="0">
                <a:solidFill>
                  <a:srgbClr val="FFFFFF"/>
                </a:solidFill>
                <a:latin typeface="IBM Plex Sans Bold"/>
                <a:ea typeface="IBM Plex Sans Bold"/>
                <a:cs typeface="IBM Plex Sans Bold"/>
                <a:sym typeface="IBM Plex Sans Bold"/>
              </a:rPr>
              <a:t>PREFACE</a:t>
            </a:r>
          </a:p>
          <a:p>
            <a:pPr algn="ctr">
              <a:lnSpc>
                <a:spcPts val="1355"/>
              </a:lnSpc>
            </a:pPr>
            <a:r>
              <a:rPr lang="en-US" sz="1000" b="1" spc="-5" dirty="0" smtClean="0">
                <a:solidFill>
                  <a:srgbClr val="FFFFFF"/>
                </a:solidFill>
                <a:latin typeface="IBM Plex Sans Bold"/>
                <a:ea typeface="IBM Plex Sans Bold"/>
                <a:cs typeface="IBM Plex Sans Bold"/>
                <a:sym typeface="IBM Plex Sans Bold"/>
              </a:rPr>
              <a:t>PROMETHEANS 2020–2025 </a:t>
            </a:r>
            <a:r>
              <a:rPr lang="en-US" sz="968" b="1" spc="-1" dirty="0" smtClean="0">
                <a:solidFill>
                  <a:srgbClr val="FFFFFF"/>
                </a:solidFill>
                <a:latin typeface="IBM Plex Sans Bold"/>
                <a:ea typeface="IBM Plex Sans Bold"/>
                <a:cs typeface="IBM Plex Sans Bold"/>
                <a:sym typeface="IBM Plex Sans Bold"/>
              </a:rPr>
              <a:t>| </a:t>
            </a:r>
            <a:r>
              <a:rPr lang="en-US" sz="968" b="1" spc="-1" dirty="0" err="1">
                <a:solidFill>
                  <a:srgbClr val="FFFFFF"/>
                </a:solidFill>
                <a:latin typeface="IBM Plex Sans Bold"/>
                <a:ea typeface="IBM Plex Sans Bold"/>
                <a:cs typeface="IBM Plex Sans Bold"/>
                <a:sym typeface="IBM Plex Sans Bold"/>
              </a:rPr>
              <a:t>Saveetha</a:t>
            </a:r>
            <a:r>
              <a:rPr lang="en-US" sz="968" b="1" spc="-1" dirty="0">
                <a:solidFill>
                  <a:srgbClr val="FFFFFF"/>
                </a:solidFill>
                <a:latin typeface="IBM Plex Sans Bold"/>
                <a:ea typeface="IBM Plex Sans Bold"/>
                <a:cs typeface="IBM Plex Sans Bold"/>
                <a:sym typeface="IBM Plex Sans Bold"/>
              </a:rPr>
              <a:t> Medical College Hospital</a:t>
            </a:r>
          </a:p>
        </p:txBody>
      </p:sp>
      <p:sp>
        <p:nvSpPr>
          <p:cNvPr id="19" name="TextBox 19"/>
          <p:cNvSpPr txBox="1"/>
          <p:nvPr/>
        </p:nvSpPr>
        <p:spPr>
          <a:xfrm>
            <a:off x="478041" y="5386216"/>
            <a:ext cx="3939235" cy="2403602"/>
          </a:xfrm>
          <a:prstGeom prst="rect">
            <a:avLst/>
          </a:prstGeom>
        </p:spPr>
        <p:txBody>
          <a:bodyPr lIns="0" tIns="0" rIns="0" bIns="0" rtlCol="0" anchor="t">
            <a:spAutoFit/>
          </a:bodyPr>
          <a:lstStyle/>
          <a:p>
            <a:pPr algn="just">
              <a:lnSpc>
                <a:spcPts val="2240"/>
              </a:lnSpc>
            </a:pPr>
            <a:r>
              <a:rPr lang="en-US" sz="1600" b="1">
                <a:solidFill>
                  <a:srgbClr val="17365D"/>
                </a:solidFill>
                <a:latin typeface="Calibri (MS) Bold"/>
                <a:ea typeface="Calibri (MS) Bold"/>
                <a:cs typeface="Calibri (MS) Bold"/>
                <a:sym typeface="Calibri (MS) Bold"/>
              </a:rPr>
              <a:t>Personal Introduction</a:t>
            </a:r>
            <a:r>
              <a:rPr lang="en-US" sz="1600" b="1">
                <a:solidFill>
                  <a:srgbClr val="000000"/>
                </a:solidFill>
                <a:latin typeface="Calibri (MS) Bold"/>
                <a:ea typeface="Calibri (MS) Bold"/>
                <a:cs typeface="Calibri (MS) Bold"/>
                <a:sym typeface="Calibri (MS) Bold"/>
              </a:rPr>
              <a:t> </a:t>
            </a:r>
          </a:p>
          <a:p>
            <a:pPr algn="just">
              <a:lnSpc>
                <a:spcPts val="2118"/>
              </a:lnSpc>
            </a:pPr>
            <a:r>
              <a:rPr lang="en-US" sz="1200" spc="18">
                <a:solidFill>
                  <a:srgbClr val="000000"/>
                </a:solidFill>
                <a:latin typeface="Calibri (MS)"/>
                <a:ea typeface="Calibri (MS)"/>
                <a:cs typeface="Calibri (MS)"/>
                <a:sym typeface="Calibri (MS)"/>
              </a:rPr>
              <a:t>I wanted a profession that will satisfy me, challenge me and bring me joy. I believe that a job should be like a hobby – where I want to love my work and know that I am making a diﬀerence in this world by helping others. I know it requires a tremendous amount of patience and hard work. The environment at Saveetha Medical College was simply catalytic in nature which motivated me to go extra mile in every sphere in bringing the best out of me. </a:t>
            </a:r>
          </a:p>
        </p:txBody>
      </p:sp>
      <p:sp>
        <p:nvSpPr>
          <p:cNvPr id="20" name="TextBox 20"/>
          <p:cNvSpPr txBox="1"/>
          <p:nvPr/>
        </p:nvSpPr>
        <p:spPr>
          <a:xfrm>
            <a:off x="478041" y="8188938"/>
            <a:ext cx="3939188" cy="1336719"/>
          </a:xfrm>
          <a:prstGeom prst="rect">
            <a:avLst/>
          </a:prstGeom>
        </p:spPr>
        <p:txBody>
          <a:bodyPr lIns="0" tIns="0" rIns="0" bIns="0" rtlCol="0" anchor="t">
            <a:spAutoFit/>
          </a:bodyPr>
          <a:lstStyle/>
          <a:p>
            <a:pPr algn="just">
              <a:lnSpc>
                <a:spcPts val="2118"/>
              </a:lnSpc>
            </a:pPr>
            <a:r>
              <a:rPr lang="en-US" sz="1200">
                <a:solidFill>
                  <a:srgbClr val="000000"/>
                </a:solidFill>
                <a:latin typeface="Calibri (MS)"/>
                <a:ea typeface="Calibri (MS)"/>
                <a:cs typeface="Calibri (MS)"/>
                <a:sym typeface="Calibri (MS)"/>
              </a:rPr>
              <a:t>I am fortunate to have grown in a very compe44ve environment in my medical school which has kindled me to always keep working harder and use this freedom righteously to raise my standards as a professional and as a good human rather than be another conven4onal physician.</a:t>
            </a:r>
          </a:p>
        </p:txBody>
      </p:sp>
      <p:sp>
        <p:nvSpPr>
          <p:cNvPr id="21" name="TextBox 21"/>
          <p:cNvSpPr txBox="1"/>
          <p:nvPr/>
        </p:nvSpPr>
        <p:spPr>
          <a:xfrm>
            <a:off x="4870447" y="3594154"/>
            <a:ext cx="2014538" cy="775335"/>
          </a:xfrm>
          <a:prstGeom prst="rect">
            <a:avLst/>
          </a:prstGeom>
        </p:spPr>
        <p:txBody>
          <a:bodyPr lIns="0" tIns="0" rIns="0" bIns="0" rtlCol="0" anchor="t">
            <a:spAutoFit/>
          </a:bodyPr>
          <a:lstStyle/>
          <a:p>
            <a:pPr algn="just">
              <a:lnSpc>
                <a:spcPts val="1500"/>
              </a:lnSpc>
            </a:pPr>
            <a:r>
              <a:rPr lang="en-US" sz="1200" spc="13">
                <a:solidFill>
                  <a:srgbClr val="000000"/>
                </a:solidFill>
                <a:latin typeface="Calibri (MS)"/>
                <a:ea typeface="Calibri (MS)"/>
                <a:cs typeface="Calibri (MS)"/>
                <a:sym typeface="Calibri (MS)"/>
              </a:rPr>
              <a:t>“The good physician treats the disease; the great physician treats the pa4ent who has the disease” </a:t>
            </a:r>
          </a:p>
        </p:txBody>
      </p:sp>
      <p:sp>
        <p:nvSpPr>
          <p:cNvPr id="22" name="TextBox 22"/>
          <p:cNvSpPr txBox="1"/>
          <p:nvPr/>
        </p:nvSpPr>
        <p:spPr>
          <a:xfrm>
            <a:off x="5766349" y="4546654"/>
            <a:ext cx="1023623" cy="203835"/>
          </a:xfrm>
          <a:prstGeom prst="rect">
            <a:avLst/>
          </a:prstGeom>
        </p:spPr>
        <p:txBody>
          <a:bodyPr lIns="0" tIns="0" rIns="0" bIns="0" rtlCol="0" anchor="t">
            <a:spAutoFit/>
          </a:bodyPr>
          <a:lstStyle/>
          <a:p>
            <a:pPr algn="l">
              <a:lnSpc>
                <a:spcPts val="1500"/>
              </a:lnSpc>
            </a:pPr>
            <a:r>
              <a:rPr lang="en-US" sz="1200">
                <a:solidFill>
                  <a:srgbClr val="000000"/>
                </a:solidFill>
                <a:latin typeface="Calibri (MS)"/>
                <a:ea typeface="Calibri (MS)"/>
                <a:cs typeface="Calibri (MS)"/>
                <a:sym typeface="Calibri (MS)"/>
              </a:rPr>
              <a:t>---William Osler </a:t>
            </a:r>
          </a:p>
        </p:txBody>
      </p:sp>
      <p:sp>
        <p:nvSpPr>
          <p:cNvPr id="23" name="TextBox 23"/>
          <p:cNvSpPr txBox="1"/>
          <p:nvPr/>
        </p:nvSpPr>
        <p:spPr>
          <a:xfrm>
            <a:off x="4824936" y="6949792"/>
            <a:ext cx="2153984" cy="584835"/>
          </a:xfrm>
          <a:prstGeom prst="rect">
            <a:avLst/>
          </a:prstGeom>
        </p:spPr>
        <p:txBody>
          <a:bodyPr lIns="0" tIns="0" rIns="0" bIns="0" rtlCol="0" anchor="t">
            <a:spAutoFit/>
          </a:bodyPr>
          <a:lstStyle/>
          <a:p>
            <a:pPr algn="just">
              <a:lnSpc>
                <a:spcPts val="1500"/>
              </a:lnSpc>
            </a:pPr>
            <a:r>
              <a:rPr lang="en-US" sz="1200" spc="22">
                <a:solidFill>
                  <a:srgbClr val="000000"/>
                </a:solidFill>
                <a:latin typeface="Calibri (MS)"/>
                <a:ea typeface="Calibri (MS)"/>
                <a:cs typeface="Calibri (MS)"/>
                <a:sym typeface="Calibri (MS)"/>
              </a:rPr>
              <a:t>“The best way to ﬁnd yourself is to lose yourself in the service of others.” </a:t>
            </a:r>
          </a:p>
        </p:txBody>
      </p:sp>
      <p:sp>
        <p:nvSpPr>
          <p:cNvPr id="24" name="TextBox 24"/>
          <p:cNvSpPr txBox="1"/>
          <p:nvPr/>
        </p:nvSpPr>
        <p:spPr>
          <a:xfrm>
            <a:off x="5695759" y="7418422"/>
            <a:ext cx="1276931" cy="203835"/>
          </a:xfrm>
          <a:prstGeom prst="rect">
            <a:avLst/>
          </a:prstGeom>
        </p:spPr>
        <p:txBody>
          <a:bodyPr lIns="0" tIns="0" rIns="0" bIns="0" rtlCol="0" anchor="t">
            <a:spAutoFit/>
          </a:bodyPr>
          <a:lstStyle/>
          <a:p>
            <a:pPr algn="l">
              <a:lnSpc>
                <a:spcPts val="1500"/>
              </a:lnSpc>
            </a:pPr>
            <a:r>
              <a:rPr lang="en-US" sz="1200">
                <a:solidFill>
                  <a:srgbClr val="000000"/>
                </a:solidFill>
                <a:latin typeface="Calibri (MS)"/>
                <a:ea typeface="Calibri (MS)"/>
                <a:cs typeface="Calibri (MS)"/>
                <a:sym typeface="Calibri (MS)"/>
              </a:rPr>
              <a:t>— Mahatma Gandhi</a:t>
            </a:r>
          </a:p>
        </p:txBody>
      </p:sp>
      <p:sp>
        <p:nvSpPr>
          <p:cNvPr id="25" name="TextBox 25"/>
          <p:cNvSpPr txBox="1"/>
          <p:nvPr/>
        </p:nvSpPr>
        <p:spPr>
          <a:xfrm>
            <a:off x="4781969" y="7887291"/>
            <a:ext cx="2196951" cy="965835"/>
          </a:xfrm>
          <a:prstGeom prst="rect">
            <a:avLst/>
          </a:prstGeom>
        </p:spPr>
        <p:txBody>
          <a:bodyPr lIns="0" tIns="0" rIns="0" bIns="0" rtlCol="0" anchor="t">
            <a:spAutoFit/>
          </a:bodyPr>
          <a:lstStyle/>
          <a:p>
            <a:pPr algn="just">
              <a:lnSpc>
                <a:spcPts val="1500"/>
              </a:lnSpc>
            </a:pPr>
            <a:r>
              <a:rPr lang="en-US" sz="1200">
                <a:solidFill>
                  <a:srgbClr val="F2F2F2"/>
                </a:solidFill>
                <a:latin typeface="Calibri (MS)"/>
                <a:ea typeface="Calibri (MS)"/>
                <a:cs typeface="Calibri (MS)"/>
                <a:sym typeface="Calibri (MS)"/>
              </a:rPr>
              <a:t>“A physician is obligated to consider more than a diseased organ, more than even the whole man—he must view the man in his world.” </a:t>
            </a:r>
          </a:p>
        </p:txBody>
      </p:sp>
      <p:sp>
        <p:nvSpPr>
          <p:cNvPr id="26" name="TextBox 26"/>
          <p:cNvSpPr txBox="1"/>
          <p:nvPr/>
        </p:nvSpPr>
        <p:spPr>
          <a:xfrm>
            <a:off x="5734031" y="8783955"/>
            <a:ext cx="1150953" cy="203835"/>
          </a:xfrm>
          <a:prstGeom prst="rect">
            <a:avLst/>
          </a:prstGeom>
        </p:spPr>
        <p:txBody>
          <a:bodyPr lIns="0" tIns="0" rIns="0" bIns="0" rtlCol="0" anchor="t">
            <a:spAutoFit/>
          </a:bodyPr>
          <a:lstStyle/>
          <a:p>
            <a:pPr algn="l">
              <a:lnSpc>
                <a:spcPts val="1500"/>
              </a:lnSpc>
            </a:pPr>
            <a:r>
              <a:rPr lang="en-US" sz="1200">
                <a:solidFill>
                  <a:srgbClr val="F2F2F2"/>
                </a:solidFill>
                <a:latin typeface="Calibri (MS)"/>
                <a:ea typeface="Calibri (MS)"/>
                <a:cs typeface="Calibri (MS)"/>
                <a:sym typeface="Calibri (MS)"/>
              </a:rPr>
              <a:t>— Harvey Cushing</a:t>
            </a:r>
          </a:p>
        </p:txBody>
      </p:sp>
      <p:sp>
        <p:nvSpPr>
          <p:cNvPr id="27" name="TextBox 27"/>
          <p:cNvSpPr txBox="1"/>
          <p:nvPr/>
        </p:nvSpPr>
        <p:spPr>
          <a:xfrm>
            <a:off x="8072123" y="3300565"/>
            <a:ext cx="2697823" cy="213360"/>
          </a:xfrm>
          <a:prstGeom prst="rect">
            <a:avLst/>
          </a:prstGeom>
        </p:spPr>
        <p:txBody>
          <a:bodyPr lIns="0" tIns="0" rIns="0" bIns="0" rtlCol="0" anchor="t">
            <a:spAutoFit/>
          </a:bodyPr>
          <a:lstStyle/>
          <a:p>
            <a:pPr algn="l">
              <a:lnSpc>
                <a:spcPts val="1679"/>
              </a:lnSpc>
            </a:pPr>
            <a:r>
              <a:rPr lang="en-US" sz="1200">
                <a:solidFill>
                  <a:srgbClr val="231F20"/>
                </a:solidFill>
                <a:latin typeface="Calibri (MS)"/>
                <a:ea typeface="Calibri (MS)"/>
                <a:cs typeface="Calibri (MS)"/>
                <a:sym typeface="Calibri (MS)"/>
              </a:rPr>
              <a:t>education and inculcate refined qualities </a:t>
            </a:r>
          </a:p>
        </p:txBody>
      </p:sp>
      <p:sp>
        <p:nvSpPr>
          <p:cNvPr id="28" name="TextBox 28"/>
          <p:cNvSpPr txBox="1"/>
          <p:nvPr/>
        </p:nvSpPr>
        <p:spPr>
          <a:xfrm>
            <a:off x="8072123" y="4577953"/>
            <a:ext cx="3911889" cy="213360"/>
          </a:xfrm>
          <a:prstGeom prst="rect">
            <a:avLst/>
          </a:prstGeom>
        </p:spPr>
        <p:txBody>
          <a:bodyPr lIns="0" tIns="0" rIns="0" bIns="0" rtlCol="0" anchor="t">
            <a:spAutoFit/>
          </a:bodyPr>
          <a:lstStyle/>
          <a:p>
            <a:pPr algn="l">
              <a:lnSpc>
                <a:spcPts val="1679"/>
              </a:lnSpc>
            </a:pPr>
            <a:r>
              <a:rPr lang="en-US" sz="1200">
                <a:solidFill>
                  <a:srgbClr val="231F20"/>
                </a:solidFill>
                <a:latin typeface="Calibri (MS)"/>
                <a:ea typeface="Calibri (MS)"/>
                <a:cs typeface="Calibri (MS)"/>
                <a:sym typeface="Calibri (MS)"/>
              </a:rPr>
              <a:t>such that I hold the position of a professor/ clinical instructor. </a:t>
            </a:r>
          </a:p>
        </p:txBody>
      </p:sp>
      <p:sp>
        <p:nvSpPr>
          <p:cNvPr id="29" name="TextBox 29"/>
          <p:cNvSpPr txBox="1"/>
          <p:nvPr/>
        </p:nvSpPr>
        <p:spPr>
          <a:xfrm>
            <a:off x="8072123" y="6281147"/>
            <a:ext cx="5337115" cy="213360"/>
          </a:xfrm>
          <a:prstGeom prst="rect">
            <a:avLst/>
          </a:prstGeom>
        </p:spPr>
        <p:txBody>
          <a:bodyPr lIns="0" tIns="0" rIns="0" bIns="0" rtlCol="0" anchor="t">
            <a:spAutoFit/>
          </a:bodyPr>
          <a:lstStyle/>
          <a:p>
            <a:pPr algn="l">
              <a:lnSpc>
                <a:spcPts val="1679"/>
              </a:lnSpc>
            </a:pPr>
            <a:r>
              <a:rPr lang="en-US" sz="1200">
                <a:solidFill>
                  <a:srgbClr val="000000"/>
                </a:solidFill>
                <a:latin typeface="Calibri (MS)"/>
                <a:ea typeface="Calibri (MS)"/>
                <a:cs typeface="Calibri (MS)"/>
                <a:sym typeface="Calibri (MS)"/>
              </a:rPr>
              <a:t>compassionate and to have it make some diﬀerence that we had lived and lived well.</a:t>
            </a:r>
          </a:p>
        </p:txBody>
      </p:sp>
      <p:sp>
        <p:nvSpPr>
          <p:cNvPr id="30" name="TextBox 30"/>
          <p:cNvSpPr txBox="1"/>
          <p:nvPr/>
        </p:nvSpPr>
        <p:spPr>
          <a:xfrm>
            <a:off x="8072123" y="2874769"/>
            <a:ext cx="6759550" cy="213360"/>
          </a:xfrm>
          <a:prstGeom prst="rect">
            <a:avLst/>
          </a:prstGeom>
        </p:spPr>
        <p:txBody>
          <a:bodyPr lIns="0" tIns="0" rIns="0" bIns="0" rtlCol="0" anchor="t">
            <a:spAutoFit/>
          </a:bodyPr>
          <a:lstStyle/>
          <a:p>
            <a:pPr algn="l">
              <a:lnSpc>
                <a:spcPts val="1679"/>
              </a:lnSpc>
            </a:pPr>
            <a:r>
              <a:rPr lang="en-US" sz="1200" spc="18">
                <a:solidFill>
                  <a:srgbClr val="231F20"/>
                </a:solidFill>
                <a:latin typeface="Calibri (MS)"/>
                <a:ea typeface="Calibri (MS)"/>
                <a:cs typeface="Calibri (MS)"/>
                <a:sym typeface="Calibri (MS)"/>
              </a:rPr>
              <a:t>Education is a ray of light in darkness. My vision is to become an academician, thereby impart the right </a:t>
            </a:r>
          </a:p>
        </p:txBody>
      </p:sp>
      <p:sp>
        <p:nvSpPr>
          <p:cNvPr id="31" name="TextBox 31"/>
          <p:cNvSpPr txBox="1"/>
          <p:nvPr/>
        </p:nvSpPr>
        <p:spPr>
          <a:xfrm>
            <a:off x="10818304" y="3300565"/>
            <a:ext cx="3959095" cy="213360"/>
          </a:xfrm>
          <a:prstGeom prst="rect">
            <a:avLst/>
          </a:prstGeom>
        </p:spPr>
        <p:txBody>
          <a:bodyPr lIns="0" tIns="0" rIns="0" bIns="0" rtlCol="0" anchor="t">
            <a:spAutoFit/>
          </a:bodyPr>
          <a:lstStyle/>
          <a:p>
            <a:pPr algn="l">
              <a:lnSpc>
                <a:spcPts val="1679"/>
              </a:lnSpc>
            </a:pPr>
            <a:r>
              <a:rPr lang="en-US" sz="1200">
                <a:solidFill>
                  <a:srgbClr val="231F20"/>
                </a:solidFill>
                <a:latin typeface="Calibri (MS)"/>
                <a:ea typeface="Calibri (MS)"/>
                <a:cs typeface="Calibri (MS)"/>
                <a:sym typeface="Calibri (MS)"/>
              </a:rPr>
              <a:t>among the next generation students – simply like a candle </a:t>
            </a:r>
          </a:p>
        </p:txBody>
      </p:sp>
      <p:sp>
        <p:nvSpPr>
          <p:cNvPr id="32" name="TextBox 32"/>
          <p:cNvSpPr txBox="1"/>
          <p:nvPr/>
        </p:nvSpPr>
        <p:spPr>
          <a:xfrm>
            <a:off x="8072123" y="5855351"/>
            <a:ext cx="6760816" cy="213360"/>
          </a:xfrm>
          <a:prstGeom prst="rect">
            <a:avLst/>
          </a:prstGeom>
        </p:spPr>
        <p:txBody>
          <a:bodyPr lIns="0" tIns="0" rIns="0" bIns="0" rtlCol="0" anchor="t">
            <a:spAutoFit/>
          </a:bodyPr>
          <a:lstStyle/>
          <a:p>
            <a:pPr algn="l">
              <a:lnSpc>
                <a:spcPts val="1679"/>
              </a:lnSpc>
            </a:pPr>
            <a:r>
              <a:rPr lang="en-US" sz="1200">
                <a:solidFill>
                  <a:srgbClr val="000000"/>
                </a:solidFill>
                <a:latin typeface="Calibri (MS)"/>
                <a:ea typeface="Calibri (MS)"/>
                <a:cs typeface="Calibri (MS)"/>
                <a:sym typeface="Calibri (MS)"/>
              </a:rPr>
              <a:t>their goal. I believe that the purpose of life is just not to be happy. it is to be useful, honorable, </a:t>
            </a:r>
          </a:p>
        </p:txBody>
      </p:sp>
      <p:sp>
        <p:nvSpPr>
          <p:cNvPr id="33" name="TextBox 33"/>
          <p:cNvSpPr txBox="1"/>
          <p:nvPr/>
        </p:nvSpPr>
        <p:spPr>
          <a:xfrm>
            <a:off x="8072123" y="5429555"/>
            <a:ext cx="6760921" cy="213360"/>
          </a:xfrm>
          <a:prstGeom prst="rect">
            <a:avLst/>
          </a:prstGeom>
        </p:spPr>
        <p:txBody>
          <a:bodyPr lIns="0" tIns="0" rIns="0" bIns="0" rtlCol="0" anchor="t">
            <a:spAutoFit/>
          </a:bodyPr>
          <a:lstStyle/>
          <a:p>
            <a:pPr algn="l">
              <a:lnSpc>
                <a:spcPts val="1679"/>
              </a:lnSpc>
            </a:pPr>
            <a:r>
              <a:rPr lang="en-US" sz="1200" spc="6">
                <a:solidFill>
                  <a:srgbClr val="000000"/>
                </a:solidFill>
                <a:latin typeface="Calibri (MS)"/>
                <a:ea typeface="Calibri (MS)"/>
                <a:cs typeface="Calibri (MS)"/>
                <a:sym typeface="Calibri (MS)"/>
              </a:rPr>
              <a:t>I believe that the best way to stay mo4vated, is by visualizing one’s achievement &amp; working hard to reach </a:t>
            </a:r>
          </a:p>
        </p:txBody>
      </p:sp>
      <p:sp>
        <p:nvSpPr>
          <p:cNvPr id="34" name="TextBox 34"/>
          <p:cNvSpPr txBox="1"/>
          <p:nvPr/>
        </p:nvSpPr>
        <p:spPr>
          <a:xfrm>
            <a:off x="8072123" y="3726361"/>
            <a:ext cx="6761493" cy="213360"/>
          </a:xfrm>
          <a:prstGeom prst="rect">
            <a:avLst/>
          </a:prstGeom>
        </p:spPr>
        <p:txBody>
          <a:bodyPr lIns="0" tIns="0" rIns="0" bIns="0" rtlCol="0" anchor="t">
            <a:spAutoFit/>
          </a:bodyPr>
          <a:lstStyle/>
          <a:p>
            <a:pPr algn="l">
              <a:lnSpc>
                <a:spcPts val="1679"/>
              </a:lnSpc>
            </a:pPr>
            <a:r>
              <a:rPr lang="en-US" sz="1200">
                <a:solidFill>
                  <a:srgbClr val="231F20"/>
                </a:solidFill>
                <a:latin typeface="Calibri (MS)"/>
                <a:ea typeface="Calibri (MS)"/>
                <a:cs typeface="Calibri (MS)"/>
                <a:sym typeface="Calibri (MS)"/>
              </a:rPr>
              <a:t>melting itself by providing light to shine. Teaching and demonstration sessions have never failed to amaze </a:t>
            </a:r>
          </a:p>
        </p:txBody>
      </p:sp>
      <p:sp>
        <p:nvSpPr>
          <p:cNvPr id="35" name="TextBox 35"/>
          <p:cNvSpPr txBox="1"/>
          <p:nvPr/>
        </p:nvSpPr>
        <p:spPr>
          <a:xfrm>
            <a:off x="8072123" y="4152157"/>
            <a:ext cx="6762140" cy="213360"/>
          </a:xfrm>
          <a:prstGeom prst="rect">
            <a:avLst/>
          </a:prstGeom>
        </p:spPr>
        <p:txBody>
          <a:bodyPr lIns="0" tIns="0" rIns="0" bIns="0" rtlCol="0" anchor="t">
            <a:spAutoFit/>
          </a:bodyPr>
          <a:lstStyle/>
          <a:p>
            <a:pPr algn="l">
              <a:lnSpc>
                <a:spcPts val="1679"/>
              </a:lnSpc>
            </a:pPr>
            <a:r>
              <a:rPr lang="en-US" sz="1200" spc="6">
                <a:solidFill>
                  <a:srgbClr val="231F20"/>
                </a:solidFill>
                <a:latin typeface="Calibri (MS)"/>
                <a:ea typeface="Calibri (MS)"/>
                <a:cs typeface="Calibri (MS)"/>
                <a:sym typeface="Calibri (MS)"/>
              </a:rPr>
              <a:t>me during my undergraduate program, which encouraged me to work towards becoming an academician </a:t>
            </a:r>
          </a:p>
        </p:txBody>
      </p:sp>
      <p:sp>
        <p:nvSpPr>
          <p:cNvPr id="36" name="TextBox 36"/>
          <p:cNvSpPr txBox="1"/>
          <p:nvPr/>
        </p:nvSpPr>
        <p:spPr>
          <a:xfrm>
            <a:off x="10024424" y="1892637"/>
            <a:ext cx="2276866" cy="427358"/>
          </a:xfrm>
          <a:prstGeom prst="rect">
            <a:avLst/>
          </a:prstGeom>
        </p:spPr>
        <p:txBody>
          <a:bodyPr lIns="0" tIns="0" rIns="0" bIns="0" rtlCol="0" anchor="t">
            <a:spAutoFit/>
          </a:bodyPr>
          <a:lstStyle/>
          <a:p>
            <a:pPr algn="l">
              <a:lnSpc>
                <a:spcPts val="3640"/>
              </a:lnSpc>
            </a:pPr>
            <a:r>
              <a:rPr lang="en-US" sz="2600" b="1" spc="-5">
                <a:solidFill>
                  <a:srgbClr val="25408F"/>
                </a:solidFill>
                <a:latin typeface="IBM Plex Sans Bold"/>
                <a:ea typeface="IBM Plex Sans Bold"/>
                <a:cs typeface="IBM Plex Sans Bold"/>
                <a:sym typeface="IBM Plex Sans Bold"/>
              </a:rPr>
              <a:t>Achievements</a:t>
            </a:r>
          </a:p>
        </p:txBody>
      </p:sp>
      <p:sp>
        <p:nvSpPr>
          <p:cNvPr id="37" name="TextBox 37"/>
          <p:cNvSpPr txBox="1"/>
          <p:nvPr/>
        </p:nvSpPr>
        <p:spPr>
          <a:xfrm>
            <a:off x="7843523" y="2882008"/>
            <a:ext cx="71504" cy="194310"/>
          </a:xfrm>
          <a:prstGeom prst="rect">
            <a:avLst/>
          </a:prstGeom>
        </p:spPr>
        <p:txBody>
          <a:bodyPr lIns="0" tIns="0" rIns="0" bIns="0" rtlCol="0" anchor="t">
            <a:spAutoFit/>
          </a:bodyPr>
          <a:lstStyle/>
          <a:p>
            <a:pPr algn="l">
              <a:lnSpc>
                <a:spcPts val="1679"/>
              </a:lnSpc>
            </a:pPr>
            <a:r>
              <a:rPr lang="en-US" sz="1200" spc="76">
                <a:solidFill>
                  <a:srgbClr val="000000"/>
                </a:solidFill>
                <a:latin typeface="IBM Plex Sans"/>
                <a:ea typeface="IBM Plex Sans"/>
                <a:cs typeface="IBM Plex Sans"/>
                <a:sym typeface="IBM Plex Sans"/>
              </a:rPr>
              <a:t>•</a:t>
            </a:r>
          </a:p>
        </p:txBody>
      </p:sp>
      <p:sp>
        <p:nvSpPr>
          <p:cNvPr id="38" name="TextBox 38"/>
          <p:cNvSpPr txBox="1"/>
          <p:nvPr/>
        </p:nvSpPr>
        <p:spPr>
          <a:xfrm>
            <a:off x="7843523" y="5436794"/>
            <a:ext cx="71504" cy="194310"/>
          </a:xfrm>
          <a:prstGeom prst="rect">
            <a:avLst/>
          </a:prstGeom>
        </p:spPr>
        <p:txBody>
          <a:bodyPr lIns="0" tIns="0" rIns="0" bIns="0" rtlCol="0" anchor="t">
            <a:spAutoFit/>
          </a:bodyPr>
          <a:lstStyle/>
          <a:p>
            <a:pPr algn="l">
              <a:lnSpc>
                <a:spcPts val="1679"/>
              </a:lnSpc>
            </a:pPr>
            <a:r>
              <a:rPr lang="en-US" sz="1200" spc="76">
                <a:solidFill>
                  <a:srgbClr val="000000"/>
                </a:solidFill>
                <a:latin typeface="IBM Plex Sans"/>
                <a:ea typeface="IBM Plex Sans"/>
                <a:cs typeface="IBM Plex Sans"/>
                <a:sym typeface="IBM Plex Sans"/>
              </a:rPr>
              <a:t>•</a:t>
            </a:r>
          </a:p>
        </p:txBody>
      </p:sp>
      <p:pic>
        <p:nvPicPr>
          <p:cNvPr id="40" name="Picture 39" descr="photo_2025-01-07_19-49-21.jpg"/>
          <p:cNvPicPr>
            <a:picLocks noChangeAspect="1"/>
          </p:cNvPicPr>
          <p:nvPr/>
        </p:nvPicPr>
        <p:blipFill>
          <a:blip r:embed="rId2" cstate="print"/>
          <a:stretch>
            <a:fillRect/>
          </a:stretch>
        </p:blipFill>
        <p:spPr>
          <a:xfrm>
            <a:off x="841328" y="2846370"/>
            <a:ext cx="2857520" cy="235745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sp>
        <p:nvSpPr>
          <p:cNvPr id="4" name="TextBox 4"/>
          <p:cNvSpPr txBox="1"/>
          <p:nvPr/>
        </p:nvSpPr>
        <p:spPr>
          <a:xfrm>
            <a:off x="914400" y="1646701"/>
            <a:ext cx="259290" cy="1270635"/>
          </a:xfrm>
          <a:prstGeom prst="rect">
            <a:avLst/>
          </a:prstGeom>
        </p:spPr>
        <p:txBody>
          <a:bodyPr lIns="0" tIns="0" rIns="0" bIns="0" rtlCol="0" anchor="t">
            <a:spAutoFit/>
          </a:bodyPr>
          <a:lstStyle/>
          <a:p>
            <a:pPr algn="l">
              <a:lnSpc>
                <a:spcPts val="10893"/>
              </a:lnSpc>
            </a:pPr>
            <a:r>
              <a:rPr lang="en-US" sz="7200" spc="-14">
                <a:solidFill>
                  <a:srgbClr val="000000"/>
                </a:solidFill>
                <a:latin typeface="IBM Plex Sans"/>
                <a:ea typeface="IBM Plex Sans"/>
                <a:cs typeface="IBM Plex Sans"/>
                <a:sym typeface="IBM Plex Sans"/>
              </a:rPr>
              <a:t> </a:t>
            </a:r>
          </a:p>
        </p:txBody>
      </p:sp>
      <p:sp>
        <p:nvSpPr>
          <p:cNvPr id="5" name="TextBox 5"/>
          <p:cNvSpPr txBox="1"/>
          <p:nvPr/>
        </p:nvSpPr>
        <p:spPr>
          <a:xfrm>
            <a:off x="4980520" y="3818028"/>
            <a:ext cx="5158959" cy="1282723"/>
          </a:xfrm>
          <a:prstGeom prst="rect">
            <a:avLst/>
          </a:prstGeom>
        </p:spPr>
        <p:txBody>
          <a:bodyPr lIns="0" tIns="0" rIns="0" bIns="0" rtlCol="0" anchor="t">
            <a:spAutoFit/>
          </a:bodyPr>
          <a:lstStyle/>
          <a:p>
            <a:pPr algn="l">
              <a:lnSpc>
                <a:spcPts val="10893"/>
              </a:lnSpc>
            </a:pPr>
            <a:r>
              <a:rPr lang="en-US" sz="7200" spc="-14" dirty="0">
                <a:solidFill>
                  <a:srgbClr val="000000"/>
                </a:solidFill>
                <a:latin typeface="IBM Plex Sans"/>
                <a:ea typeface="IBM Plex Sans"/>
                <a:cs typeface="IBM Plex Sans"/>
                <a:sym typeface="IBM Plex Sans"/>
              </a:rPr>
              <a:t>Phase </a:t>
            </a:r>
            <a:r>
              <a:rPr lang="en-US" sz="7200" spc="-14" dirty="0" smtClean="0">
                <a:solidFill>
                  <a:srgbClr val="000000"/>
                </a:solidFill>
                <a:latin typeface="IBM Plex Sans"/>
                <a:ea typeface="IBM Plex Sans"/>
                <a:cs typeface="IBM Plex Sans"/>
                <a:sym typeface="IBM Plex Sans"/>
              </a:rPr>
              <a:t>3B </a:t>
            </a:r>
            <a:endParaRPr lang="en-US" sz="7200" spc="-14" dirty="0">
              <a:solidFill>
                <a:srgbClr val="000000"/>
              </a:solidFill>
              <a:latin typeface="IBM Plex Sans"/>
              <a:ea typeface="IBM Plex Sans"/>
              <a:cs typeface="IBM Plex Sans"/>
              <a:sym typeface="IBM Plex Sans"/>
            </a:endParaRPr>
          </a:p>
        </p:txBody>
      </p:sp>
      <p:sp>
        <p:nvSpPr>
          <p:cNvPr id="6" name="TextBox 6"/>
          <p:cNvSpPr txBox="1"/>
          <p:nvPr/>
        </p:nvSpPr>
        <p:spPr>
          <a:xfrm>
            <a:off x="381000" y="9550946"/>
            <a:ext cx="204340" cy="208283"/>
          </a:xfrm>
          <a:prstGeom prst="rect">
            <a:avLst/>
          </a:prstGeom>
        </p:spPr>
        <p:txBody>
          <a:bodyPr lIns="0" tIns="0" rIns="0" bIns="0" rtlCol="0" anchor="t">
            <a:spAutoFit/>
          </a:bodyPr>
          <a:lstStyle/>
          <a:p>
            <a:pPr algn="l">
              <a:lnSpc>
                <a:spcPts val="1539"/>
              </a:lnSpc>
            </a:pPr>
            <a:r>
              <a:rPr lang="en-US" sz="1100" b="1">
                <a:solidFill>
                  <a:srgbClr val="808080"/>
                </a:solidFill>
                <a:latin typeface="Calibri (MS) Bold"/>
                <a:ea typeface="Calibri (MS) Bold"/>
                <a:cs typeface="Calibri (MS) Bold"/>
                <a:sym typeface="Calibri (MS) Bold"/>
              </a:rPr>
              <a:t>1 | </a:t>
            </a:r>
          </a:p>
        </p:txBody>
      </p:sp>
      <p:sp>
        <p:nvSpPr>
          <p:cNvPr id="7" name="TextBox 7"/>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8" name="TextBox 8"/>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484138" y="1489048"/>
            <a:ext cx="14251939" cy="8328140"/>
            <a:chOff x="63500" y="63500"/>
            <a:chExt cx="14251939" cy="832814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118302"/>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5"/>
              <a:ext cx="7475347" cy="1980256"/>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38951" y="6503691"/>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860617"/>
              <a:ext cx="7475347" cy="1285884"/>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6" name="Freeform 16"/>
            <p:cNvSpPr/>
            <p:nvPr/>
          </p:nvSpPr>
          <p:spPr>
            <a:xfrm>
              <a:off x="6838951" y="6575129"/>
              <a:ext cx="7456805" cy="1816511"/>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6217939"/>
              <a:ext cx="7466330" cy="1714512"/>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2" name="TextBox 22"/>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3</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3" name="TextBox 23"/>
          <p:cNvSpPr txBox="1"/>
          <p:nvPr/>
        </p:nvSpPr>
        <p:spPr>
          <a:xfrm>
            <a:off x="912766" y="417478"/>
            <a:ext cx="2286000"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BALARAM.S</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2344400" y="400507"/>
            <a:ext cx="1195149"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 </a:t>
            </a:r>
            <a:endParaRPr lang="en-US" sz="1100" b="1" dirty="0">
              <a:solidFill>
                <a:srgbClr val="000000"/>
              </a:solidFill>
              <a:latin typeface="Calibri (MS) Bold"/>
              <a:ea typeface="Calibri (MS) Bold"/>
              <a:cs typeface="Calibri (MS) Bold"/>
              <a:sym typeface="Calibri (MS) Bold"/>
            </a:endParaRPr>
          </a:p>
        </p:txBody>
      </p:sp>
      <p:sp>
        <p:nvSpPr>
          <p:cNvPr id="26" name="TextBox 26"/>
          <p:cNvSpPr txBox="1"/>
          <p:nvPr/>
        </p:nvSpPr>
        <p:spPr>
          <a:xfrm>
            <a:off x="677320" y="953995"/>
            <a:ext cx="2893648" cy="256480"/>
          </a:xfrm>
          <a:prstGeom prst="rect">
            <a:avLst/>
          </a:prstGeom>
        </p:spPr>
        <p:txBody>
          <a:bodyPr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1</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PID: 240904241778</a:t>
            </a:r>
            <a:endParaRPr lang="en-US" sz="1399" b="1" dirty="0">
              <a:solidFill>
                <a:srgbClr val="000000"/>
              </a:solidFill>
              <a:latin typeface="Cambria Bold"/>
              <a:ea typeface="Cambria Bold"/>
              <a:cs typeface="Cambria Bold"/>
              <a:sym typeface="Cambria Bold"/>
            </a:endParaRP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2555840" y="274602"/>
            <a:ext cx="10144196" cy="371897"/>
          </a:xfrm>
          <a:prstGeom prst="rect">
            <a:avLst/>
          </a:prstGeom>
        </p:spPr>
        <p:txBody>
          <a:bodyPr wrap="square" lIns="0" tIns="0" rIns="0" bIns="0" rtlCol="0" anchor="t">
            <a:spAutoFit/>
          </a:bodyPr>
          <a:lstStyle/>
          <a:p>
            <a:pPr algn="ctr">
              <a:lnSpc>
                <a:spcPts val="2921"/>
              </a:lnSpc>
            </a:pPr>
            <a:r>
              <a:rPr lang="en-US" sz="2199" b="1" i="1" dirty="0">
                <a:solidFill>
                  <a:srgbClr val="000000"/>
                </a:solidFill>
                <a:latin typeface="Cambria Bold Italics"/>
                <a:ea typeface="Cambria Bold Italics"/>
                <a:cs typeface="Cambria Bold Italics"/>
                <a:sym typeface="Cambria Bold Italics"/>
              </a:rPr>
              <a:t>A case </a:t>
            </a:r>
            <a:r>
              <a:rPr lang="en-US" sz="2199" b="1" i="1" dirty="0" smtClean="0">
                <a:solidFill>
                  <a:srgbClr val="000000"/>
                </a:solidFill>
                <a:latin typeface="Cambria Bold Italics"/>
                <a:ea typeface="Cambria Bold Italics"/>
                <a:cs typeface="Cambria Bold Italics"/>
                <a:sym typeface="Cambria Bold Italics"/>
              </a:rPr>
              <a:t>of </a:t>
            </a:r>
            <a:r>
              <a:rPr lang="it-IT" sz="2400" b="1" dirty="0" smtClean="0">
                <a:latin typeface="Cambria Bold Italics" charset="0"/>
              </a:rPr>
              <a:t>dequervains tenosynovitis </a:t>
            </a:r>
            <a:endParaRPr lang="en-US" sz="2199" b="1" i="1" dirty="0">
              <a:solidFill>
                <a:srgbClr val="000000"/>
              </a:solidFill>
              <a:latin typeface="Cambria Bold" charset="0"/>
              <a:ea typeface="Cambria Bold Italics"/>
              <a:cs typeface="Cambria Bold Italics"/>
              <a:sym typeface="Cambria Bold Italics"/>
            </a:endParaRPr>
          </a:p>
        </p:txBody>
      </p:sp>
      <p:sp>
        <p:nvSpPr>
          <p:cNvPr id="31" name="TextBox 31"/>
          <p:cNvSpPr txBox="1"/>
          <p:nvPr/>
        </p:nvSpPr>
        <p:spPr>
          <a:xfrm>
            <a:off x="3200400" y="811120"/>
            <a:ext cx="11163835" cy="448841"/>
          </a:xfrm>
          <a:prstGeom prst="rect">
            <a:avLst/>
          </a:prstGeom>
        </p:spPr>
        <p:txBody>
          <a:bodyPr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a:t>
            </a:r>
            <a:r>
              <a:rPr lang="en-US" sz="1399" b="1" dirty="0" smtClean="0">
                <a:solidFill>
                  <a:srgbClr val="000000"/>
                </a:solidFill>
                <a:latin typeface="Cambria Bold"/>
                <a:ea typeface="Cambria Bold"/>
                <a:cs typeface="Cambria Bold"/>
                <a:sym typeface="Cambria Bold"/>
              </a:rPr>
              <a:t>: </a:t>
            </a:r>
            <a:r>
              <a:rPr lang="en-US" sz="1600" b="1" dirty="0">
                <a:solidFill>
                  <a:srgbClr val="000000"/>
                </a:solidFill>
                <a:latin typeface="Cambria Bold"/>
                <a:ea typeface="Cambria Bold"/>
                <a:cs typeface="Cambria Bold"/>
                <a:sym typeface="Cambria Bold"/>
              </a:rPr>
              <a:t> </a:t>
            </a:r>
            <a:r>
              <a:rPr lang="en-US" sz="1600" b="1" dirty="0" err="1" smtClean="0">
                <a:solidFill>
                  <a:srgbClr val="000000"/>
                </a:solidFill>
                <a:latin typeface="Cambria Bold"/>
                <a:ea typeface="Cambria Bold"/>
                <a:cs typeface="Cambria Bold"/>
                <a:sym typeface="Cambria Bold"/>
              </a:rPr>
              <a:t>Velusamy</a:t>
            </a:r>
            <a:r>
              <a:rPr lang="en-US" sz="1600" b="1" dirty="0" smtClean="0">
                <a:solidFill>
                  <a:srgbClr val="000000"/>
                </a:solidFill>
                <a:latin typeface="Cambria Bold"/>
                <a:ea typeface="Cambria Bold"/>
                <a:cs typeface="Cambria Bold"/>
                <a:sym typeface="Cambria Bold"/>
              </a:rPr>
              <a:t> N</a:t>
            </a:r>
            <a:r>
              <a:rPr lang="en-US" sz="1399" b="1" dirty="0">
                <a:solidFill>
                  <a:srgbClr val="000000"/>
                </a:solidFill>
                <a:latin typeface="Cambria Bold"/>
                <a:ea typeface="Cambria Bold"/>
                <a:cs typeface="Cambria Bold"/>
                <a:sym typeface="Cambria Bold"/>
              </a:rPr>
              <a:t>                                                                             Age</a:t>
            </a:r>
            <a:r>
              <a:rPr lang="en-US" sz="1399" b="1" dirty="0" smtClean="0">
                <a:solidFill>
                  <a:srgbClr val="000000"/>
                </a:solidFill>
                <a:latin typeface="Cambria Bold"/>
                <a:ea typeface="Cambria Bold"/>
                <a:cs typeface="Cambria Bold"/>
                <a:sym typeface="Cambria Bold"/>
              </a:rPr>
              <a:t>: 75  </a:t>
            </a:r>
            <a:r>
              <a:rPr lang="en-US" sz="1399" b="1" dirty="0">
                <a:solidFill>
                  <a:srgbClr val="000000"/>
                </a:solidFill>
                <a:latin typeface="Cambria Bold"/>
                <a:ea typeface="Cambria Bold"/>
                <a:cs typeface="Cambria Bold"/>
                <a:sym typeface="Cambria Bold"/>
              </a:rPr>
              <a:t>                      Gender: </a:t>
            </a:r>
            <a:r>
              <a:rPr lang="en-US" sz="1399" b="1" dirty="0" smtClean="0">
                <a:solidFill>
                  <a:srgbClr val="000000"/>
                </a:solidFill>
                <a:latin typeface="Cambria Bold"/>
                <a:ea typeface="Cambria Bold"/>
                <a:cs typeface="Cambria Bold"/>
                <a:sym typeface="Cambria Bold"/>
              </a:rPr>
              <a:t>Male</a:t>
            </a:r>
            <a:endParaRPr lang="en-US" sz="1399" b="1" dirty="0">
              <a:solidFill>
                <a:srgbClr val="000000"/>
              </a:solidFill>
              <a:latin typeface="Cambria Bold"/>
              <a:ea typeface="Cambria Bold"/>
              <a:cs typeface="Cambria Bold"/>
              <a:sym typeface="Cambria Bold"/>
            </a:endParaRP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270748" y="4132254"/>
            <a:ext cx="7334837" cy="2641749"/>
          </a:xfrm>
          <a:prstGeom prst="rect">
            <a:avLst/>
          </a:prstGeom>
        </p:spPr>
        <p:txBody>
          <a:bodyPr lIns="0" tIns="0" rIns="0" bIns="0" rtlCol="0" anchor="t">
            <a:spAutoFit/>
          </a:bodyPr>
          <a:lstStyle/>
          <a:p>
            <a:pPr algn="l">
              <a:lnSpc>
                <a:spcPts val="1679"/>
              </a:lnSpc>
            </a:pPr>
            <a:r>
              <a:rPr lang="en-US" sz="1000" b="1" u="sng" dirty="0" smtClean="0">
                <a:solidFill>
                  <a:srgbClr val="000000"/>
                </a:solidFill>
                <a:latin typeface="Cambria Bold"/>
                <a:ea typeface="Cambria Bold"/>
                <a:cs typeface="Cambria Bold"/>
                <a:sym typeface="Cambria Bold"/>
              </a:rPr>
              <a:t>Workup:</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Bp- 114/80 </a:t>
            </a:r>
            <a:r>
              <a:rPr lang="en-IN" sz="1000" b="1" dirty="0" err="1" smtClean="0">
                <a:solidFill>
                  <a:srgbClr val="000000"/>
                </a:solidFill>
                <a:latin typeface="Cambria Bold"/>
                <a:ea typeface="Cambria Bold"/>
                <a:cs typeface="Cambria Bold"/>
                <a:sym typeface="Cambria Bold"/>
              </a:rPr>
              <a:t>mmhg</a:t>
            </a:r>
            <a:r>
              <a:rPr lang="en-US" sz="1000" b="1" dirty="0" smtClean="0">
                <a:solidFill>
                  <a:srgbClr val="000000"/>
                </a:solidFill>
                <a:latin typeface="Cambria Bold"/>
                <a:ea typeface="Cambria Bold"/>
                <a:cs typeface="Cambria Bold"/>
                <a:sym typeface="Cambria Bold"/>
              </a:rPr>
              <a:t>, RR- 16/min, Spo2-98%,pulse-82bpm</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General examination-  Normal</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Patient was conscious, oriented to time, place and person</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Orthopaedic examination:</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Site: bilateral </a:t>
            </a:r>
            <a:r>
              <a:rPr lang="en-US" sz="1000" b="1" dirty="0" smtClean="0"/>
              <a:t>thumb finger  bilateral</a:t>
            </a:r>
          </a:p>
          <a:p>
            <a:r>
              <a:rPr lang="en-US" sz="1000" b="1" dirty="0" smtClean="0"/>
              <a:t>Palpation: </a:t>
            </a:r>
            <a:r>
              <a:rPr lang="en-US" sz="1000" b="1" dirty="0" err="1" smtClean="0"/>
              <a:t>Tendernes</a:t>
            </a:r>
            <a:r>
              <a:rPr lang="en-US" sz="1000" b="1" dirty="0" smtClean="0"/>
              <a:t> present at right MCP joint of first dorsal compartment</a:t>
            </a:r>
            <a:endParaRPr lang="en-US" sz="1000" dirty="0" smtClean="0"/>
          </a:p>
          <a:p>
            <a:r>
              <a:rPr lang="en-US" sz="1000" b="1" dirty="0" smtClean="0"/>
              <a:t>Range of motion -: Thumb flexion - 80° Thumb extension - 10° Thumb abduction - 50°</a:t>
            </a:r>
            <a:endParaRPr lang="en-US" sz="1000" dirty="0" smtClean="0"/>
          </a:p>
          <a:p>
            <a:r>
              <a:rPr lang="en-US" sz="1000" b="1" dirty="0" smtClean="0"/>
              <a:t>Muscle power: Thumb abductor- 3/5 Thumb adductor -3/5 Thumb MCP flexor-3/5 Thumb IP-3/5 Wrist flexor- 4/5 Wrist extensors 4/5</a:t>
            </a:r>
            <a:endParaRPr lang="en-US" sz="1000" dirty="0" smtClean="0"/>
          </a:p>
          <a:p>
            <a:pPr>
              <a:lnSpc>
                <a:spcPts val="1679"/>
              </a:lnSpc>
              <a:buFont typeface="Arial" pitchFamily="34" charset="0"/>
              <a:buChar char="•"/>
            </a:pPr>
            <a:r>
              <a:rPr lang="en-US" sz="1000" b="1" dirty="0" smtClean="0"/>
              <a:t>Finkelstein test +</a:t>
            </a:r>
            <a:r>
              <a:rPr lang="en-US" sz="1000" b="1" dirty="0" err="1" smtClean="0"/>
              <a:t>ve</a:t>
            </a:r>
            <a:endParaRPr lang="en-IN" sz="1000" b="1" dirty="0" smtClean="0">
              <a:solidFill>
                <a:srgbClr val="000000"/>
              </a:solidFill>
              <a:latin typeface="Cambria Bold"/>
              <a:ea typeface="Cambria Bold"/>
              <a:cs typeface="Cambria Bold"/>
              <a:sym typeface="Cambria Bold"/>
            </a:endParaRPr>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a:p>
            <a:pPr algn="l">
              <a:lnSpc>
                <a:spcPts val="1679"/>
              </a:lnSpc>
            </a:pPr>
            <a:r>
              <a:rPr lang="en-US" sz="1000" dirty="0" smtClean="0">
                <a:solidFill>
                  <a:srgbClr val="000000"/>
                </a:solidFill>
                <a:latin typeface="Cambria"/>
                <a:ea typeface="Cambria"/>
                <a:cs typeface="Cambria"/>
                <a:sym typeface="Cambria"/>
              </a:rPr>
              <a:t> </a:t>
            </a:r>
          </a:p>
          <a:p>
            <a:pPr algn="l">
              <a:lnSpc>
                <a:spcPts val="1679"/>
              </a:lnSpc>
            </a:pPr>
            <a:r>
              <a:rPr lang="en-IN" sz="1000" dirty="0" smtClean="0">
                <a:solidFill>
                  <a:srgbClr val="000000"/>
                </a:solidFill>
                <a:latin typeface="Cambria"/>
                <a:ea typeface="Cambria"/>
                <a:cs typeface="Cambria"/>
                <a:sym typeface="Cambria"/>
              </a:rPr>
              <a:t> </a:t>
            </a:r>
            <a:endParaRPr lang="en-US" sz="1000" dirty="0">
              <a:solidFill>
                <a:srgbClr val="000000"/>
              </a:solidFill>
              <a:latin typeface="Cambria"/>
              <a:ea typeface="Cambria"/>
              <a:cs typeface="Cambria"/>
              <a:sym typeface="Cambria"/>
            </a:endParaRPr>
          </a:p>
        </p:txBody>
      </p:sp>
      <p:sp>
        <p:nvSpPr>
          <p:cNvPr id="48" name="TextBox 48"/>
          <p:cNvSpPr txBox="1"/>
          <p:nvPr/>
        </p:nvSpPr>
        <p:spPr>
          <a:xfrm>
            <a:off x="7270748" y="1631924"/>
            <a:ext cx="1563557"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70748" y="7632716"/>
            <a:ext cx="7217960" cy="198516"/>
          </a:xfrm>
          <a:prstGeom prst="rect">
            <a:avLst/>
          </a:prstGeom>
        </p:spPr>
        <p:txBody>
          <a:bodyPr lIns="0" tIns="0" rIns="0" bIns="0" rtlCol="0" anchor="t">
            <a:spAutoFit/>
          </a:bodyPr>
          <a:lstStyle/>
          <a:p>
            <a:pPr>
              <a:lnSpc>
                <a:spcPts val="1679"/>
              </a:lnSpc>
            </a:pPr>
            <a:r>
              <a:rPr lang="en-US" sz="1200" b="1" u="sng" dirty="0">
                <a:solidFill>
                  <a:srgbClr val="000000"/>
                </a:solidFill>
                <a:latin typeface="Cambria Bold"/>
                <a:ea typeface="Cambria Bold"/>
                <a:cs typeface="Cambria Bold"/>
                <a:sym typeface="Cambria Bold"/>
              </a:rPr>
              <a:t>Management / Procedure done:</a:t>
            </a:r>
            <a:r>
              <a:rPr lang="en-US" sz="1200" u="sng" dirty="0">
                <a:solidFill>
                  <a:srgbClr val="000000"/>
                </a:solidFill>
                <a:latin typeface="Cambria"/>
                <a:ea typeface="Cambria"/>
                <a:cs typeface="Cambria"/>
                <a:sym typeface="Cambria"/>
              </a:rPr>
              <a:t> </a:t>
            </a:r>
            <a:endParaRPr lang="en-US" sz="1200" u="sng" dirty="0" smtClean="0">
              <a:solidFill>
                <a:srgbClr val="000000"/>
              </a:solidFill>
              <a:latin typeface="Cambria"/>
              <a:ea typeface="Cambria"/>
              <a:cs typeface="Cambria"/>
              <a:sym typeface="Cambria"/>
            </a:endParaRPr>
          </a:p>
        </p:txBody>
      </p:sp>
      <p:sp>
        <p:nvSpPr>
          <p:cNvPr id="50" name="TextBox 50"/>
          <p:cNvSpPr txBox="1"/>
          <p:nvPr/>
        </p:nvSpPr>
        <p:spPr>
          <a:xfrm>
            <a:off x="7270748" y="6275394"/>
            <a:ext cx="2948172" cy="198516"/>
          </a:xfrm>
          <a:prstGeom prst="rect">
            <a:avLst/>
          </a:prstGeom>
        </p:spPr>
        <p:txBody>
          <a:bodyPr lIns="0" tIns="0" rIns="0" bIns="0" rtlCol="0" anchor="t">
            <a:spAutoFit/>
          </a:bodyPr>
          <a:lstStyle/>
          <a:p>
            <a:pPr algn="l">
              <a:lnSpc>
                <a:spcPts val="1679"/>
              </a:lnSpc>
            </a:pPr>
            <a:r>
              <a:rPr lang="en-US" sz="1200" b="1" u="sng" dirty="0" smtClean="0">
                <a:solidFill>
                  <a:srgbClr val="000000"/>
                </a:solidFill>
                <a:latin typeface="Cambria Bold"/>
                <a:ea typeface="Cambria Bold"/>
                <a:cs typeface="Cambria Bold"/>
                <a:sym typeface="Cambria Bold"/>
              </a:rPr>
              <a:t>Differential diagnosis / Clinical insights :</a:t>
            </a:r>
            <a:r>
              <a:rPr lang="en-US" sz="1200" u="sng" dirty="0" smtClean="0">
                <a:solidFill>
                  <a:srgbClr val="000000"/>
                </a:solidFill>
                <a:latin typeface="Cambria"/>
                <a:ea typeface="Cambria"/>
                <a:cs typeface="Cambria"/>
                <a:sym typeface="Cambria"/>
              </a:rPr>
              <a:t> </a:t>
            </a:r>
            <a:endParaRPr lang="en-US" sz="1200" u="sng" dirty="0">
              <a:solidFill>
                <a:srgbClr val="000000"/>
              </a:solidFill>
              <a:latin typeface="Cambria"/>
              <a:ea typeface="Cambria"/>
              <a:cs typeface="Cambria"/>
              <a:sym typeface="Cambria"/>
            </a:endParaRPr>
          </a:p>
        </p:txBody>
      </p:sp>
      <p:sp>
        <p:nvSpPr>
          <p:cNvPr id="51" name="TextBox 50"/>
          <p:cNvSpPr txBox="1"/>
          <p:nvPr/>
        </p:nvSpPr>
        <p:spPr>
          <a:xfrm>
            <a:off x="7199310" y="1846238"/>
            <a:ext cx="5143536" cy="3323987"/>
          </a:xfrm>
          <a:prstGeom prst="rect">
            <a:avLst/>
          </a:prstGeom>
          <a:noFill/>
        </p:spPr>
        <p:txBody>
          <a:bodyPr wrap="square" rtlCol="0">
            <a:spAutoFit/>
          </a:bodyPr>
          <a:lstStyle/>
          <a:p>
            <a:r>
              <a:rPr lang="en-US" sz="1400" b="1" dirty="0" smtClean="0"/>
              <a:t>Chief complaints: </a:t>
            </a:r>
            <a:r>
              <a:rPr lang="en-US" sz="1400" dirty="0" smtClean="0"/>
              <a:t>Pain over the bilateral thumb finger for past 1 month</a:t>
            </a:r>
          </a:p>
          <a:p>
            <a:r>
              <a:rPr lang="en-US" sz="1400" b="1" dirty="0" smtClean="0"/>
              <a:t>H/O Presenting Illness: </a:t>
            </a:r>
            <a:r>
              <a:rPr lang="en-US" sz="1400" dirty="0" smtClean="0"/>
              <a:t>Patient was apparently normal before 1 month after which he developed pain over the thumb finger for past 1 month, sudden in onset, progressive in nature, aggravating on motorcycle riding and reliving on rest. H/o pain radiating to wrist, weakness of the right and left foot. No h/o </a:t>
            </a:r>
            <a:r>
              <a:rPr lang="en-US" sz="1400" dirty="0" err="1" smtClean="0"/>
              <a:t>crepitus</a:t>
            </a:r>
            <a:r>
              <a:rPr lang="en-US" sz="1400" dirty="0" smtClean="0"/>
              <a:t>, fever, no loss of joint movement.</a:t>
            </a:r>
          </a:p>
          <a:p>
            <a:r>
              <a:rPr lang="en-US" sz="1400" b="1" dirty="0" smtClean="0"/>
              <a:t>Past History: </a:t>
            </a:r>
            <a:r>
              <a:rPr lang="en-US" sz="1400" dirty="0" smtClean="0"/>
              <a:t>No h/o T2DM, TB, TB CONTACT, thyroid disorder, </a:t>
            </a:r>
            <a:r>
              <a:rPr lang="en-US" sz="1400" dirty="0" err="1" smtClean="0"/>
              <a:t>hypertenion</a:t>
            </a:r>
            <a:r>
              <a:rPr lang="en-US" sz="1400" dirty="0" smtClean="0"/>
              <a:t>, surgical procedures</a:t>
            </a:r>
          </a:p>
          <a:p>
            <a:endParaRPr lang="en-US" sz="1400" dirty="0" smtClean="0"/>
          </a:p>
          <a:p>
            <a:endParaRPr lang="en-US" sz="1400" dirty="0" smtClean="0"/>
          </a:p>
          <a:p>
            <a:endParaRPr lang="en-US" sz="1400" dirty="0" smtClean="0"/>
          </a:p>
          <a:p>
            <a:endParaRPr lang="en-US" sz="1400" dirty="0" smtClean="0"/>
          </a:p>
          <a:p>
            <a:endParaRPr lang="en-US" sz="1400" dirty="0"/>
          </a:p>
        </p:txBody>
      </p:sp>
      <p:sp>
        <p:nvSpPr>
          <p:cNvPr id="53" name="TextBox 50"/>
          <p:cNvSpPr txBox="1"/>
          <p:nvPr/>
        </p:nvSpPr>
        <p:spPr>
          <a:xfrm>
            <a:off x="7270748" y="6489708"/>
            <a:ext cx="3000396" cy="856966"/>
          </a:xfrm>
          <a:prstGeom prst="rect">
            <a:avLst/>
          </a:prstGeom>
        </p:spPr>
        <p:txBody>
          <a:bodyPr wrap="square" lIns="0" tIns="0" rIns="0" bIns="0" rtlCol="0" anchor="t">
            <a:spAutoFit/>
          </a:bodyPr>
          <a:lstStyle/>
          <a:p>
            <a:pPr>
              <a:lnSpc>
                <a:spcPts val="1679"/>
              </a:lnSpc>
              <a:buFont typeface="Arial" pitchFamily="34" charset="0"/>
              <a:buChar char="•"/>
            </a:pPr>
            <a:r>
              <a:rPr lang="en-US" sz="1200" dirty="0" smtClean="0"/>
              <a:t>Osteoarthritis of the first </a:t>
            </a:r>
            <a:r>
              <a:rPr lang="en-US" sz="1200" dirty="0" err="1" smtClean="0"/>
              <a:t>carpometacarpal</a:t>
            </a:r>
            <a:r>
              <a:rPr lang="en-US" sz="1200" dirty="0" smtClean="0"/>
              <a:t> joint</a:t>
            </a:r>
          </a:p>
          <a:p>
            <a:pPr>
              <a:lnSpc>
                <a:spcPts val="1679"/>
              </a:lnSpc>
              <a:buFont typeface="Arial" pitchFamily="34" charset="0"/>
              <a:buChar char="•"/>
            </a:pPr>
            <a:r>
              <a:rPr lang="en-US" sz="1200" dirty="0" smtClean="0"/>
              <a:t>Intersection syndrome</a:t>
            </a:r>
          </a:p>
          <a:p>
            <a:pPr>
              <a:lnSpc>
                <a:spcPts val="1679"/>
              </a:lnSpc>
              <a:buFont typeface="Arial" pitchFamily="34" charset="0"/>
              <a:buChar char="•"/>
            </a:pPr>
            <a:r>
              <a:rPr lang="en-US" sz="1200" dirty="0" err="1" smtClean="0"/>
              <a:t>Wartenberg's</a:t>
            </a:r>
            <a:r>
              <a:rPr lang="en-US" sz="1200" dirty="0" smtClean="0"/>
              <a:t> syndrome </a:t>
            </a:r>
          </a:p>
          <a:p>
            <a:pPr>
              <a:lnSpc>
                <a:spcPts val="1679"/>
              </a:lnSpc>
              <a:buFont typeface="Arial" pitchFamily="34" charset="0"/>
              <a:buChar char="•"/>
            </a:pPr>
            <a:r>
              <a:rPr lang="en-US" sz="1200" dirty="0" smtClean="0"/>
              <a:t>Trigger thumb</a:t>
            </a:r>
            <a:endParaRPr lang="en-US" sz="1200" dirty="0">
              <a:solidFill>
                <a:srgbClr val="000000"/>
              </a:solidFill>
              <a:latin typeface="Cambria"/>
              <a:ea typeface="Cambria"/>
              <a:cs typeface="Cambria"/>
              <a:sym typeface="Cambria"/>
            </a:endParaRPr>
          </a:p>
        </p:txBody>
      </p:sp>
      <p:sp>
        <p:nvSpPr>
          <p:cNvPr id="55" name="TextBox 49"/>
          <p:cNvSpPr txBox="1"/>
          <p:nvPr/>
        </p:nvSpPr>
        <p:spPr>
          <a:xfrm>
            <a:off x="7270748" y="7847030"/>
            <a:ext cx="7217960" cy="1090042"/>
          </a:xfrm>
          <a:prstGeom prst="rect">
            <a:avLst/>
          </a:prstGeom>
        </p:spPr>
        <p:txBody>
          <a:bodyPr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Patient was advised to take </a:t>
            </a:r>
            <a:r>
              <a:rPr lang="en-IN" sz="1200" dirty="0" err="1" smtClean="0">
                <a:solidFill>
                  <a:srgbClr val="000000"/>
                </a:solidFill>
                <a:latin typeface="Cambria"/>
                <a:ea typeface="Cambria"/>
                <a:cs typeface="Cambria"/>
                <a:sym typeface="Cambria"/>
              </a:rPr>
              <a:t>xray</a:t>
            </a:r>
            <a:r>
              <a:rPr lang="en-IN" sz="1200" dirty="0" smtClean="0">
                <a:solidFill>
                  <a:srgbClr val="000000"/>
                </a:solidFill>
                <a:latin typeface="Cambria"/>
                <a:ea typeface="Cambria"/>
                <a:cs typeface="Cambria"/>
                <a:sym typeface="Cambria"/>
              </a:rPr>
              <a:t> wrist and hand</a:t>
            </a:r>
          </a:p>
          <a:p>
            <a:pPr>
              <a:lnSpc>
                <a:spcPts val="1679"/>
              </a:lnSpc>
              <a:buFont typeface="Arial" pitchFamily="34" charset="0"/>
              <a:buChar char="•"/>
            </a:pPr>
            <a:r>
              <a:rPr lang="en-US" sz="1200" dirty="0" smtClean="0"/>
              <a:t>Tab. </a:t>
            </a:r>
            <a:r>
              <a:rPr lang="en-US" sz="1200" dirty="0" err="1" smtClean="0"/>
              <a:t>Zerodol</a:t>
            </a:r>
            <a:r>
              <a:rPr lang="en-US" sz="1200" dirty="0" smtClean="0"/>
              <a:t> TH max BD for 5 days</a:t>
            </a:r>
            <a:br>
              <a:rPr lang="en-US" sz="1200" dirty="0" smtClean="0"/>
            </a:br>
            <a:r>
              <a:rPr lang="en-US" sz="1200" dirty="0" smtClean="0"/>
              <a:t>Tab. Pan 40mg OD for 5 days</a:t>
            </a:r>
            <a:br>
              <a:rPr lang="en-US" sz="1200" dirty="0" smtClean="0"/>
            </a:br>
            <a:r>
              <a:rPr lang="en-US" sz="1200" dirty="0" smtClean="0"/>
              <a:t>Tab. </a:t>
            </a:r>
            <a:r>
              <a:rPr lang="en-US" sz="1200" dirty="0" err="1" smtClean="0"/>
              <a:t>Mymi</a:t>
            </a:r>
            <a:r>
              <a:rPr lang="en-US" sz="1200" dirty="0" smtClean="0"/>
              <a:t> d OD for 5 days</a:t>
            </a:r>
          </a:p>
          <a:p>
            <a:pPr>
              <a:lnSpc>
                <a:spcPts val="1679"/>
              </a:lnSpc>
              <a:buFont typeface="Arial" pitchFamily="34" charset="0"/>
              <a:buChar char="•"/>
            </a:pPr>
            <a:r>
              <a:rPr lang="en-IN" sz="1200" dirty="0" err="1" smtClean="0">
                <a:solidFill>
                  <a:srgbClr val="000000"/>
                </a:solidFill>
                <a:latin typeface="Cambria"/>
                <a:ea typeface="Cambria"/>
                <a:cs typeface="Cambria"/>
                <a:sym typeface="Cambria"/>
              </a:rPr>
              <a:t>Physiotheraphy</a:t>
            </a:r>
            <a:r>
              <a:rPr lang="en-IN" sz="1200" dirty="0" smtClean="0">
                <a:solidFill>
                  <a:srgbClr val="000000"/>
                </a:solidFill>
                <a:latin typeface="Cambria"/>
                <a:ea typeface="Cambria"/>
                <a:cs typeface="Cambria"/>
                <a:sym typeface="Cambria"/>
              </a:rPr>
              <a:t>: </a:t>
            </a:r>
            <a:r>
              <a:rPr lang="en-US" sz="1200" dirty="0" smtClean="0">
                <a:solidFill>
                  <a:srgbClr val="000000"/>
                </a:solidFill>
                <a:latin typeface="Cambria"/>
                <a:ea typeface="Cambria"/>
                <a:cs typeface="Cambria"/>
                <a:sym typeface="Cambria"/>
              </a:rPr>
              <a:t> UST was advised</a:t>
            </a:r>
            <a:endParaRPr lang="en-IN" sz="1200" dirty="0" smtClean="0">
              <a:solidFill>
                <a:srgbClr val="000000"/>
              </a:solidFill>
              <a:latin typeface="Cambria"/>
              <a:ea typeface="Cambria"/>
              <a:cs typeface="Cambria"/>
              <a:sym typeface="Cambria"/>
            </a:endParaRPr>
          </a:p>
        </p:txBody>
      </p:sp>
      <p:sp>
        <p:nvSpPr>
          <p:cNvPr id="54" name="TextBox 53"/>
          <p:cNvSpPr txBox="1"/>
          <p:nvPr/>
        </p:nvSpPr>
        <p:spPr>
          <a:xfrm>
            <a:off x="11199838" y="4346568"/>
            <a:ext cx="3357586" cy="246221"/>
          </a:xfrm>
          <a:prstGeom prst="rect">
            <a:avLst/>
          </a:prstGeom>
          <a:noFill/>
        </p:spPr>
        <p:txBody>
          <a:bodyPr wrap="square" rtlCol="0">
            <a:spAutoFit/>
          </a:bodyPr>
          <a:lstStyle/>
          <a:p>
            <a:r>
              <a:rPr lang="en-IN" sz="1000" dirty="0" smtClean="0"/>
              <a:t>=</a:t>
            </a:r>
            <a:endParaRPr lang="en-US" sz="1000" dirty="0"/>
          </a:p>
        </p:txBody>
      </p:sp>
      <p:pic>
        <p:nvPicPr>
          <p:cNvPr id="1026" name="Picture 2"/>
          <p:cNvPicPr>
            <a:picLocks noChangeAspect="1" noChangeArrowheads="1"/>
          </p:cNvPicPr>
          <p:nvPr/>
        </p:nvPicPr>
        <p:blipFill>
          <a:blip r:embed="rId3"/>
          <a:srcRect/>
          <a:stretch>
            <a:fillRect/>
          </a:stretch>
        </p:blipFill>
        <p:spPr bwMode="auto">
          <a:xfrm>
            <a:off x="12485722" y="1631924"/>
            <a:ext cx="2143140" cy="2428892"/>
          </a:xfrm>
          <a:prstGeom prst="rect">
            <a:avLst/>
          </a:prstGeom>
          <a:noFill/>
          <a:ln w="9525">
            <a:noFill/>
            <a:miter lim="800000"/>
            <a:headEnd/>
            <a:tailEnd/>
          </a:ln>
          <a:effectLst/>
        </p:spPr>
      </p:pic>
      <p:sp>
        <p:nvSpPr>
          <p:cNvPr id="56" name="TextBox 55"/>
          <p:cNvSpPr txBox="1"/>
          <p:nvPr/>
        </p:nvSpPr>
        <p:spPr>
          <a:xfrm>
            <a:off x="10985524" y="4275130"/>
            <a:ext cx="3571900" cy="1107996"/>
          </a:xfrm>
          <a:prstGeom prst="rect">
            <a:avLst/>
          </a:prstGeom>
          <a:noFill/>
        </p:spPr>
        <p:txBody>
          <a:bodyPr wrap="square" rtlCol="0">
            <a:spAutoFit/>
          </a:bodyPr>
          <a:lstStyle/>
          <a:p>
            <a:pPr>
              <a:buFont typeface="Wingdings" pitchFamily="2" charset="2"/>
              <a:buChar char="§"/>
            </a:pPr>
            <a:r>
              <a:rPr lang="en-IN" sz="1100" dirty="0" smtClean="0"/>
              <a:t> </a:t>
            </a:r>
            <a:r>
              <a:rPr lang="en-IN" sz="1100" b="1" dirty="0" smtClean="0"/>
              <a:t>RS ; </a:t>
            </a:r>
            <a:r>
              <a:rPr lang="en-US" sz="1100" b="1" dirty="0" smtClean="0"/>
              <a:t>NVBS, trachea appears to be in midline, equal chest movements, no wheeze</a:t>
            </a:r>
          </a:p>
          <a:p>
            <a:pPr>
              <a:buFont typeface="Wingdings" pitchFamily="2" charset="2"/>
              <a:buChar char="§"/>
            </a:pPr>
            <a:r>
              <a:rPr lang="en-IN" sz="1100" b="1" dirty="0" smtClean="0"/>
              <a:t>Abdomen: soft, non tender, no </a:t>
            </a:r>
            <a:r>
              <a:rPr lang="en-IN" sz="1100" b="1" dirty="0" err="1" smtClean="0"/>
              <a:t>organomegaly</a:t>
            </a:r>
            <a:endParaRPr lang="en-IN" sz="1100" b="1" dirty="0" smtClean="0"/>
          </a:p>
          <a:p>
            <a:pPr>
              <a:buFont typeface="Wingdings" pitchFamily="2" charset="2"/>
              <a:buChar char="§"/>
            </a:pPr>
            <a:r>
              <a:rPr lang="en-IN" sz="1100" b="1" dirty="0" smtClean="0"/>
              <a:t>CNS : no focal neurological deficit</a:t>
            </a:r>
          </a:p>
          <a:p>
            <a:pPr>
              <a:buFont typeface="Wingdings" pitchFamily="2" charset="2"/>
              <a:buChar char="§"/>
            </a:pPr>
            <a:r>
              <a:rPr lang="en-IN" sz="1100" b="1" dirty="0" smtClean="0"/>
              <a:t>CVS: S1S2 heard, apical impulse seen on 5</a:t>
            </a:r>
            <a:r>
              <a:rPr lang="en-IN" sz="1100" b="1" baseline="30000" dirty="0" smtClean="0"/>
              <a:t>th</a:t>
            </a:r>
            <a:r>
              <a:rPr lang="en-IN" sz="1100" b="1" dirty="0" smtClean="0"/>
              <a:t> </a:t>
            </a:r>
            <a:r>
              <a:rPr lang="en-IN" sz="1100" b="1" dirty="0" err="1" smtClean="0"/>
              <a:t>intercoastal</a:t>
            </a:r>
            <a:r>
              <a:rPr lang="en-IN" sz="1100" b="1" dirty="0" smtClean="0"/>
              <a:t> space</a:t>
            </a:r>
            <a:endParaRPr lang="en-US" sz="1100" b="1" dirty="0" smtClean="0"/>
          </a:p>
        </p:txBody>
      </p:sp>
      <p:pic>
        <p:nvPicPr>
          <p:cNvPr id="1027" name="Picture 3"/>
          <p:cNvPicPr>
            <a:picLocks noChangeAspect="1" noChangeArrowheads="1"/>
          </p:cNvPicPr>
          <p:nvPr/>
        </p:nvPicPr>
        <p:blipFill>
          <a:blip r:embed="rId4"/>
          <a:srcRect/>
          <a:stretch>
            <a:fillRect/>
          </a:stretch>
        </p:blipFill>
        <p:spPr bwMode="auto">
          <a:xfrm>
            <a:off x="484138" y="1489048"/>
            <a:ext cx="6572296" cy="3429024"/>
          </a:xfrm>
          <a:prstGeom prst="rect">
            <a:avLst/>
          </a:prstGeom>
          <a:noFill/>
          <a:ln w="9525">
            <a:noFill/>
            <a:miter lim="800000"/>
            <a:headEnd/>
            <a:tailEnd/>
          </a:ln>
          <a:effectLst/>
        </p:spPr>
      </p:pic>
      <p:pic>
        <p:nvPicPr>
          <p:cNvPr id="1028" name="Picture 4"/>
          <p:cNvPicPr>
            <a:picLocks noChangeAspect="1" noChangeArrowheads="1"/>
          </p:cNvPicPr>
          <p:nvPr/>
        </p:nvPicPr>
        <p:blipFill>
          <a:blip r:embed="rId5"/>
          <a:srcRect/>
          <a:stretch>
            <a:fillRect/>
          </a:stretch>
        </p:blipFill>
        <p:spPr bwMode="auto">
          <a:xfrm>
            <a:off x="484138" y="4918072"/>
            <a:ext cx="6572296" cy="400052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412700" y="1489048"/>
            <a:ext cx="14251939" cy="8328140"/>
            <a:chOff x="63500" y="63500"/>
            <a:chExt cx="14251939" cy="832814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118302"/>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5"/>
              <a:ext cx="7475347" cy="1980256"/>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38951" y="6503691"/>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860617"/>
              <a:ext cx="7475347" cy="1285884"/>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6" name="Freeform 16"/>
            <p:cNvSpPr/>
            <p:nvPr/>
          </p:nvSpPr>
          <p:spPr>
            <a:xfrm>
              <a:off x="6838951" y="6575129"/>
              <a:ext cx="7456805" cy="1816511"/>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6217939"/>
              <a:ext cx="7466330" cy="1714512"/>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2" name="TextBox 22"/>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3</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3" name="TextBox 23"/>
          <p:cNvSpPr txBox="1"/>
          <p:nvPr/>
        </p:nvSpPr>
        <p:spPr>
          <a:xfrm>
            <a:off x="912766" y="417478"/>
            <a:ext cx="2286000"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BALARAM.S</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2344400" y="400507"/>
            <a:ext cx="1195149"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 </a:t>
            </a:r>
            <a:endParaRPr lang="en-US" sz="1100" b="1" dirty="0">
              <a:solidFill>
                <a:srgbClr val="000000"/>
              </a:solidFill>
              <a:latin typeface="Calibri (MS) Bold"/>
              <a:ea typeface="Calibri (MS) Bold"/>
              <a:cs typeface="Calibri (MS) Bold"/>
              <a:sym typeface="Calibri (MS) Bold"/>
            </a:endParaRPr>
          </a:p>
        </p:txBody>
      </p:sp>
      <p:sp>
        <p:nvSpPr>
          <p:cNvPr id="26" name="TextBox 26"/>
          <p:cNvSpPr txBox="1"/>
          <p:nvPr/>
        </p:nvSpPr>
        <p:spPr>
          <a:xfrm>
            <a:off x="677320" y="953995"/>
            <a:ext cx="2893648" cy="256480"/>
          </a:xfrm>
          <a:prstGeom prst="rect">
            <a:avLst/>
          </a:prstGeom>
        </p:spPr>
        <p:txBody>
          <a:bodyPr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2 </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PID:  </a:t>
            </a:r>
            <a:r>
              <a:rPr lang="en-US" sz="1400" dirty="0" smtClean="0"/>
              <a:t> 240307185251</a:t>
            </a:r>
            <a:endParaRPr lang="en-US" sz="1399" b="1" dirty="0">
              <a:solidFill>
                <a:srgbClr val="000000"/>
              </a:solidFill>
              <a:latin typeface="Cambria Bold"/>
              <a:ea typeface="Cambria Bold"/>
              <a:cs typeface="Cambria Bold"/>
              <a:sym typeface="Cambria Bold"/>
            </a:endParaRP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2555840" y="274602"/>
            <a:ext cx="10144196" cy="371897"/>
          </a:xfrm>
          <a:prstGeom prst="rect">
            <a:avLst/>
          </a:prstGeom>
        </p:spPr>
        <p:txBody>
          <a:bodyPr wrap="square" lIns="0" tIns="0" rIns="0" bIns="0" rtlCol="0" anchor="t">
            <a:spAutoFit/>
          </a:bodyPr>
          <a:lstStyle/>
          <a:p>
            <a:pPr algn="ctr">
              <a:lnSpc>
                <a:spcPts val="2921"/>
              </a:lnSpc>
            </a:pPr>
            <a:r>
              <a:rPr lang="en-US" sz="2199" b="1" i="1" dirty="0">
                <a:solidFill>
                  <a:srgbClr val="000000"/>
                </a:solidFill>
                <a:latin typeface="Cambria Bold Italics"/>
                <a:ea typeface="Cambria Bold Italics"/>
                <a:cs typeface="Cambria Bold Italics"/>
                <a:sym typeface="Cambria Bold Italics"/>
              </a:rPr>
              <a:t>A case </a:t>
            </a:r>
            <a:r>
              <a:rPr lang="en-US" sz="2199" b="1" i="1" dirty="0" smtClean="0">
                <a:solidFill>
                  <a:srgbClr val="000000"/>
                </a:solidFill>
                <a:latin typeface="Cambria Bold Italics"/>
                <a:ea typeface="Cambria Bold Italics"/>
                <a:cs typeface="Cambria Bold Italics"/>
                <a:sym typeface="Cambria Bold Italics"/>
              </a:rPr>
              <a:t>of </a:t>
            </a:r>
            <a:r>
              <a:rPr lang="it-IT" sz="2400" b="1" dirty="0" smtClean="0">
                <a:latin typeface="Cambria Bold Italics" charset="0"/>
              </a:rPr>
              <a:t> right clavicular fracture</a:t>
            </a:r>
            <a:endParaRPr lang="en-US" sz="2199" b="1" i="1" dirty="0">
              <a:solidFill>
                <a:srgbClr val="000000"/>
              </a:solidFill>
              <a:latin typeface="Cambria Bold" charset="0"/>
              <a:ea typeface="Cambria Bold Italics"/>
              <a:cs typeface="Cambria Bold Italics"/>
              <a:sym typeface="Cambria Bold Italics"/>
            </a:endParaRPr>
          </a:p>
        </p:txBody>
      </p:sp>
      <p:sp>
        <p:nvSpPr>
          <p:cNvPr id="31" name="TextBox 31"/>
          <p:cNvSpPr txBox="1"/>
          <p:nvPr/>
        </p:nvSpPr>
        <p:spPr>
          <a:xfrm>
            <a:off x="3200400" y="811120"/>
            <a:ext cx="11163835" cy="448841"/>
          </a:xfrm>
          <a:prstGeom prst="rect">
            <a:avLst/>
          </a:prstGeom>
        </p:spPr>
        <p:txBody>
          <a:bodyPr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a:t>
            </a:r>
            <a:r>
              <a:rPr lang="en-US" sz="1399" b="1" dirty="0" smtClean="0">
                <a:solidFill>
                  <a:srgbClr val="000000"/>
                </a:solidFill>
                <a:latin typeface="Cambria Bold"/>
                <a:ea typeface="Cambria Bold"/>
                <a:cs typeface="Cambria Bold"/>
                <a:sym typeface="Cambria Bold"/>
              </a:rPr>
              <a:t>: </a:t>
            </a:r>
            <a:r>
              <a:rPr lang="en-US" sz="1600" b="1" dirty="0">
                <a:solidFill>
                  <a:srgbClr val="000000"/>
                </a:solidFill>
                <a:latin typeface="Cambria Bold"/>
                <a:ea typeface="Cambria Bold"/>
                <a:cs typeface="Cambria Bold"/>
                <a:sym typeface="Cambria Bold"/>
              </a:rPr>
              <a:t>  </a:t>
            </a:r>
            <a:r>
              <a:rPr lang="en-US" sz="1600" b="1" dirty="0" err="1" smtClean="0">
                <a:solidFill>
                  <a:srgbClr val="000000"/>
                </a:solidFill>
                <a:latin typeface="Cambria Bold"/>
                <a:ea typeface="Cambria Bold"/>
                <a:cs typeface="Cambria Bold"/>
                <a:sym typeface="Cambria Bold"/>
              </a:rPr>
              <a:t>Sundaraiah</a:t>
            </a:r>
            <a:r>
              <a:rPr lang="en-US" sz="1600" b="1" dirty="0" smtClean="0">
                <a:solidFill>
                  <a:srgbClr val="000000"/>
                </a:solidFill>
                <a:latin typeface="Cambria Bold"/>
                <a:ea typeface="Cambria Bold"/>
                <a:cs typeface="Cambria Bold"/>
                <a:sym typeface="Cambria Bold"/>
              </a:rPr>
              <a:t> V</a:t>
            </a:r>
            <a:r>
              <a:rPr lang="en-US" sz="1399" b="1" dirty="0" smtClean="0">
                <a:solidFill>
                  <a:srgbClr val="000000"/>
                </a:solidFill>
                <a:latin typeface="Cambria Bold"/>
                <a:ea typeface="Cambria Bold"/>
                <a:cs typeface="Cambria Bold"/>
                <a:sym typeface="Cambria Bold"/>
              </a:rPr>
              <a:t> </a:t>
            </a:r>
            <a:r>
              <a:rPr lang="en-US" sz="1399" b="1" dirty="0">
                <a:solidFill>
                  <a:srgbClr val="000000"/>
                </a:solidFill>
                <a:latin typeface="Cambria Bold"/>
                <a:ea typeface="Cambria Bold"/>
                <a:cs typeface="Cambria Bold"/>
                <a:sym typeface="Cambria Bold"/>
              </a:rPr>
              <a:t>                                                                                 Age</a:t>
            </a:r>
            <a:r>
              <a:rPr lang="en-US" sz="1399" b="1" dirty="0" smtClean="0">
                <a:solidFill>
                  <a:srgbClr val="000000"/>
                </a:solidFill>
                <a:latin typeface="Cambria Bold"/>
                <a:ea typeface="Cambria Bold"/>
                <a:cs typeface="Cambria Bold"/>
                <a:sym typeface="Cambria Bold"/>
              </a:rPr>
              <a:t>: 43  </a:t>
            </a:r>
            <a:r>
              <a:rPr lang="en-US" sz="1399" b="1" dirty="0">
                <a:solidFill>
                  <a:srgbClr val="000000"/>
                </a:solidFill>
                <a:latin typeface="Cambria Bold"/>
                <a:ea typeface="Cambria Bold"/>
                <a:cs typeface="Cambria Bold"/>
                <a:sym typeface="Cambria Bold"/>
              </a:rPr>
              <a:t>                      Gender: </a:t>
            </a:r>
            <a:r>
              <a:rPr lang="en-US" sz="1399" b="1" dirty="0" smtClean="0">
                <a:solidFill>
                  <a:srgbClr val="000000"/>
                </a:solidFill>
                <a:latin typeface="Cambria Bold"/>
                <a:ea typeface="Cambria Bold"/>
                <a:cs typeface="Cambria Bold"/>
                <a:sym typeface="Cambria Bold"/>
              </a:rPr>
              <a:t>Male</a:t>
            </a:r>
            <a:endParaRPr lang="en-US" sz="1399" b="1" dirty="0">
              <a:solidFill>
                <a:srgbClr val="000000"/>
              </a:solidFill>
              <a:latin typeface="Cambria Bold"/>
              <a:ea typeface="Cambria Bold"/>
              <a:cs typeface="Cambria Bold"/>
              <a:sym typeface="Cambria Bold"/>
            </a:endParaRP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270748" y="4132254"/>
            <a:ext cx="7334837" cy="3270126"/>
          </a:xfrm>
          <a:prstGeom prst="rect">
            <a:avLst/>
          </a:prstGeom>
        </p:spPr>
        <p:txBody>
          <a:bodyPr lIns="0" tIns="0" rIns="0" bIns="0" rtlCol="0" anchor="t">
            <a:spAutoFit/>
          </a:bodyPr>
          <a:lstStyle/>
          <a:p>
            <a:pPr algn="l">
              <a:lnSpc>
                <a:spcPts val="1679"/>
              </a:lnSpc>
            </a:pPr>
            <a:r>
              <a:rPr lang="en-US" sz="1000" b="1" u="sng" dirty="0" smtClean="0">
                <a:solidFill>
                  <a:srgbClr val="000000"/>
                </a:solidFill>
                <a:latin typeface="Cambria Bold"/>
                <a:ea typeface="Cambria Bold"/>
                <a:cs typeface="Cambria Bold"/>
                <a:sym typeface="Cambria Bold"/>
              </a:rPr>
              <a:t>Workup:</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Bp- 114/80 </a:t>
            </a:r>
            <a:r>
              <a:rPr lang="en-IN" sz="1000" b="1" dirty="0" err="1" smtClean="0">
                <a:solidFill>
                  <a:srgbClr val="000000"/>
                </a:solidFill>
                <a:latin typeface="Cambria Bold"/>
                <a:ea typeface="Cambria Bold"/>
                <a:cs typeface="Cambria Bold"/>
                <a:sym typeface="Cambria Bold"/>
              </a:rPr>
              <a:t>mmhg</a:t>
            </a:r>
            <a:r>
              <a:rPr lang="en-US" sz="1000" b="1" dirty="0" smtClean="0">
                <a:solidFill>
                  <a:srgbClr val="000000"/>
                </a:solidFill>
                <a:latin typeface="Cambria Bold"/>
                <a:ea typeface="Cambria Bold"/>
                <a:cs typeface="Cambria Bold"/>
                <a:sym typeface="Cambria Bold"/>
              </a:rPr>
              <a:t>, RR- 16/min, Spo2-98%,pulse-82bpm</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General examination-  Normal</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Patient was conscious, oriented to time, place and person</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Orthopaedic examination:</a:t>
            </a:r>
          </a:p>
          <a:p>
            <a:pPr>
              <a:lnSpc>
                <a:spcPts val="1679"/>
              </a:lnSpc>
              <a:buFont typeface="Wingdings" pitchFamily="2" charset="2"/>
              <a:buChar char="Ø"/>
            </a:pPr>
            <a:r>
              <a:rPr lang="en-IN" sz="1000" b="1" dirty="0" smtClean="0">
                <a:solidFill>
                  <a:srgbClr val="000000"/>
                </a:solidFill>
                <a:latin typeface="Cambria Bold"/>
                <a:ea typeface="Cambria Bold"/>
                <a:cs typeface="Cambria Bold"/>
                <a:sym typeface="Cambria Bold"/>
              </a:rPr>
              <a:t>Site: </a:t>
            </a:r>
            <a:r>
              <a:rPr lang="en-US" sz="1000" b="1" dirty="0" smtClean="0">
                <a:solidFill>
                  <a:srgbClr val="000000"/>
                </a:solidFill>
                <a:latin typeface="Cambria Bold"/>
                <a:ea typeface="Cambria Bold"/>
                <a:cs typeface="Cambria Bold"/>
                <a:sym typeface="Cambria Bold"/>
              </a:rPr>
              <a:t>right closed displaced mid third shaft of clavicle fracture </a:t>
            </a:r>
          </a:p>
          <a:p>
            <a:pPr>
              <a:lnSpc>
                <a:spcPts val="1679"/>
              </a:lnSpc>
              <a:buFont typeface="Wingdings" pitchFamily="2" charset="2"/>
              <a:buChar char="Ø"/>
            </a:pPr>
            <a:r>
              <a:rPr lang="en-US" sz="1000" b="1" dirty="0" smtClean="0"/>
              <a:t>Swelling present over </a:t>
            </a:r>
            <a:r>
              <a:rPr lang="en-US" sz="1000" b="1" dirty="0" err="1" smtClean="0"/>
              <a:t>clavicular</a:t>
            </a:r>
            <a:r>
              <a:rPr lang="en-US" sz="1000" b="1" dirty="0" smtClean="0"/>
              <a:t> region</a:t>
            </a:r>
          </a:p>
          <a:p>
            <a:pPr>
              <a:lnSpc>
                <a:spcPts val="1679"/>
              </a:lnSpc>
              <a:buFont typeface="Wingdings" pitchFamily="2" charset="2"/>
              <a:buChar char="Ø"/>
            </a:pPr>
            <a:r>
              <a:rPr lang="en-US" sz="1000" b="1" dirty="0" smtClean="0"/>
              <a:t>Tenderness present over mid 3rd clavicle </a:t>
            </a:r>
          </a:p>
          <a:p>
            <a:pPr>
              <a:lnSpc>
                <a:spcPts val="1679"/>
              </a:lnSpc>
              <a:buFont typeface="Wingdings" pitchFamily="2" charset="2"/>
              <a:buChar char="Ø"/>
            </a:pPr>
            <a:r>
              <a:rPr lang="en-US" sz="1000" b="1" dirty="0" smtClean="0"/>
              <a:t>ROM – Painful and restricted </a:t>
            </a:r>
            <a:br>
              <a:rPr lang="en-US" sz="1000" b="1" dirty="0" smtClean="0"/>
            </a:br>
            <a:r>
              <a:rPr lang="en-US" sz="1000" b="1" dirty="0" smtClean="0"/>
              <a:t/>
            </a:r>
            <a:br>
              <a:rPr lang="en-US" sz="1000" b="1" dirty="0" smtClean="0"/>
            </a:br>
            <a:r>
              <a:rPr lang="en-US" sz="1000" dirty="0" smtClean="0"/>
              <a:t/>
            </a:r>
            <a:br>
              <a:rPr lang="en-US" sz="1000" dirty="0" smtClean="0"/>
            </a:br>
            <a:endParaRPr lang="en-IN" sz="1000" b="1" dirty="0" smtClean="0">
              <a:solidFill>
                <a:srgbClr val="000000"/>
              </a:solidFill>
              <a:latin typeface="Cambria Bold"/>
              <a:ea typeface="Cambria Bold"/>
              <a:cs typeface="Cambria Bold"/>
              <a:sym typeface="Cambria Bold"/>
            </a:endParaRPr>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a:p>
            <a:pPr algn="l">
              <a:lnSpc>
                <a:spcPts val="1679"/>
              </a:lnSpc>
            </a:pPr>
            <a:r>
              <a:rPr lang="en-US" sz="1000" dirty="0" smtClean="0">
                <a:solidFill>
                  <a:srgbClr val="000000"/>
                </a:solidFill>
                <a:latin typeface="Cambria"/>
                <a:ea typeface="Cambria"/>
                <a:cs typeface="Cambria"/>
                <a:sym typeface="Cambria"/>
              </a:rPr>
              <a:t> </a:t>
            </a:r>
          </a:p>
          <a:p>
            <a:pPr algn="l">
              <a:lnSpc>
                <a:spcPts val="1679"/>
              </a:lnSpc>
            </a:pPr>
            <a:r>
              <a:rPr lang="en-IN" sz="1000" dirty="0" smtClean="0">
                <a:solidFill>
                  <a:srgbClr val="000000"/>
                </a:solidFill>
                <a:latin typeface="Cambria"/>
                <a:ea typeface="Cambria"/>
                <a:cs typeface="Cambria"/>
                <a:sym typeface="Cambria"/>
              </a:rPr>
              <a:t> </a:t>
            </a:r>
            <a:endParaRPr lang="en-US" sz="1000" dirty="0">
              <a:solidFill>
                <a:srgbClr val="000000"/>
              </a:solidFill>
              <a:latin typeface="Cambria"/>
              <a:ea typeface="Cambria"/>
              <a:cs typeface="Cambria"/>
              <a:sym typeface="Cambria"/>
            </a:endParaRPr>
          </a:p>
        </p:txBody>
      </p:sp>
      <p:sp>
        <p:nvSpPr>
          <p:cNvPr id="48" name="TextBox 48"/>
          <p:cNvSpPr txBox="1"/>
          <p:nvPr/>
        </p:nvSpPr>
        <p:spPr>
          <a:xfrm>
            <a:off x="7199310" y="1631924"/>
            <a:ext cx="1563557"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70748" y="7632716"/>
            <a:ext cx="7217960" cy="198516"/>
          </a:xfrm>
          <a:prstGeom prst="rect">
            <a:avLst/>
          </a:prstGeom>
        </p:spPr>
        <p:txBody>
          <a:bodyPr lIns="0" tIns="0" rIns="0" bIns="0" rtlCol="0" anchor="t">
            <a:spAutoFit/>
          </a:bodyPr>
          <a:lstStyle/>
          <a:p>
            <a:pPr>
              <a:lnSpc>
                <a:spcPts val="1679"/>
              </a:lnSpc>
            </a:pPr>
            <a:r>
              <a:rPr lang="en-US" sz="1200" b="1" u="sng" dirty="0">
                <a:solidFill>
                  <a:srgbClr val="000000"/>
                </a:solidFill>
                <a:latin typeface="Cambria Bold"/>
                <a:ea typeface="Cambria Bold"/>
                <a:cs typeface="Cambria Bold"/>
                <a:sym typeface="Cambria Bold"/>
              </a:rPr>
              <a:t>Management / Procedure done:</a:t>
            </a:r>
            <a:r>
              <a:rPr lang="en-US" sz="1200" u="sng" dirty="0">
                <a:solidFill>
                  <a:srgbClr val="000000"/>
                </a:solidFill>
                <a:latin typeface="Cambria"/>
                <a:ea typeface="Cambria"/>
                <a:cs typeface="Cambria"/>
                <a:sym typeface="Cambria"/>
              </a:rPr>
              <a:t> </a:t>
            </a:r>
            <a:endParaRPr lang="en-US" sz="1200" u="sng" dirty="0" smtClean="0">
              <a:solidFill>
                <a:srgbClr val="000000"/>
              </a:solidFill>
              <a:latin typeface="Cambria"/>
              <a:ea typeface="Cambria"/>
              <a:cs typeface="Cambria"/>
              <a:sym typeface="Cambria"/>
            </a:endParaRPr>
          </a:p>
        </p:txBody>
      </p:sp>
      <p:sp>
        <p:nvSpPr>
          <p:cNvPr id="50" name="TextBox 50"/>
          <p:cNvSpPr txBox="1"/>
          <p:nvPr/>
        </p:nvSpPr>
        <p:spPr>
          <a:xfrm>
            <a:off x="7199310" y="6275394"/>
            <a:ext cx="2948172" cy="198516"/>
          </a:xfrm>
          <a:prstGeom prst="rect">
            <a:avLst/>
          </a:prstGeom>
        </p:spPr>
        <p:txBody>
          <a:bodyPr lIns="0" tIns="0" rIns="0" bIns="0" rtlCol="0" anchor="t">
            <a:spAutoFit/>
          </a:bodyPr>
          <a:lstStyle/>
          <a:p>
            <a:pPr algn="l">
              <a:lnSpc>
                <a:spcPts val="1679"/>
              </a:lnSpc>
            </a:pPr>
            <a:r>
              <a:rPr lang="en-US" sz="1200" b="1" u="sng" dirty="0" smtClean="0">
                <a:solidFill>
                  <a:srgbClr val="000000"/>
                </a:solidFill>
                <a:latin typeface="Cambria Bold"/>
                <a:ea typeface="Cambria Bold"/>
                <a:cs typeface="Cambria Bold"/>
                <a:sym typeface="Cambria Bold"/>
              </a:rPr>
              <a:t>Differential diagnosis / Clinical insights :</a:t>
            </a:r>
            <a:r>
              <a:rPr lang="en-US" sz="1200" u="sng" dirty="0" smtClean="0">
                <a:solidFill>
                  <a:srgbClr val="000000"/>
                </a:solidFill>
                <a:latin typeface="Cambria"/>
                <a:ea typeface="Cambria"/>
                <a:cs typeface="Cambria"/>
                <a:sym typeface="Cambria"/>
              </a:rPr>
              <a:t> </a:t>
            </a:r>
            <a:endParaRPr lang="en-US" sz="1200" u="sng" dirty="0">
              <a:solidFill>
                <a:srgbClr val="000000"/>
              </a:solidFill>
              <a:latin typeface="Cambria"/>
              <a:ea typeface="Cambria"/>
              <a:cs typeface="Cambria"/>
              <a:sym typeface="Cambria"/>
            </a:endParaRPr>
          </a:p>
        </p:txBody>
      </p:sp>
      <p:sp>
        <p:nvSpPr>
          <p:cNvPr id="51" name="TextBox 50"/>
          <p:cNvSpPr txBox="1"/>
          <p:nvPr/>
        </p:nvSpPr>
        <p:spPr>
          <a:xfrm>
            <a:off x="7199310" y="1846238"/>
            <a:ext cx="5143536" cy="2893100"/>
          </a:xfrm>
          <a:prstGeom prst="rect">
            <a:avLst/>
          </a:prstGeom>
          <a:noFill/>
        </p:spPr>
        <p:txBody>
          <a:bodyPr wrap="square" rtlCol="0">
            <a:spAutoFit/>
          </a:bodyPr>
          <a:lstStyle/>
          <a:p>
            <a:r>
              <a:rPr lang="en-US" sz="1400" b="1" dirty="0" smtClean="0"/>
              <a:t>Chief Complaint:</a:t>
            </a:r>
          </a:p>
          <a:p>
            <a:r>
              <a:rPr lang="en-US" sz="1400" dirty="0" smtClean="0"/>
              <a:t>Patient came for post op review of right </a:t>
            </a:r>
            <a:r>
              <a:rPr lang="en-US" sz="1400" dirty="0" err="1" smtClean="0"/>
              <a:t>clavicular</a:t>
            </a:r>
            <a:r>
              <a:rPr lang="en-US" sz="1400" dirty="0" smtClean="0"/>
              <a:t> fracture for past 3 months following accident</a:t>
            </a:r>
          </a:p>
          <a:p>
            <a:r>
              <a:rPr lang="en-US" sz="1400" b="1" dirty="0" smtClean="0"/>
              <a:t>History of Presenting Illness</a:t>
            </a:r>
            <a:r>
              <a:rPr lang="en-US" sz="1400" dirty="0" smtClean="0"/>
              <a:t>: Patient came for post op review of right </a:t>
            </a:r>
            <a:r>
              <a:rPr lang="en-US" sz="1400" dirty="0" err="1" smtClean="0"/>
              <a:t>clavicular</a:t>
            </a:r>
            <a:r>
              <a:rPr lang="en-US" sz="1400" dirty="0" smtClean="0"/>
              <a:t> fracture for past 3 months following accident. No h/o fever, vomiting, nausea, LOC, </a:t>
            </a:r>
            <a:r>
              <a:rPr lang="en-US" sz="1400" dirty="0" err="1" smtClean="0"/>
              <a:t>Vomitting,ENT</a:t>
            </a:r>
            <a:r>
              <a:rPr lang="en-US" sz="1400" dirty="0" smtClean="0"/>
              <a:t> bleed, seizures or any other joint pain.</a:t>
            </a:r>
          </a:p>
          <a:p>
            <a:r>
              <a:rPr lang="en-US" sz="1400" b="1" dirty="0" smtClean="0"/>
              <a:t>Past Medical History</a:t>
            </a:r>
            <a:r>
              <a:rPr lang="en-US" sz="1400" dirty="0" smtClean="0"/>
              <a:t>: No h/o hypertension, TB, seizure, T2DM, thyroid disorder</a:t>
            </a:r>
          </a:p>
          <a:p>
            <a:endParaRPr lang="en-US" sz="1400" dirty="0" smtClean="0"/>
          </a:p>
          <a:p>
            <a:endParaRPr lang="en-US" sz="1400" dirty="0" smtClean="0"/>
          </a:p>
          <a:p>
            <a:endParaRPr lang="en-US" sz="1400" dirty="0" smtClean="0"/>
          </a:p>
          <a:p>
            <a:endParaRPr lang="en-US" sz="1400" b="1" dirty="0"/>
          </a:p>
        </p:txBody>
      </p:sp>
      <p:sp>
        <p:nvSpPr>
          <p:cNvPr id="53" name="TextBox 50"/>
          <p:cNvSpPr txBox="1"/>
          <p:nvPr/>
        </p:nvSpPr>
        <p:spPr>
          <a:xfrm>
            <a:off x="7270748" y="6489708"/>
            <a:ext cx="3000396" cy="1090042"/>
          </a:xfrm>
          <a:prstGeom prst="rect">
            <a:avLst/>
          </a:prstGeom>
        </p:spPr>
        <p:txBody>
          <a:bodyPr wrap="square" lIns="0" tIns="0" rIns="0" bIns="0" rtlCol="0" anchor="t">
            <a:spAutoFit/>
          </a:bodyPr>
          <a:lstStyle/>
          <a:p>
            <a:pPr>
              <a:lnSpc>
                <a:spcPts val="1679"/>
              </a:lnSpc>
              <a:buFont typeface="Arial" pitchFamily="34" charset="0"/>
              <a:buChar char="•"/>
            </a:pPr>
            <a:r>
              <a:rPr lang="en-US" sz="1200" dirty="0" err="1" smtClean="0"/>
              <a:t>Acromioclavicular</a:t>
            </a:r>
            <a:r>
              <a:rPr lang="en-US" sz="1200" dirty="0" smtClean="0"/>
              <a:t> joint injury</a:t>
            </a:r>
          </a:p>
          <a:p>
            <a:pPr>
              <a:lnSpc>
                <a:spcPts val="1679"/>
              </a:lnSpc>
              <a:buFont typeface="Arial" pitchFamily="34" charset="0"/>
              <a:buChar char="•"/>
            </a:pPr>
            <a:r>
              <a:rPr lang="en-US" sz="1200" dirty="0" smtClean="0"/>
              <a:t>Rib fracture</a:t>
            </a:r>
          </a:p>
          <a:p>
            <a:pPr>
              <a:lnSpc>
                <a:spcPts val="1679"/>
              </a:lnSpc>
              <a:buFont typeface="Arial" pitchFamily="34" charset="0"/>
              <a:buChar char="•"/>
            </a:pPr>
            <a:r>
              <a:rPr lang="en-US" sz="1200" dirty="0" smtClean="0"/>
              <a:t>Scapular fracture</a:t>
            </a:r>
          </a:p>
          <a:p>
            <a:pPr>
              <a:lnSpc>
                <a:spcPts val="1679"/>
              </a:lnSpc>
              <a:buFont typeface="Arial" pitchFamily="34" charset="0"/>
              <a:buChar char="•"/>
            </a:pPr>
            <a:r>
              <a:rPr lang="en-US" sz="1200" dirty="0" smtClean="0"/>
              <a:t>Shoulder dislocation</a:t>
            </a:r>
          </a:p>
          <a:p>
            <a:pPr>
              <a:lnSpc>
                <a:spcPts val="1679"/>
              </a:lnSpc>
              <a:buFont typeface="Arial" pitchFamily="34" charset="0"/>
              <a:buChar char="•"/>
            </a:pPr>
            <a:r>
              <a:rPr lang="en-US" sz="1200" dirty="0" smtClean="0"/>
              <a:t>Rotator cuff </a:t>
            </a:r>
            <a:r>
              <a:rPr lang="en-US" sz="1200" dirty="0" err="1" smtClean="0"/>
              <a:t>injurY</a:t>
            </a:r>
            <a:endParaRPr lang="en-US" sz="1200" dirty="0">
              <a:solidFill>
                <a:srgbClr val="000000"/>
              </a:solidFill>
              <a:latin typeface="Cambria"/>
              <a:ea typeface="Cambria"/>
              <a:cs typeface="Cambria"/>
              <a:sym typeface="Cambria"/>
            </a:endParaRPr>
          </a:p>
        </p:txBody>
      </p:sp>
      <p:sp>
        <p:nvSpPr>
          <p:cNvPr id="55" name="TextBox 49"/>
          <p:cNvSpPr txBox="1"/>
          <p:nvPr/>
        </p:nvSpPr>
        <p:spPr>
          <a:xfrm>
            <a:off x="7270748" y="7847030"/>
            <a:ext cx="7217960" cy="1090042"/>
          </a:xfrm>
          <a:prstGeom prst="rect">
            <a:avLst/>
          </a:prstGeom>
        </p:spPr>
        <p:txBody>
          <a:bodyPr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Patient was admitted and planned for </a:t>
            </a:r>
            <a:r>
              <a:rPr lang="en-US" sz="1200" dirty="0" smtClean="0"/>
              <a:t>ORIF+PO with lateral end Clavicle plate</a:t>
            </a:r>
          </a:p>
          <a:p>
            <a:pPr>
              <a:lnSpc>
                <a:spcPts val="1679"/>
              </a:lnSpc>
              <a:buFont typeface="Arial" pitchFamily="34" charset="0"/>
              <a:buChar char="•"/>
            </a:pPr>
            <a:r>
              <a:rPr lang="en-IN" sz="1200" dirty="0" err="1" smtClean="0"/>
              <a:t>Xray</a:t>
            </a:r>
            <a:r>
              <a:rPr lang="en-IN" sz="1200" dirty="0" smtClean="0"/>
              <a:t> clavicle was taken  and shows healing progress</a:t>
            </a:r>
          </a:p>
          <a:p>
            <a:pPr>
              <a:lnSpc>
                <a:spcPts val="1679"/>
              </a:lnSpc>
              <a:buFont typeface="Arial" pitchFamily="34" charset="0"/>
              <a:buChar char="•"/>
            </a:pPr>
            <a:r>
              <a:rPr lang="en-IN" sz="1200" dirty="0" err="1" smtClean="0"/>
              <a:t>cBC</a:t>
            </a:r>
            <a:r>
              <a:rPr lang="en-IN" sz="1200" dirty="0" smtClean="0"/>
              <a:t> shows normal </a:t>
            </a:r>
            <a:r>
              <a:rPr lang="en-IN" sz="1200" dirty="0" err="1" smtClean="0"/>
              <a:t>hb</a:t>
            </a:r>
            <a:r>
              <a:rPr lang="en-IN" sz="1200" dirty="0" smtClean="0"/>
              <a:t>: 14.7 mg/dl</a:t>
            </a:r>
          </a:p>
          <a:p>
            <a:pPr>
              <a:lnSpc>
                <a:spcPts val="1679"/>
              </a:lnSpc>
              <a:buFont typeface="Arial" pitchFamily="34" charset="0"/>
              <a:buChar char="•"/>
            </a:pPr>
            <a:r>
              <a:rPr lang="en-US" sz="1200" dirty="0" smtClean="0"/>
              <a:t>Tab. </a:t>
            </a:r>
            <a:r>
              <a:rPr lang="en-US" sz="1200" dirty="0" err="1" smtClean="0"/>
              <a:t>Myospaz</a:t>
            </a:r>
            <a:r>
              <a:rPr lang="en-US" sz="1200" dirty="0" smtClean="0"/>
              <a:t> forte BD for 1 week</a:t>
            </a:r>
          </a:p>
          <a:p>
            <a:pPr>
              <a:lnSpc>
                <a:spcPts val="1679"/>
              </a:lnSpc>
              <a:buFont typeface="Arial" pitchFamily="34" charset="0"/>
              <a:buChar char="•"/>
            </a:pPr>
            <a:endParaRPr lang="en-US" sz="1200" dirty="0" smtClean="0">
              <a:solidFill>
                <a:srgbClr val="000000"/>
              </a:solidFill>
              <a:latin typeface="Cambria"/>
              <a:ea typeface="Cambria"/>
              <a:cs typeface="Cambria"/>
              <a:sym typeface="Cambria"/>
            </a:endParaRPr>
          </a:p>
        </p:txBody>
      </p:sp>
      <p:sp>
        <p:nvSpPr>
          <p:cNvPr id="54" name="TextBox 53"/>
          <p:cNvSpPr txBox="1"/>
          <p:nvPr/>
        </p:nvSpPr>
        <p:spPr>
          <a:xfrm>
            <a:off x="11199838" y="4346568"/>
            <a:ext cx="3357586" cy="1938992"/>
          </a:xfrm>
          <a:prstGeom prst="rect">
            <a:avLst/>
          </a:prstGeom>
          <a:noFill/>
        </p:spPr>
        <p:txBody>
          <a:bodyPr wrap="square" rtlCol="0">
            <a:spAutoFit/>
          </a:bodyPr>
          <a:lstStyle/>
          <a:p>
            <a:pPr>
              <a:buFont typeface="Wingdings" pitchFamily="2" charset="2"/>
              <a:buChar char="Ø"/>
            </a:pPr>
            <a:r>
              <a:rPr lang="en-US" sz="1000" b="1" dirty="0" smtClean="0"/>
              <a:t>Sensation intact</a:t>
            </a:r>
          </a:p>
          <a:p>
            <a:pPr>
              <a:buFont typeface="Wingdings" pitchFamily="2" charset="2"/>
              <a:buChar char="Ø"/>
            </a:pPr>
            <a:r>
              <a:rPr lang="en-US" sz="1000" b="1" dirty="0" smtClean="0"/>
              <a:t>Radial artery pulsation felt </a:t>
            </a:r>
          </a:p>
          <a:p>
            <a:pPr>
              <a:buFont typeface="Wingdings" pitchFamily="2" charset="2"/>
              <a:buChar char="Ø"/>
            </a:pPr>
            <a:r>
              <a:rPr lang="en-US" sz="1000" b="1" dirty="0" smtClean="0"/>
              <a:t>Arm, Elbow, Forearm, wrist and hand – Clinically normal</a:t>
            </a:r>
          </a:p>
          <a:p>
            <a:pPr>
              <a:buFont typeface="Wingdings" pitchFamily="2" charset="2"/>
              <a:buChar char="§"/>
            </a:pPr>
            <a:r>
              <a:rPr lang="en-IN" sz="1000" dirty="0" smtClean="0"/>
              <a:t> </a:t>
            </a:r>
            <a:r>
              <a:rPr lang="en-IN" sz="1000" b="1" dirty="0" smtClean="0"/>
              <a:t>RS ; </a:t>
            </a:r>
            <a:r>
              <a:rPr lang="en-US" sz="1000" b="1" dirty="0" smtClean="0"/>
              <a:t>NVBS, trachea appears to be in midline, equal chest movements, no wheeze</a:t>
            </a:r>
          </a:p>
          <a:p>
            <a:pPr>
              <a:buFont typeface="Wingdings" pitchFamily="2" charset="2"/>
              <a:buChar char="§"/>
            </a:pPr>
            <a:r>
              <a:rPr lang="en-IN" sz="1000" b="1" dirty="0" smtClean="0"/>
              <a:t>Abdomen: soft, non tender, no </a:t>
            </a:r>
            <a:r>
              <a:rPr lang="en-IN" sz="1000" b="1" dirty="0" err="1" smtClean="0"/>
              <a:t>organomegaly</a:t>
            </a:r>
            <a:endParaRPr lang="en-IN" sz="1000" b="1" dirty="0" smtClean="0"/>
          </a:p>
          <a:p>
            <a:pPr>
              <a:buFont typeface="Wingdings" pitchFamily="2" charset="2"/>
              <a:buChar char="§"/>
            </a:pPr>
            <a:r>
              <a:rPr lang="en-IN" sz="1000" b="1" dirty="0" smtClean="0"/>
              <a:t>CNS : no focal neurological deficit</a:t>
            </a:r>
          </a:p>
          <a:p>
            <a:pPr>
              <a:buFont typeface="Wingdings" pitchFamily="2" charset="2"/>
              <a:buChar char="§"/>
            </a:pPr>
            <a:r>
              <a:rPr lang="en-IN" sz="1000" b="1" dirty="0" smtClean="0"/>
              <a:t>CVS: S1S2 heard, apical impulse seen on 5</a:t>
            </a:r>
            <a:r>
              <a:rPr lang="en-IN" sz="1000" b="1" baseline="30000" dirty="0" smtClean="0"/>
              <a:t>th</a:t>
            </a:r>
            <a:r>
              <a:rPr lang="en-IN" sz="1000" b="1" dirty="0" smtClean="0"/>
              <a:t> </a:t>
            </a:r>
            <a:r>
              <a:rPr lang="en-IN" sz="1000" b="1" dirty="0" err="1" smtClean="0"/>
              <a:t>intercoastal</a:t>
            </a:r>
            <a:r>
              <a:rPr lang="en-IN" sz="1000" b="1" dirty="0" smtClean="0"/>
              <a:t> space</a:t>
            </a:r>
            <a:endParaRPr lang="en-US" sz="1000" b="1" dirty="0" smtClean="0"/>
          </a:p>
          <a:p>
            <a:r>
              <a:rPr lang="en-US" sz="1000" b="1" dirty="0" smtClean="0"/>
              <a:t> </a:t>
            </a:r>
            <a:br>
              <a:rPr lang="en-US" sz="1000" b="1" dirty="0" smtClean="0"/>
            </a:br>
            <a:r>
              <a:rPr lang="en-US" sz="1000" b="1" dirty="0" smtClean="0"/>
              <a:t/>
            </a:r>
            <a:br>
              <a:rPr lang="en-US" sz="1000" b="1" dirty="0" smtClean="0"/>
            </a:br>
            <a:endParaRPr lang="en-US" sz="1000" b="1" dirty="0"/>
          </a:p>
        </p:txBody>
      </p:sp>
      <p:pic>
        <p:nvPicPr>
          <p:cNvPr id="2050" name="Picture 2"/>
          <p:cNvPicPr>
            <a:picLocks noChangeAspect="1" noChangeArrowheads="1"/>
          </p:cNvPicPr>
          <p:nvPr/>
        </p:nvPicPr>
        <p:blipFill>
          <a:blip r:embed="rId3"/>
          <a:srcRect/>
          <a:stretch>
            <a:fillRect/>
          </a:stretch>
        </p:blipFill>
        <p:spPr bwMode="auto">
          <a:xfrm>
            <a:off x="12485722" y="1631924"/>
            <a:ext cx="2214578" cy="2428892"/>
          </a:xfrm>
          <a:prstGeom prst="rect">
            <a:avLst/>
          </a:prstGeom>
          <a:noFill/>
          <a:ln w="9525">
            <a:noFill/>
            <a:miter lim="800000"/>
            <a:headEnd/>
            <a:tailEnd/>
          </a:ln>
          <a:effectLst/>
        </p:spPr>
      </p:pic>
      <p:pic>
        <p:nvPicPr>
          <p:cNvPr id="2051" name="Picture 3"/>
          <p:cNvPicPr>
            <a:picLocks noChangeAspect="1" noChangeArrowheads="1"/>
          </p:cNvPicPr>
          <p:nvPr/>
        </p:nvPicPr>
        <p:blipFill>
          <a:blip r:embed="rId4"/>
          <a:srcRect/>
          <a:stretch>
            <a:fillRect/>
          </a:stretch>
        </p:blipFill>
        <p:spPr bwMode="auto">
          <a:xfrm>
            <a:off x="412700" y="1489047"/>
            <a:ext cx="6643734" cy="742955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412700" y="1489048"/>
            <a:ext cx="14251939" cy="8328140"/>
            <a:chOff x="63500" y="63500"/>
            <a:chExt cx="14251939" cy="832814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118302"/>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5"/>
              <a:ext cx="7475347" cy="1980256"/>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38951" y="6503691"/>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860617"/>
              <a:ext cx="7475347" cy="1285884"/>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6" name="Freeform 16"/>
            <p:cNvSpPr/>
            <p:nvPr/>
          </p:nvSpPr>
          <p:spPr>
            <a:xfrm>
              <a:off x="6838951" y="6575129"/>
              <a:ext cx="7456805" cy="1816511"/>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6217939"/>
              <a:ext cx="7466330" cy="1714512"/>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2" name="TextBox 22"/>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3</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3" name="TextBox 23"/>
          <p:cNvSpPr txBox="1"/>
          <p:nvPr/>
        </p:nvSpPr>
        <p:spPr>
          <a:xfrm>
            <a:off x="912766" y="417478"/>
            <a:ext cx="2286000"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BALARAM.S</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2344400" y="400507"/>
            <a:ext cx="1195149"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 </a:t>
            </a:r>
            <a:endParaRPr lang="en-US" sz="1100" b="1" dirty="0">
              <a:solidFill>
                <a:srgbClr val="000000"/>
              </a:solidFill>
              <a:latin typeface="Calibri (MS) Bold"/>
              <a:ea typeface="Calibri (MS) Bold"/>
              <a:cs typeface="Calibri (MS) Bold"/>
              <a:sym typeface="Calibri (MS) Bold"/>
            </a:endParaRPr>
          </a:p>
        </p:txBody>
      </p:sp>
      <p:sp>
        <p:nvSpPr>
          <p:cNvPr id="26" name="TextBox 26"/>
          <p:cNvSpPr txBox="1"/>
          <p:nvPr/>
        </p:nvSpPr>
        <p:spPr>
          <a:xfrm>
            <a:off x="677320" y="953995"/>
            <a:ext cx="2893648" cy="256480"/>
          </a:xfrm>
          <a:prstGeom prst="rect">
            <a:avLst/>
          </a:prstGeom>
        </p:spPr>
        <p:txBody>
          <a:bodyPr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3 </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PID:  </a:t>
            </a:r>
            <a:r>
              <a:rPr lang="en-US" sz="1400" dirty="0" smtClean="0"/>
              <a:t>240222180563</a:t>
            </a:r>
            <a:endParaRPr lang="en-US" sz="1399" b="1" dirty="0">
              <a:solidFill>
                <a:srgbClr val="000000"/>
              </a:solidFill>
              <a:latin typeface="Cambria Bold"/>
              <a:ea typeface="Cambria Bold"/>
              <a:cs typeface="Cambria Bold"/>
              <a:sym typeface="Cambria Bold"/>
            </a:endParaRP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2555840" y="274602"/>
            <a:ext cx="10144196" cy="371897"/>
          </a:xfrm>
          <a:prstGeom prst="rect">
            <a:avLst/>
          </a:prstGeom>
        </p:spPr>
        <p:txBody>
          <a:bodyPr wrap="square" lIns="0" tIns="0" rIns="0" bIns="0" rtlCol="0" anchor="t">
            <a:spAutoFit/>
          </a:bodyPr>
          <a:lstStyle/>
          <a:p>
            <a:pPr algn="ctr">
              <a:lnSpc>
                <a:spcPts val="2921"/>
              </a:lnSpc>
            </a:pPr>
            <a:r>
              <a:rPr lang="en-US" sz="2199" b="1" i="1" dirty="0">
                <a:solidFill>
                  <a:srgbClr val="000000"/>
                </a:solidFill>
                <a:latin typeface="Cambria Bold Italics"/>
                <a:ea typeface="Cambria Bold Italics"/>
                <a:cs typeface="Cambria Bold Italics"/>
                <a:sym typeface="Cambria Bold Italics"/>
              </a:rPr>
              <a:t>A case </a:t>
            </a:r>
            <a:r>
              <a:rPr lang="en-US" sz="2199" b="1" i="1" dirty="0" smtClean="0">
                <a:solidFill>
                  <a:srgbClr val="000000"/>
                </a:solidFill>
                <a:latin typeface="Cambria Bold Italics"/>
                <a:ea typeface="Cambria Bold Italics"/>
                <a:cs typeface="Cambria Bold Italics"/>
                <a:sym typeface="Cambria Bold Italics"/>
              </a:rPr>
              <a:t>of </a:t>
            </a:r>
            <a:r>
              <a:rPr lang="it-IT" sz="2400" b="1" dirty="0" smtClean="0">
                <a:latin typeface="Cambria Bold Italics" charset="0"/>
              </a:rPr>
              <a:t>knee osteoarthritis </a:t>
            </a:r>
            <a:r>
              <a:rPr lang="en-US" sz="2199" b="1" i="1" dirty="0">
                <a:solidFill>
                  <a:srgbClr val="000000"/>
                </a:solidFill>
                <a:latin typeface="Cambria Bold" charset="0"/>
                <a:ea typeface="Cambria Bold Italics"/>
                <a:cs typeface="Cambria Bold Italics"/>
                <a:sym typeface="Cambria Bold Italics"/>
              </a:rPr>
              <a:t> </a:t>
            </a:r>
          </a:p>
        </p:txBody>
      </p:sp>
      <p:sp>
        <p:nvSpPr>
          <p:cNvPr id="31" name="TextBox 31"/>
          <p:cNvSpPr txBox="1"/>
          <p:nvPr/>
        </p:nvSpPr>
        <p:spPr>
          <a:xfrm>
            <a:off x="3200400" y="811120"/>
            <a:ext cx="11163835" cy="448841"/>
          </a:xfrm>
          <a:prstGeom prst="rect">
            <a:avLst/>
          </a:prstGeom>
        </p:spPr>
        <p:txBody>
          <a:bodyPr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a:t>
            </a:r>
            <a:r>
              <a:rPr lang="en-US" sz="1399" b="1" dirty="0" smtClean="0">
                <a:solidFill>
                  <a:srgbClr val="000000"/>
                </a:solidFill>
                <a:latin typeface="Cambria Bold"/>
                <a:ea typeface="Cambria Bold"/>
                <a:cs typeface="Cambria Bold"/>
                <a:sym typeface="Cambria Bold"/>
              </a:rPr>
              <a:t>: </a:t>
            </a:r>
            <a:r>
              <a:rPr lang="en-US" sz="1600" b="1" dirty="0">
                <a:solidFill>
                  <a:srgbClr val="000000"/>
                </a:solidFill>
                <a:latin typeface="Cambria Bold"/>
                <a:ea typeface="Cambria Bold"/>
                <a:cs typeface="Cambria Bold"/>
                <a:sym typeface="Cambria Bold"/>
              </a:rPr>
              <a:t>  </a:t>
            </a:r>
            <a:r>
              <a:rPr lang="en-US" sz="1600" b="1" dirty="0" err="1" smtClean="0">
                <a:solidFill>
                  <a:srgbClr val="000000"/>
                </a:solidFill>
                <a:latin typeface="Cambria Bold"/>
                <a:ea typeface="Cambria Bold"/>
                <a:cs typeface="Cambria Bold"/>
                <a:sym typeface="Cambria Bold"/>
              </a:rPr>
              <a:t>Nagendran</a:t>
            </a:r>
            <a:r>
              <a:rPr lang="en-US" sz="1600" b="1" dirty="0" smtClean="0">
                <a:solidFill>
                  <a:srgbClr val="000000"/>
                </a:solidFill>
                <a:latin typeface="Cambria Bold"/>
                <a:ea typeface="Cambria Bold"/>
                <a:cs typeface="Cambria Bold"/>
                <a:sym typeface="Cambria Bold"/>
              </a:rPr>
              <a:t> M</a:t>
            </a:r>
            <a:r>
              <a:rPr lang="en-US" sz="1399" b="1" dirty="0" smtClean="0">
                <a:solidFill>
                  <a:srgbClr val="000000"/>
                </a:solidFill>
                <a:latin typeface="Cambria Bold"/>
                <a:ea typeface="Cambria Bold"/>
                <a:cs typeface="Cambria Bold"/>
                <a:sym typeface="Cambria Bold"/>
              </a:rPr>
              <a:t> </a:t>
            </a:r>
            <a:r>
              <a:rPr lang="en-US" sz="1399" b="1" dirty="0">
                <a:solidFill>
                  <a:srgbClr val="000000"/>
                </a:solidFill>
                <a:latin typeface="Cambria Bold"/>
                <a:ea typeface="Cambria Bold"/>
                <a:cs typeface="Cambria Bold"/>
                <a:sym typeface="Cambria Bold"/>
              </a:rPr>
              <a:t>                                                                                 Age</a:t>
            </a:r>
            <a:r>
              <a:rPr lang="en-US" sz="1399" b="1" dirty="0" smtClean="0">
                <a:solidFill>
                  <a:srgbClr val="000000"/>
                </a:solidFill>
                <a:latin typeface="Cambria Bold"/>
                <a:ea typeface="Cambria Bold"/>
                <a:cs typeface="Cambria Bold"/>
                <a:sym typeface="Cambria Bold"/>
              </a:rPr>
              <a:t>:  63  </a:t>
            </a:r>
            <a:r>
              <a:rPr lang="en-US" sz="1399" b="1" dirty="0">
                <a:solidFill>
                  <a:srgbClr val="000000"/>
                </a:solidFill>
                <a:latin typeface="Cambria Bold"/>
                <a:ea typeface="Cambria Bold"/>
                <a:cs typeface="Cambria Bold"/>
                <a:sym typeface="Cambria Bold"/>
              </a:rPr>
              <a:t>                      Gender: </a:t>
            </a:r>
            <a:r>
              <a:rPr lang="en-US" sz="1399" b="1" dirty="0" smtClean="0">
                <a:solidFill>
                  <a:srgbClr val="000000"/>
                </a:solidFill>
                <a:latin typeface="Cambria Bold"/>
                <a:ea typeface="Cambria Bold"/>
                <a:cs typeface="Cambria Bold"/>
                <a:sym typeface="Cambria Bold"/>
              </a:rPr>
              <a:t>Male</a:t>
            </a:r>
            <a:endParaRPr lang="en-US" sz="1399" b="1" dirty="0">
              <a:solidFill>
                <a:srgbClr val="000000"/>
              </a:solidFill>
              <a:latin typeface="Cambria Bold"/>
              <a:ea typeface="Cambria Bold"/>
              <a:cs typeface="Cambria Bold"/>
              <a:sym typeface="Cambria Bold"/>
            </a:endParaRP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270748" y="4132254"/>
            <a:ext cx="7334837" cy="3077766"/>
          </a:xfrm>
          <a:prstGeom prst="rect">
            <a:avLst/>
          </a:prstGeom>
        </p:spPr>
        <p:txBody>
          <a:bodyPr lIns="0" tIns="0" rIns="0" bIns="0" rtlCol="0" anchor="t">
            <a:spAutoFit/>
          </a:bodyPr>
          <a:lstStyle/>
          <a:p>
            <a:pPr algn="l">
              <a:lnSpc>
                <a:spcPts val="1679"/>
              </a:lnSpc>
            </a:pPr>
            <a:r>
              <a:rPr lang="en-US" sz="1000" b="1" u="sng" dirty="0" smtClean="0">
                <a:solidFill>
                  <a:srgbClr val="000000"/>
                </a:solidFill>
                <a:latin typeface="Cambria Bold"/>
                <a:ea typeface="Cambria Bold"/>
                <a:cs typeface="Cambria Bold"/>
                <a:sym typeface="Cambria Bold"/>
              </a:rPr>
              <a:t>Workup:</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Bp- 126/80 </a:t>
            </a:r>
            <a:r>
              <a:rPr lang="en-IN" sz="1000" b="1" dirty="0" err="1" smtClean="0">
                <a:solidFill>
                  <a:srgbClr val="000000"/>
                </a:solidFill>
                <a:latin typeface="Cambria Bold"/>
                <a:ea typeface="Cambria Bold"/>
                <a:cs typeface="Cambria Bold"/>
                <a:sym typeface="Cambria Bold"/>
              </a:rPr>
              <a:t>mmhg</a:t>
            </a:r>
            <a:r>
              <a:rPr lang="en-US" sz="1000" b="1" dirty="0" smtClean="0">
                <a:solidFill>
                  <a:srgbClr val="000000"/>
                </a:solidFill>
                <a:latin typeface="Cambria Bold"/>
                <a:ea typeface="Cambria Bold"/>
                <a:cs typeface="Cambria Bold"/>
                <a:sym typeface="Cambria Bold"/>
              </a:rPr>
              <a:t>, RR- 16/min, Spo2-98%,pulse-82bpm</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General examination-  Normal</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Patient was conscious, oriented to time, place and person</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Orthopaedic examination:</a:t>
            </a:r>
          </a:p>
          <a:p>
            <a:pPr>
              <a:lnSpc>
                <a:spcPts val="1679"/>
              </a:lnSpc>
              <a:buFont typeface="Wingdings" pitchFamily="2" charset="2"/>
              <a:buChar char="Ø"/>
            </a:pPr>
            <a:r>
              <a:rPr lang="en-IN" sz="1000" b="1" dirty="0" smtClean="0">
                <a:solidFill>
                  <a:srgbClr val="000000"/>
                </a:solidFill>
                <a:latin typeface="Cambria Bold"/>
                <a:ea typeface="Cambria Bold"/>
                <a:cs typeface="Cambria Bold"/>
                <a:sym typeface="Cambria Bold"/>
              </a:rPr>
              <a:t>Site: Left knee , </a:t>
            </a:r>
            <a:r>
              <a:rPr lang="en-IN" sz="1000" b="1" dirty="0" err="1" smtClean="0">
                <a:solidFill>
                  <a:srgbClr val="000000"/>
                </a:solidFill>
                <a:latin typeface="Cambria Bold"/>
                <a:ea typeface="Cambria Bold"/>
                <a:cs typeface="Cambria Bold"/>
                <a:sym typeface="Cambria Bold"/>
              </a:rPr>
              <a:t>Swlling</a:t>
            </a:r>
            <a:r>
              <a:rPr lang="en-IN" sz="1000" b="1" dirty="0" smtClean="0">
                <a:solidFill>
                  <a:srgbClr val="000000"/>
                </a:solidFill>
                <a:latin typeface="Cambria Bold"/>
                <a:ea typeface="Cambria Bold"/>
                <a:cs typeface="Cambria Bold"/>
                <a:sym typeface="Cambria Bold"/>
              </a:rPr>
              <a:t>+, </a:t>
            </a:r>
            <a:r>
              <a:rPr lang="en-IN" sz="1000" b="1" dirty="0" err="1" smtClean="0">
                <a:solidFill>
                  <a:srgbClr val="000000"/>
                </a:solidFill>
                <a:latin typeface="Cambria Bold"/>
                <a:ea typeface="Cambria Bold"/>
                <a:cs typeface="Cambria Bold"/>
                <a:sym typeface="Cambria Bold"/>
              </a:rPr>
              <a:t>crepitus</a:t>
            </a:r>
            <a:r>
              <a:rPr lang="en-IN" sz="1000" b="1" dirty="0" smtClean="0">
                <a:solidFill>
                  <a:srgbClr val="000000"/>
                </a:solidFill>
                <a:latin typeface="Cambria Bold"/>
                <a:ea typeface="Cambria Bold"/>
                <a:cs typeface="Cambria Bold"/>
                <a:sym typeface="Cambria Bold"/>
              </a:rPr>
              <a:t>+, Stiffness over joint+</a:t>
            </a:r>
          </a:p>
          <a:p>
            <a:r>
              <a:rPr lang="en-US" sz="1000" b="1" dirty="0" smtClean="0"/>
              <a:t> Palpation: Tenderness: grade 1 medial aspect of knee</a:t>
            </a:r>
          </a:p>
          <a:p>
            <a:r>
              <a:rPr lang="en-US" sz="1000" b="1" dirty="0" smtClean="0"/>
              <a:t>Range of motion -: Knee flexion - 135 Knee extension - 135 to 0</a:t>
            </a:r>
          </a:p>
          <a:p>
            <a:r>
              <a:rPr lang="en-US" sz="1000" b="1" dirty="0" smtClean="0"/>
              <a:t>Muscle power: Knee flexors - 5/5 Knee extensors - 4/5</a:t>
            </a:r>
          </a:p>
          <a:p>
            <a:pPr>
              <a:lnSpc>
                <a:spcPts val="1679"/>
              </a:lnSpc>
              <a:buFont typeface="Wingdings" pitchFamily="2" charset="2"/>
              <a:buChar char="Ø"/>
            </a:pPr>
            <a:r>
              <a:rPr lang="en-US" sz="1000" b="1" dirty="0" smtClean="0"/>
              <a:t>Patella apprehension test positive Patella grinding test / Clarke's sign position VMO weakness present MPFL laxity/ weak present</a:t>
            </a:r>
            <a:endParaRPr lang="en-IN" sz="1000" b="1" dirty="0" smtClean="0">
              <a:solidFill>
                <a:srgbClr val="000000"/>
              </a:solidFill>
              <a:latin typeface="Cambria Bold"/>
              <a:ea typeface="Cambria Bold"/>
              <a:cs typeface="Cambria Bold"/>
              <a:sym typeface="Cambria Bold"/>
            </a:endParaRPr>
          </a:p>
          <a:p>
            <a:pPr>
              <a:lnSpc>
                <a:spcPts val="1679"/>
              </a:lnSpc>
              <a:buFont typeface="Wingdings" pitchFamily="2" charset="2"/>
              <a:buChar char="Ø"/>
            </a:pPr>
            <a:r>
              <a:rPr lang="en-US" sz="1000" b="1" dirty="0" smtClean="0">
                <a:solidFill>
                  <a:srgbClr val="000000"/>
                </a:solidFill>
                <a:latin typeface="Cambria Bold"/>
                <a:ea typeface="Cambria Bold"/>
                <a:cs typeface="Cambria Bold"/>
                <a:sym typeface="Cambria Bold"/>
              </a:rPr>
              <a:t> </a:t>
            </a:r>
          </a:p>
          <a:p>
            <a:pPr>
              <a:lnSpc>
                <a:spcPts val="1679"/>
              </a:lnSpc>
            </a:pPr>
            <a:endParaRPr lang="en-IN" sz="1000" b="1" dirty="0" smtClean="0">
              <a:solidFill>
                <a:srgbClr val="000000"/>
              </a:solidFill>
              <a:latin typeface="Cambria Bold"/>
              <a:ea typeface="Cambria Bold"/>
              <a:cs typeface="Cambria Bold"/>
              <a:sym typeface="Cambria Bold"/>
            </a:endParaRPr>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a:p>
            <a:pPr algn="l">
              <a:lnSpc>
                <a:spcPts val="1679"/>
              </a:lnSpc>
            </a:pPr>
            <a:r>
              <a:rPr lang="en-US" sz="1000" b="1" dirty="0" smtClean="0">
                <a:solidFill>
                  <a:srgbClr val="000000"/>
                </a:solidFill>
                <a:latin typeface="Cambria"/>
                <a:ea typeface="Cambria"/>
                <a:cs typeface="Cambria"/>
                <a:sym typeface="Cambria"/>
              </a:rPr>
              <a:t> </a:t>
            </a:r>
          </a:p>
          <a:p>
            <a:pPr algn="l">
              <a:lnSpc>
                <a:spcPts val="1679"/>
              </a:lnSpc>
            </a:pPr>
            <a:r>
              <a:rPr lang="en-IN" sz="1000" b="1" dirty="0" smtClean="0">
                <a:solidFill>
                  <a:srgbClr val="000000"/>
                </a:solidFill>
                <a:latin typeface="Cambria"/>
                <a:ea typeface="Cambria"/>
                <a:cs typeface="Cambria"/>
                <a:sym typeface="Cambria"/>
              </a:rPr>
              <a:t> </a:t>
            </a:r>
            <a:endParaRPr lang="en-US" sz="1000" b="1" dirty="0">
              <a:solidFill>
                <a:srgbClr val="000000"/>
              </a:solidFill>
              <a:latin typeface="Cambria"/>
              <a:ea typeface="Cambria"/>
              <a:cs typeface="Cambria"/>
              <a:sym typeface="Cambria"/>
            </a:endParaRPr>
          </a:p>
        </p:txBody>
      </p:sp>
      <p:sp>
        <p:nvSpPr>
          <p:cNvPr id="48" name="TextBox 48"/>
          <p:cNvSpPr txBox="1"/>
          <p:nvPr/>
        </p:nvSpPr>
        <p:spPr>
          <a:xfrm>
            <a:off x="7199310" y="1631924"/>
            <a:ext cx="1563557"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70748" y="7632716"/>
            <a:ext cx="7217960" cy="198516"/>
          </a:xfrm>
          <a:prstGeom prst="rect">
            <a:avLst/>
          </a:prstGeom>
        </p:spPr>
        <p:txBody>
          <a:bodyPr lIns="0" tIns="0" rIns="0" bIns="0" rtlCol="0" anchor="t">
            <a:spAutoFit/>
          </a:bodyPr>
          <a:lstStyle/>
          <a:p>
            <a:pPr>
              <a:lnSpc>
                <a:spcPts val="1679"/>
              </a:lnSpc>
            </a:pPr>
            <a:r>
              <a:rPr lang="en-US" sz="1200" b="1" u="sng" dirty="0">
                <a:solidFill>
                  <a:srgbClr val="000000"/>
                </a:solidFill>
                <a:latin typeface="Cambria Bold"/>
                <a:ea typeface="Cambria Bold"/>
                <a:cs typeface="Cambria Bold"/>
                <a:sym typeface="Cambria Bold"/>
              </a:rPr>
              <a:t>Management / Procedure done:</a:t>
            </a:r>
            <a:r>
              <a:rPr lang="en-US" sz="1200" u="sng" dirty="0">
                <a:solidFill>
                  <a:srgbClr val="000000"/>
                </a:solidFill>
                <a:latin typeface="Cambria"/>
                <a:ea typeface="Cambria"/>
                <a:cs typeface="Cambria"/>
                <a:sym typeface="Cambria"/>
              </a:rPr>
              <a:t> </a:t>
            </a:r>
            <a:endParaRPr lang="en-US" sz="1200" u="sng" dirty="0" smtClean="0">
              <a:solidFill>
                <a:srgbClr val="000000"/>
              </a:solidFill>
              <a:latin typeface="Cambria"/>
              <a:ea typeface="Cambria"/>
              <a:cs typeface="Cambria"/>
              <a:sym typeface="Cambria"/>
            </a:endParaRPr>
          </a:p>
        </p:txBody>
      </p:sp>
      <p:sp>
        <p:nvSpPr>
          <p:cNvPr id="50" name="TextBox 50"/>
          <p:cNvSpPr txBox="1"/>
          <p:nvPr/>
        </p:nvSpPr>
        <p:spPr>
          <a:xfrm>
            <a:off x="7270748" y="6275394"/>
            <a:ext cx="2948172" cy="198516"/>
          </a:xfrm>
          <a:prstGeom prst="rect">
            <a:avLst/>
          </a:prstGeom>
        </p:spPr>
        <p:txBody>
          <a:bodyPr lIns="0" tIns="0" rIns="0" bIns="0" rtlCol="0" anchor="t">
            <a:spAutoFit/>
          </a:bodyPr>
          <a:lstStyle/>
          <a:p>
            <a:pPr algn="l">
              <a:lnSpc>
                <a:spcPts val="1679"/>
              </a:lnSpc>
            </a:pPr>
            <a:r>
              <a:rPr lang="en-US" sz="1200" b="1" u="sng" dirty="0" smtClean="0">
                <a:solidFill>
                  <a:srgbClr val="000000"/>
                </a:solidFill>
                <a:latin typeface="Cambria Bold"/>
                <a:ea typeface="Cambria Bold"/>
                <a:cs typeface="Cambria Bold"/>
                <a:sym typeface="Cambria Bold"/>
              </a:rPr>
              <a:t>Differential diagnosis / Clinical insights :</a:t>
            </a:r>
            <a:r>
              <a:rPr lang="en-US" sz="1200" u="sng" dirty="0" smtClean="0">
                <a:solidFill>
                  <a:srgbClr val="000000"/>
                </a:solidFill>
                <a:latin typeface="Cambria"/>
                <a:ea typeface="Cambria"/>
                <a:cs typeface="Cambria"/>
                <a:sym typeface="Cambria"/>
              </a:rPr>
              <a:t> </a:t>
            </a:r>
            <a:endParaRPr lang="en-US" sz="1200" u="sng" dirty="0">
              <a:solidFill>
                <a:srgbClr val="000000"/>
              </a:solidFill>
              <a:latin typeface="Cambria"/>
              <a:ea typeface="Cambria"/>
              <a:cs typeface="Cambria"/>
              <a:sym typeface="Cambria"/>
            </a:endParaRPr>
          </a:p>
        </p:txBody>
      </p:sp>
      <p:sp>
        <p:nvSpPr>
          <p:cNvPr id="51" name="TextBox 50"/>
          <p:cNvSpPr txBox="1"/>
          <p:nvPr/>
        </p:nvSpPr>
        <p:spPr>
          <a:xfrm>
            <a:off x="7199310" y="1846238"/>
            <a:ext cx="5143536" cy="3323987"/>
          </a:xfrm>
          <a:prstGeom prst="rect">
            <a:avLst/>
          </a:prstGeom>
          <a:noFill/>
        </p:spPr>
        <p:txBody>
          <a:bodyPr wrap="square" rtlCol="0">
            <a:spAutoFit/>
          </a:bodyPr>
          <a:lstStyle/>
          <a:p>
            <a:r>
              <a:rPr lang="en-US" sz="1400" b="1" dirty="0" smtClean="0"/>
              <a:t>CHIEF </a:t>
            </a:r>
            <a:r>
              <a:rPr lang="en-US" sz="1400" b="1" dirty="0" err="1" smtClean="0"/>
              <a:t>COMPLAINTS</a:t>
            </a:r>
            <a:r>
              <a:rPr lang="en-US" sz="1400" dirty="0" err="1" smtClean="0"/>
              <a:t>:Patient</a:t>
            </a:r>
            <a:r>
              <a:rPr lang="en-US" sz="1400" dirty="0" smtClean="0"/>
              <a:t> came with complaint of left knee pain for past 10 day</a:t>
            </a:r>
            <a:r>
              <a:rPr lang="en-US" sz="1400" b="1" dirty="0" smtClean="0"/>
              <a:t>s</a:t>
            </a:r>
          </a:p>
          <a:p>
            <a:r>
              <a:rPr lang="en-US" sz="1400" b="1" dirty="0" smtClean="0"/>
              <a:t>HISTORY OF PRESENTING ILLNESS: </a:t>
            </a:r>
            <a:r>
              <a:rPr lang="en-US" sz="1400" dirty="0" smtClean="0"/>
              <a:t>Patient came with complaint of left knee pain for past 10 days, sudden in onset progressive in nature aggravating on night and no relieving factors. H/o swelling over the region, pain over the phalanges, </a:t>
            </a:r>
            <a:r>
              <a:rPr lang="en-US" sz="1400" dirty="0" err="1" smtClean="0"/>
              <a:t>crepitus</a:t>
            </a:r>
            <a:r>
              <a:rPr lang="en-US" sz="1400" dirty="0" smtClean="0"/>
              <a:t>. No h/o shoulder pain, headache</a:t>
            </a:r>
            <a:endParaRPr lang="en-US" sz="1400" b="1" dirty="0" smtClean="0"/>
          </a:p>
          <a:p>
            <a:r>
              <a:rPr lang="en-US" sz="1400" b="1" dirty="0" smtClean="0"/>
              <a:t>PAST MEDICAL / SURGICAL HISTORY: </a:t>
            </a:r>
            <a:r>
              <a:rPr lang="en-US" sz="1400" dirty="0" smtClean="0"/>
              <a:t>Patient is a known case of knee osteoarthritis for past 3 months, known case of diabetes/ </a:t>
            </a:r>
            <a:r>
              <a:rPr lang="en-US" sz="1400" dirty="0" err="1" smtClean="0"/>
              <a:t>Percutaneous</a:t>
            </a:r>
            <a:r>
              <a:rPr lang="en-US" sz="1400" dirty="0" smtClean="0"/>
              <a:t> </a:t>
            </a:r>
            <a:r>
              <a:rPr lang="en-US" sz="1400" dirty="0" err="1" smtClean="0"/>
              <a:t>Nephrolithotomy</a:t>
            </a:r>
            <a:r>
              <a:rPr lang="en-US" sz="1400" dirty="0" smtClean="0"/>
              <a:t> is done</a:t>
            </a:r>
          </a:p>
          <a:p>
            <a:endParaRPr lang="en-US" sz="1400" dirty="0" smtClean="0"/>
          </a:p>
          <a:p>
            <a:endParaRPr lang="en-US" sz="1400" dirty="0" smtClean="0"/>
          </a:p>
          <a:p>
            <a:endParaRPr lang="en-US" sz="1400" dirty="0" smtClean="0"/>
          </a:p>
          <a:p>
            <a:endParaRPr lang="en-US" sz="1400" dirty="0" smtClean="0"/>
          </a:p>
          <a:p>
            <a:endParaRPr lang="en-US" sz="1400" b="1" dirty="0"/>
          </a:p>
        </p:txBody>
      </p:sp>
      <p:sp>
        <p:nvSpPr>
          <p:cNvPr id="53" name="TextBox 50"/>
          <p:cNvSpPr txBox="1"/>
          <p:nvPr/>
        </p:nvSpPr>
        <p:spPr>
          <a:xfrm>
            <a:off x="7270748" y="6489708"/>
            <a:ext cx="3000396" cy="1090042"/>
          </a:xfrm>
          <a:prstGeom prst="rect">
            <a:avLst/>
          </a:prstGeom>
        </p:spPr>
        <p:txBody>
          <a:bodyPr wrap="square" lIns="0" tIns="0" rIns="0" bIns="0" rtlCol="0" anchor="t">
            <a:spAutoFit/>
          </a:bodyPr>
          <a:lstStyle/>
          <a:p>
            <a:pPr>
              <a:lnSpc>
                <a:spcPts val="1679"/>
              </a:lnSpc>
              <a:buFont typeface="Arial" pitchFamily="34" charset="0"/>
              <a:buChar char="•"/>
            </a:pPr>
            <a:r>
              <a:rPr lang="en-US" sz="1200" dirty="0" smtClean="0"/>
              <a:t>Rheumatoid arthritis</a:t>
            </a:r>
          </a:p>
          <a:p>
            <a:pPr>
              <a:lnSpc>
                <a:spcPts val="1679"/>
              </a:lnSpc>
              <a:buFont typeface="Arial" pitchFamily="34" charset="0"/>
              <a:buChar char="•"/>
            </a:pPr>
            <a:r>
              <a:rPr lang="en-US" sz="1200" dirty="0" smtClean="0"/>
              <a:t>Psoriatic arthritis</a:t>
            </a:r>
          </a:p>
          <a:p>
            <a:pPr>
              <a:lnSpc>
                <a:spcPts val="1679"/>
              </a:lnSpc>
              <a:buFont typeface="Arial" pitchFamily="34" charset="0"/>
              <a:buChar char="•"/>
            </a:pPr>
            <a:r>
              <a:rPr lang="en-US" sz="1200" dirty="0" smtClean="0"/>
              <a:t>Psoriatic arthritis</a:t>
            </a:r>
          </a:p>
          <a:p>
            <a:pPr>
              <a:lnSpc>
                <a:spcPts val="1679"/>
              </a:lnSpc>
              <a:buFont typeface="Arial" pitchFamily="34" charset="0"/>
              <a:buChar char="•"/>
            </a:pPr>
            <a:r>
              <a:rPr lang="en-US" sz="1200" dirty="0" smtClean="0"/>
              <a:t>Septic arthritis</a:t>
            </a:r>
          </a:p>
          <a:p>
            <a:pPr>
              <a:lnSpc>
                <a:spcPts val="1679"/>
              </a:lnSpc>
              <a:buFont typeface="Arial" pitchFamily="34" charset="0"/>
              <a:buChar char="•"/>
            </a:pPr>
            <a:r>
              <a:rPr lang="en-US" sz="1200" dirty="0" err="1" smtClean="0"/>
              <a:t>Meniscal</a:t>
            </a:r>
            <a:r>
              <a:rPr lang="en-US" sz="1200" dirty="0" smtClean="0"/>
              <a:t> tear</a:t>
            </a:r>
            <a:endParaRPr lang="en-US" sz="1200" dirty="0">
              <a:solidFill>
                <a:srgbClr val="000000"/>
              </a:solidFill>
              <a:latin typeface="Cambria"/>
              <a:ea typeface="Cambria"/>
              <a:cs typeface="Cambria"/>
              <a:sym typeface="Cambria"/>
            </a:endParaRPr>
          </a:p>
        </p:txBody>
      </p:sp>
      <p:sp>
        <p:nvSpPr>
          <p:cNvPr id="55" name="TextBox 49"/>
          <p:cNvSpPr txBox="1"/>
          <p:nvPr/>
        </p:nvSpPr>
        <p:spPr>
          <a:xfrm>
            <a:off x="7270748" y="7918468"/>
            <a:ext cx="7217960" cy="1744067"/>
          </a:xfrm>
          <a:prstGeom prst="rect">
            <a:avLst/>
          </a:prstGeom>
        </p:spPr>
        <p:txBody>
          <a:bodyPr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Patient was advised to take </a:t>
            </a:r>
            <a:r>
              <a:rPr lang="en-IN" sz="1200" dirty="0" err="1" smtClean="0">
                <a:solidFill>
                  <a:srgbClr val="000000"/>
                </a:solidFill>
                <a:latin typeface="Cambria"/>
                <a:ea typeface="Cambria"/>
                <a:cs typeface="Cambria"/>
                <a:sym typeface="Cambria"/>
              </a:rPr>
              <a:t>xray</a:t>
            </a:r>
            <a:r>
              <a:rPr lang="en-IN" sz="1200" dirty="0" smtClean="0">
                <a:solidFill>
                  <a:srgbClr val="000000"/>
                </a:solidFill>
                <a:latin typeface="Cambria"/>
                <a:ea typeface="Cambria"/>
                <a:cs typeface="Cambria"/>
                <a:sym typeface="Cambria"/>
              </a:rPr>
              <a:t> left knee AP/lateral</a:t>
            </a:r>
          </a:p>
          <a:p>
            <a:pPr>
              <a:lnSpc>
                <a:spcPts val="1679"/>
              </a:lnSpc>
              <a:buFont typeface="Arial" pitchFamily="34" charset="0"/>
              <a:buChar char="•"/>
            </a:pPr>
            <a:r>
              <a:rPr lang="en-IN" sz="1200" dirty="0" err="1" smtClean="0">
                <a:solidFill>
                  <a:srgbClr val="000000"/>
                </a:solidFill>
                <a:latin typeface="Cambria"/>
                <a:ea typeface="Cambria"/>
                <a:cs typeface="Cambria"/>
                <a:sym typeface="Cambria"/>
              </a:rPr>
              <a:t>Xray</a:t>
            </a:r>
            <a:r>
              <a:rPr lang="en-IN" sz="1200" dirty="0" smtClean="0">
                <a:solidFill>
                  <a:srgbClr val="000000"/>
                </a:solidFill>
                <a:latin typeface="Cambria"/>
                <a:ea typeface="Cambria"/>
                <a:cs typeface="Cambria"/>
                <a:sym typeface="Cambria"/>
              </a:rPr>
              <a:t> shows narrow joint space, </a:t>
            </a:r>
            <a:r>
              <a:rPr lang="en-IN" sz="1200" dirty="0" err="1" smtClean="0">
                <a:solidFill>
                  <a:srgbClr val="000000"/>
                </a:solidFill>
                <a:latin typeface="Cambria"/>
                <a:ea typeface="Cambria"/>
                <a:cs typeface="Cambria"/>
                <a:sym typeface="Cambria"/>
              </a:rPr>
              <a:t>osteocytes</a:t>
            </a:r>
            <a:r>
              <a:rPr lang="en-IN" sz="1200" dirty="0" smtClean="0">
                <a:solidFill>
                  <a:srgbClr val="000000"/>
                </a:solidFill>
                <a:latin typeface="Cambria"/>
                <a:ea typeface="Cambria"/>
                <a:cs typeface="Cambria"/>
                <a:sym typeface="Cambria"/>
              </a:rPr>
              <a:t>, </a:t>
            </a:r>
            <a:r>
              <a:rPr lang="en-IN" sz="1200" dirty="0" err="1" smtClean="0">
                <a:solidFill>
                  <a:srgbClr val="000000"/>
                </a:solidFill>
                <a:latin typeface="Cambria"/>
                <a:ea typeface="Cambria"/>
                <a:cs typeface="Cambria"/>
                <a:sym typeface="Cambria"/>
              </a:rPr>
              <a:t>subchondral</a:t>
            </a:r>
            <a:r>
              <a:rPr lang="en-IN" sz="1200" dirty="0" smtClean="0">
                <a:solidFill>
                  <a:srgbClr val="000000"/>
                </a:solidFill>
                <a:latin typeface="Cambria"/>
                <a:ea typeface="Cambria"/>
                <a:cs typeface="Cambria"/>
                <a:sym typeface="Cambria"/>
              </a:rPr>
              <a:t> sclerosis</a:t>
            </a:r>
          </a:p>
          <a:p>
            <a:pPr>
              <a:lnSpc>
                <a:spcPts val="1679"/>
              </a:lnSpc>
              <a:buFont typeface="Arial" pitchFamily="34" charset="0"/>
              <a:buChar char="•"/>
            </a:pPr>
            <a:r>
              <a:rPr lang="en-US" sz="1200" dirty="0" smtClean="0"/>
              <a:t>Tab. </a:t>
            </a:r>
            <a:r>
              <a:rPr lang="en-US" sz="1200" dirty="0" err="1" smtClean="0"/>
              <a:t>Jointache</a:t>
            </a:r>
            <a:r>
              <a:rPr lang="en-US" sz="1200" dirty="0" smtClean="0"/>
              <a:t> DM OD for 15 days</a:t>
            </a:r>
          </a:p>
          <a:p>
            <a:pPr>
              <a:lnSpc>
                <a:spcPts val="1679"/>
              </a:lnSpc>
              <a:buFont typeface="Arial" pitchFamily="34" charset="0"/>
              <a:buChar char="•"/>
            </a:pPr>
            <a:r>
              <a:rPr lang="en-US" sz="1200" dirty="0" smtClean="0"/>
              <a:t>Tab. </a:t>
            </a:r>
            <a:r>
              <a:rPr lang="en-US" sz="1200" dirty="0" err="1" smtClean="0"/>
              <a:t>Combiflam</a:t>
            </a:r>
            <a:r>
              <a:rPr lang="en-US" sz="1200" dirty="0" smtClean="0"/>
              <a:t> BD for 5 days </a:t>
            </a:r>
          </a:p>
          <a:p>
            <a:pPr>
              <a:lnSpc>
                <a:spcPts val="1679"/>
              </a:lnSpc>
              <a:buFont typeface="Arial" pitchFamily="34" charset="0"/>
              <a:buChar char="•"/>
            </a:pPr>
            <a:r>
              <a:rPr lang="en-US" sz="1200" dirty="0" smtClean="0"/>
              <a:t>Tab. Pan 40mg for 5 days </a:t>
            </a:r>
          </a:p>
          <a:p>
            <a:pPr>
              <a:lnSpc>
                <a:spcPts val="1679"/>
              </a:lnSpc>
              <a:buFont typeface="Arial" pitchFamily="34" charset="0"/>
              <a:buChar char="•"/>
            </a:pPr>
            <a:r>
              <a:rPr lang="en-US" sz="1200" dirty="0" err="1" smtClean="0"/>
              <a:t>Diclo</a:t>
            </a:r>
            <a:r>
              <a:rPr lang="en-US" sz="1200" dirty="0" smtClean="0"/>
              <a:t> gel</a:t>
            </a:r>
            <a:endParaRPr lang="en-IN" sz="1200" dirty="0" smtClean="0">
              <a:solidFill>
                <a:srgbClr val="000000"/>
              </a:solidFill>
              <a:latin typeface="Cambria"/>
              <a:ea typeface="Cambria"/>
              <a:cs typeface="Cambria"/>
              <a:sym typeface="Cambria"/>
            </a:endParaRPr>
          </a:p>
          <a:p>
            <a:pPr>
              <a:lnSpc>
                <a:spcPts val="1679"/>
              </a:lnSpc>
              <a:buFont typeface="Arial" pitchFamily="34" charset="0"/>
              <a:buChar char="•"/>
            </a:pPr>
            <a:endParaRPr lang="en-IN" sz="1200" b="1" dirty="0" smtClean="0">
              <a:solidFill>
                <a:srgbClr val="000000"/>
              </a:solidFill>
              <a:latin typeface="Cambria"/>
              <a:ea typeface="Cambria"/>
              <a:cs typeface="Cambria"/>
              <a:sym typeface="Cambria"/>
            </a:endParaRPr>
          </a:p>
          <a:p>
            <a:pPr>
              <a:lnSpc>
                <a:spcPts val="1679"/>
              </a:lnSpc>
              <a:buFont typeface="Arial" pitchFamily="34" charset="0"/>
              <a:buChar char="•"/>
            </a:pPr>
            <a:endParaRPr lang="en-US" sz="1200" b="1" dirty="0" smtClean="0">
              <a:solidFill>
                <a:srgbClr val="000000"/>
              </a:solidFill>
              <a:latin typeface="Cambria"/>
              <a:ea typeface="Cambria"/>
              <a:cs typeface="Cambria"/>
              <a:sym typeface="Cambria"/>
            </a:endParaRPr>
          </a:p>
        </p:txBody>
      </p:sp>
      <p:sp>
        <p:nvSpPr>
          <p:cNvPr id="54" name="TextBox 53"/>
          <p:cNvSpPr txBox="1"/>
          <p:nvPr/>
        </p:nvSpPr>
        <p:spPr>
          <a:xfrm>
            <a:off x="11199838" y="4346568"/>
            <a:ext cx="3357586" cy="1015663"/>
          </a:xfrm>
          <a:prstGeom prst="rect">
            <a:avLst/>
          </a:prstGeom>
          <a:noFill/>
        </p:spPr>
        <p:txBody>
          <a:bodyPr wrap="square" rtlCol="0">
            <a:spAutoFit/>
          </a:bodyPr>
          <a:lstStyle/>
          <a:p>
            <a:r>
              <a:rPr lang="en-US" sz="1000" b="1" dirty="0" smtClean="0"/>
              <a:t>RS ; NVBS, trachea appears to be in midline, equal chest movements, no wheeze</a:t>
            </a:r>
          </a:p>
          <a:p>
            <a:r>
              <a:rPr lang="en-US" sz="1000" b="1" dirty="0" smtClean="0"/>
              <a:t>Abdomen: soft, non tender, no </a:t>
            </a:r>
            <a:r>
              <a:rPr lang="en-US" sz="1000" b="1" dirty="0" err="1" smtClean="0"/>
              <a:t>organomegaly</a:t>
            </a:r>
            <a:endParaRPr lang="en-US" sz="1000" b="1" dirty="0" smtClean="0"/>
          </a:p>
          <a:p>
            <a:r>
              <a:rPr lang="en-US" sz="1000" b="1" dirty="0" smtClean="0"/>
              <a:t>CNS : no focal neurological deficit</a:t>
            </a:r>
          </a:p>
          <a:p>
            <a:r>
              <a:rPr lang="en-US" sz="1000" b="1" dirty="0" smtClean="0"/>
              <a:t>CVS: S1S2 heard, apical impulse seen on 5th </a:t>
            </a:r>
            <a:r>
              <a:rPr lang="en-US" sz="1000" b="1" dirty="0" err="1" smtClean="0"/>
              <a:t>intercoastal</a:t>
            </a:r>
            <a:r>
              <a:rPr lang="en-US" sz="1000" b="1" dirty="0" smtClean="0"/>
              <a:t> space</a:t>
            </a:r>
            <a:endParaRPr lang="en-US" sz="1000" b="1" dirty="0"/>
          </a:p>
        </p:txBody>
      </p:sp>
      <p:pic>
        <p:nvPicPr>
          <p:cNvPr id="3074" name="Picture 2"/>
          <p:cNvPicPr>
            <a:picLocks noChangeAspect="1" noChangeArrowheads="1"/>
          </p:cNvPicPr>
          <p:nvPr/>
        </p:nvPicPr>
        <p:blipFill>
          <a:blip r:embed="rId3"/>
          <a:srcRect/>
          <a:stretch>
            <a:fillRect/>
          </a:stretch>
        </p:blipFill>
        <p:spPr bwMode="auto">
          <a:xfrm>
            <a:off x="12485722" y="1631924"/>
            <a:ext cx="2143140" cy="2428892"/>
          </a:xfrm>
          <a:prstGeom prst="rect">
            <a:avLst/>
          </a:prstGeom>
          <a:noFill/>
          <a:ln w="9525">
            <a:noFill/>
            <a:miter lim="800000"/>
            <a:headEnd/>
            <a:tailEnd/>
          </a:ln>
          <a:effectLst/>
        </p:spPr>
      </p:pic>
      <p:pic>
        <p:nvPicPr>
          <p:cNvPr id="3075" name="Picture 3"/>
          <p:cNvPicPr>
            <a:picLocks noChangeAspect="1" noChangeArrowheads="1"/>
          </p:cNvPicPr>
          <p:nvPr/>
        </p:nvPicPr>
        <p:blipFill>
          <a:blip r:embed="rId4"/>
          <a:srcRect/>
          <a:stretch>
            <a:fillRect/>
          </a:stretch>
        </p:blipFill>
        <p:spPr bwMode="auto">
          <a:xfrm>
            <a:off x="412700" y="1489048"/>
            <a:ext cx="6572296" cy="742955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412700" y="1489048"/>
            <a:ext cx="14251939" cy="8328140"/>
            <a:chOff x="63500" y="63500"/>
            <a:chExt cx="14251939" cy="832814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118302"/>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5"/>
              <a:ext cx="7475347" cy="1980256"/>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38951" y="6503691"/>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860617"/>
              <a:ext cx="7475347" cy="1285884"/>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6" name="Freeform 16"/>
            <p:cNvSpPr/>
            <p:nvPr/>
          </p:nvSpPr>
          <p:spPr>
            <a:xfrm>
              <a:off x="6838951" y="6575129"/>
              <a:ext cx="7456805" cy="1816511"/>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6217939"/>
              <a:ext cx="7466330" cy="1714512"/>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2" name="TextBox 22"/>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3</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3" name="TextBox 23"/>
          <p:cNvSpPr txBox="1"/>
          <p:nvPr/>
        </p:nvSpPr>
        <p:spPr>
          <a:xfrm>
            <a:off x="912766" y="417478"/>
            <a:ext cx="2286000"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BALARAM.S</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2344400" y="400507"/>
            <a:ext cx="1195149"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 </a:t>
            </a:r>
            <a:endParaRPr lang="en-US" sz="1100" b="1" dirty="0">
              <a:solidFill>
                <a:srgbClr val="000000"/>
              </a:solidFill>
              <a:latin typeface="Calibri (MS) Bold"/>
              <a:ea typeface="Calibri (MS) Bold"/>
              <a:cs typeface="Calibri (MS) Bold"/>
              <a:sym typeface="Calibri (MS) Bold"/>
            </a:endParaRPr>
          </a:p>
        </p:txBody>
      </p:sp>
      <p:sp>
        <p:nvSpPr>
          <p:cNvPr id="26" name="TextBox 26"/>
          <p:cNvSpPr txBox="1"/>
          <p:nvPr/>
        </p:nvSpPr>
        <p:spPr>
          <a:xfrm>
            <a:off x="677320" y="953995"/>
            <a:ext cx="2893648" cy="256480"/>
          </a:xfrm>
          <a:prstGeom prst="rect">
            <a:avLst/>
          </a:prstGeom>
        </p:spPr>
        <p:txBody>
          <a:bodyPr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4 </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PID:  </a:t>
            </a:r>
            <a:r>
              <a:rPr lang="en-US" sz="1400" dirty="0" smtClean="0"/>
              <a:t> 230727113410</a:t>
            </a:r>
            <a:endParaRPr lang="en-US" sz="1399" b="1" dirty="0">
              <a:solidFill>
                <a:srgbClr val="000000"/>
              </a:solidFill>
              <a:latin typeface="Cambria Bold"/>
              <a:ea typeface="Cambria Bold"/>
              <a:cs typeface="Cambria Bold"/>
              <a:sym typeface="Cambria Bold"/>
            </a:endParaRP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2555840" y="274602"/>
            <a:ext cx="10144196" cy="371897"/>
          </a:xfrm>
          <a:prstGeom prst="rect">
            <a:avLst/>
          </a:prstGeom>
        </p:spPr>
        <p:txBody>
          <a:bodyPr wrap="square" lIns="0" tIns="0" rIns="0" bIns="0" rtlCol="0" anchor="t">
            <a:spAutoFit/>
          </a:bodyPr>
          <a:lstStyle/>
          <a:p>
            <a:pPr algn="ctr">
              <a:lnSpc>
                <a:spcPts val="2921"/>
              </a:lnSpc>
            </a:pPr>
            <a:r>
              <a:rPr lang="en-US" sz="2199" b="1" i="1" dirty="0">
                <a:solidFill>
                  <a:srgbClr val="000000"/>
                </a:solidFill>
                <a:latin typeface="Cambria Bold Italics"/>
                <a:ea typeface="Cambria Bold Italics"/>
                <a:cs typeface="Cambria Bold Italics"/>
                <a:sym typeface="Cambria Bold Italics"/>
              </a:rPr>
              <a:t>A case </a:t>
            </a:r>
            <a:r>
              <a:rPr lang="en-US" sz="2199" b="1" i="1" dirty="0" smtClean="0">
                <a:solidFill>
                  <a:srgbClr val="000000"/>
                </a:solidFill>
                <a:latin typeface="Cambria Bold Italics"/>
                <a:ea typeface="Cambria Bold Italics"/>
                <a:cs typeface="Cambria Bold Italics"/>
                <a:sym typeface="Cambria Bold Italics"/>
              </a:rPr>
              <a:t>of  </a:t>
            </a:r>
            <a:r>
              <a:rPr lang="it-IT" sz="2400" b="1" i="1" dirty="0" smtClean="0">
                <a:solidFill>
                  <a:srgbClr val="000000"/>
                </a:solidFill>
                <a:latin typeface="Cambria Bold Italics" charset="0"/>
                <a:ea typeface="Cambria Bold Italics"/>
                <a:cs typeface="Cambria Bold Italics"/>
                <a:sym typeface="Cambria Bold Italics"/>
              </a:rPr>
              <a:t>s</a:t>
            </a:r>
            <a:r>
              <a:rPr lang="it-IT" sz="2400" b="1" dirty="0" smtClean="0">
                <a:latin typeface="Cambria Bold Italics" charset="0"/>
              </a:rPr>
              <a:t>pondylosis</a:t>
            </a:r>
            <a:endParaRPr lang="en-US" sz="2199" b="1" i="1" dirty="0">
              <a:solidFill>
                <a:srgbClr val="000000"/>
              </a:solidFill>
              <a:latin typeface="Cambria Bold" charset="0"/>
              <a:ea typeface="Cambria Bold Italics"/>
              <a:cs typeface="Cambria Bold Italics"/>
              <a:sym typeface="Cambria Bold Italics"/>
            </a:endParaRPr>
          </a:p>
        </p:txBody>
      </p:sp>
      <p:sp>
        <p:nvSpPr>
          <p:cNvPr id="31" name="TextBox 31"/>
          <p:cNvSpPr txBox="1"/>
          <p:nvPr/>
        </p:nvSpPr>
        <p:spPr>
          <a:xfrm>
            <a:off x="3200400" y="811120"/>
            <a:ext cx="11163835" cy="448841"/>
          </a:xfrm>
          <a:prstGeom prst="rect">
            <a:avLst/>
          </a:prstGeom>
        </p:spPr>
        <p:txBody>
          <a:bodyPr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a:t>
            </a:r>
            <a:r>
              <a:rPr lang="en-US" sz="1399" b="1" dirty="0" smtClean="0">
                <a:solidFill>
                  <a:srgbClr val="000000"/>
                </a:solidFill>
                <a:latin typeface="Cambria Bold"/>
                <a:ea typeface="Cambria Bold"/>
                <a:cs typeface="Cambria Bold"/>
                <a:sym typeface="Cambria Bold"/>
              </a:rPr>
              <a:t>: </a:t>
            </a:r>
            <a:r>
              <a:rPr lang="en-US" sz="1600" b="1" dirty="0">
                <a:solidFill>
                  <a:srgbClr val="000000"/>
                </a:solidFill>
                <a:latin typeface="Cambria Bold"/>
                <a:ea typeface="Cambria Bold"/>
                <a:cs typeface="Cambria Bold"/>
                <a:sym typeface="Cambria Bold"/>
              </a:rPr>
              <a:t>  </a:t>
            </a:r>
            <a:r>
              <a:rPr lang="en-US" sz="1600" b="1" dirty="0" smtClean="0">
                <a:solidFill>
                  <a:srgbClr val="000000"/>
                </a:solidFill>
                <a:latin typeface="Cambria Bold"/>
                <a:ea typeface="Cambria Bold"/>
                <a:cs typeface="Cambria Bold"/>
                <a:sym typeface="Cambria Bold"/>
              </a:rPr>
              <a:t>ANITHA H</a:t>
            </a:r>
            <a:r>
              <a:rPr lang="en-US" sz="1399" b="1" dirty="0" smtClean="0">
                <a:solidFill>
                  <a:srgbClr val="000000"/>
                </a:solidFill>
                <a:latin typeface="Cambria Bold"/>
                <a:ea typeface="Cambria Bold"/>
                <a:cs typeface="Cambria Bold"/>
                <a:sym typeface="Cambria Bold"/>
              </a:rPr>
              <a:t> </a:t>
            </a:r>
            <a:r>
              <a:rPr lang="en-US" sz="1399" b="1" dirty="0">
                <a:solidFill>
                  <a:srgbClr val="000000"/>
                </a:solidFill>
                <a:latin typeface="Cambria Bold"/>
                <a:ea typeface="Cambria Bold"/>
                <a:cs typeface="Cambria Bold"/>
                <a:sym typeface="Cambria Bold"/>
              </a:rPr>
              <a:t>                                                                         Age</a:t>
            </a:r>
            <a:r>
              <a:rPr lang="en-US" sz="1399" b="1" dirty="0" smtClean="0">
                <a:solidFill>
                  <a:srgbClr val="000000"/>
                </a:solidFill>
                <a:latin typeface="Cambria Bold"/>
                <a:ea typeface="Cambria Bold"/>
                <a:cs typeface="Cambria Bold"/>
                <a:sym typeface="Cambria Bold"/>
              </a:rPr>
              <a:t>: 35  </a:t>
            </a:r>
            <a:r>
              <a:rPr lang="en-US" sz="1399" b="1" dirty="0">
                <a:solidFill>
                  <a:srgbClr val="000000"/>
                </a:solidFill>
                <a:latin typeface="Cambria Bold"/>
                <a:ea typeface="Cambria Bold"/>
                <a:cs typeface="Cambria Bold"/>
                <a:sym typeface="Cambria Bold"/>
              </a:rPr>
              <a:t>                      Gender: </a:t>
            </a:r>
            <a:r>
              <a:rPr lang="en-US" sz="1399" b="1" dirty="0" smtClean="0">
                <a:solidFill>
                  <a:srgbClr val="000000"/>
                </a:solidFill>
                <a:latin typeface="Cambria Bold"/>
                <a:ea typeface="Cambria Bold"/>
                <a:cs typeface="Cambria Bold"/>
                <a:sym typeface="Cambria Bold"/>
              </a:rPr>
              <a:t>Female</a:t>
            </a:r>
            <a:endParaRPr lang="en-US" sz="1399" b="1" dirty="0">
              <a:solidFill>
                <a:srgbClr val="000000"/>
              </a:solidFill>
              <a:latin typeface="Cambria Bold"/>
              <a:ea typeface="Cambria Bold"/>
              <a:cs typeface="Cambria Bold"/>
              <a:sym typeface="Cambria Bold"/>
            </a:endParaRP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270748" y="4132254"/>
            <a:ext cx="7334837" cy="3167534"/>
          </a:xfrm>
          <a:prstGeom prst="rect">
            <a:avLst/>
          </a:prstGeom>
        </p:spPr>
        <p:txBody>
          <a:bodyPr lIns="0" tIns="0" rIns="0" bIns="0" rtlCol="0" anchor="t">
            <a:spAutoFit/>
          </a:bodyPr>
          <a:lstStyle/>
          <a:p>
            <a:pPr algn="l">
              <a:lnSpc>
                <a:spcPts val="1679"/>
              </a:lnSpc>
            </a:pPr>
            <a:r>
              <a:rPr lang="en-US" sz="1000" b="1" dirty="0" smtClean="0">
                <a:solidFill>
                  <a:srgbClr val="000000"/>
                </a:solidFill>
                <a:latin typeface="Cambria Bold"/>
                <a:ea typeface="Cambria Bold"/>
                <a:cs typeface="Cambria Bold"/>
                <a:sym typeface="Cambria Bold"/>
              </a:rPr>
              <a:t>Workup:</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Bp- 90/60 </a:t>
            </a:r>
            <a:r>
              <a:rPr lang="en-IN" sz="1000" b="1" dirty="0" err="1" smtClean="0">
                <a:solidFill>
                  <a:srgbClr val="000000"/>
                </a:solidFill>
                <a:latin typeface="Cambria Bold"/>
                <a:ea typeface="Cambria Bold"/>
                <a:cs typeface="Cambria Bold"/>
                <a:sym typeface="Cambria Bold"/>
              </a:rPr>
              <a:t>mmhg</a:t>
            </a:r>
            <a:r>
              <a:rPr lang="en-US" sz="1000" b="1" dirty="0" smtClean="0">
                <a:solidFill>
                  <a:srgbClr val="000000"/>
                </a:solidFill>
                <a:latin typeface="Cambria Bold"/>
                <a:ea typeface="Cambria Bold"/>
                <a:cs typeface="Cambria Bold"/>
                <a:sym typeface="Cambria Bold"/>
              </a:rPr>
              <a:t>, RR- 16/min, Spo2-98%,pulse-82bpm</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General examination-  Normal</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Patient was conscious, oriented to time, place and person</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Orthopaedic examination:</a:t>
            </a:r>
          </a:p>
          <a:p>
            <a:pPr>
              <a:lnSpc>
                <a:spcPts val="1679"/>
              </a:lnSpc>
              <a:buFont typeface="Wingdings" pitchFamily="2" charset="2"/>
              <a:buChar char="Ø"/>
            </a:pPr>
            <a:r>
              <a:rPr lang="en-IN" sz="1000" b="1" dirty="0" smtClean="0">
                <a:solidFill>
                  <a:srgbClr val="000000"/>
                </a:solidFill>
                <a:latin typeface="Cambria Bold"/>
                <a:ea typeface="Cambria Bold"/>
                <a:cs typeface="Cambria Bold"/>
                <a:sym typeface="Cambria Bold"/>
              </a:rPr>
              <a:t>Site: neck (upper </a:t>
            </a:r>
            <a:r>
              <a:rPr lang="en-IN" sz="1000" b="1" dirty="0" err="1" smtClean="0">
                <a:solidFill>
                  <a:srgbClr val="000000"/>
                </a:solidFill>
                <a:latin typeface="Cambria Bold"/>
                <a:ea typeface="Cambria Bold"/>
                <a:cs typeface="Cambria Bold"/>
                <a:sym typeface="Cambria Bold"/>
              </a:rPr>
              <a:t>trapezius</a:t>
            </a:r>
            <a:r>
              <a:rPr lang="en-IN" sz="1000" b="1" dirty="0" smtClean="0">
                <a:solidFill>
                  <a:srgbClr val="000000"/>
                </a:solidFill>
                <a:latin typeface="Cambria Bold"/>
                <a:ea typeface="Cambria Bold"/>
                <a:cs typeface="Cambria Bold"/>
                <a:sym typeface="Cambria Bold"/>
              </a:rPr>
              <a:t>)</a:t>
            </a:r>
          </a:p>
          <a:p>
            <a:pPr>
              <a:buFont typeface="Wingdings" pitchFamily="2" charset="2"/>
              <a:buChar char="Ø"/>
            </a:pPr>
            <a:r>
              <a:rPr lang="en-US" sz="1000" b="1" dirty="0" smtClean="0"/>
              <a:t>Side : Right</a:t>
            </a:r>
            <a:endParaRPr lang="en-US" sz="1000" dirty="0" smtClean="0"/>
          </a:p>
          <a:p>
            <a:pPr>
              <a:buFont typeface="Wingdings" pitchFamily="2" charset="2"/>
              <a:buChar char="Ø"/>
            </a:pPr>
            <a:r>
              <a:rPr lang="en-US" sz="1000" b="1" dirty="0" smtClean="0"/>
              <a:t>On Palpation:</a:t>
            </a:r>
          </a:p>
          <a:p>
            <a:pPr>
              <a:buFont typeface="Wingdings" pitchFamily="2" charset="2"/>
              <a:buChar char="Ø"/>
            </a:pPr>
            <a:r>
              <a:rPr lang="en-US" sz="1000" b="1" dirty="0" smtClean="0"/>
              <a:t>Tenderness present over neck region</a:t>
            </a:r>
          </a:p>
          <a:p>
            <a:pPr>
              <a:buFont typeface="Wingdings" pitchFamily="2" charset="2"/>
              <a:buChar char="Ø"/>
            </a:pPr>
            <a:r>
              <a:rPr lang="en-US" sz="1000" b="1" dirty="0" smtClean="0"/>
              <a:t>Range of motion -: Optimal AROM available</a:t>
            </a:r>
            <a:endParaRPr lang="en-US" sz="1000" dirty="0" smtClean="0"/>
          </a:p>
          <a:p>
            <a:endParaRPr lang="en-US" sz="1000" dirty="0" smtClean="0"/>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a:p>
            <a:pPr>
              <a:lnSpc>
                <a:spcPts val="1679"/>
              </a:lnSpc>
            </a:pPr>
            <a:endParaRPr lang="en-IN" sz="1000" b="1" dirty="0" smtClean="0">
              <a:solidFill>
                <a:srgbClr val="000000"/>
              </a:solidFill>
              <a:latin typeface="Cambria Bold"/>
              <a:ea typeface="Cambria Bold"/>
              <a:cs typeface="Cambria Bold"/>
              <a:sym typeface="Cambria Bold"/>
            </a:endParaRPr>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a:p>
            <a:pPr algn="l">
              <a:lnSpc>
                <a:spcPts val="1679"/>
              </a:lnSpc>
            </a:pPr>
            <a:r>
              <a:rPr lang="en-US" sz="1000" dirty="0" smtClean="0">
                <a:solidFill>
                  <a:srgbClr val="000000"/>
                </a:solidFill>
                <a:latin typeface="Cambria"/>
                <a:ea typeface="Cambria"/>
                <a:cs typeface="Cambria"/>
                <a:sym typeface="Cambria"/>
              </a:rPr>
              <a:t> </a:t>
            </a:r>
          </a:p>
          <a:p>
            <a:pPr algn="l">
              <a:lnSpc>
                <a:spcPts val="1679"/>
              </a:lnSpc>
            </a:pPr>
            <a:r>
              <a:rPr lang="en-IN" sz="1000" dirty="0" smtClean="0">
                <a:solidFill>
                  <a:srgbClr val="000000"/>
                </a:solidFill>
                <a:latin typeface="Cambria"/>
                <a:ea typeface="Cambria"/>
                <a:cs typeface="Cambria"/>
                <a:sym typeface="Cambria"/>
              </a:rPr>
              <a:t> </a:t>
            </a:r>
            <a:endParaRPr lang="en-US" sz="1000" dirty="0">
              <a:solidFill>
                <a:srgbClr val="000000"/>
              </a:solidFill>
              <a:latin typeface="Cambria"/>
              <a:ea typeface="Cambria"/>
              <a:cs typeface="Cambria"/>
              <a:sym typeface="Cambria"/>
            </a:endParaRPr>
          </a:p>
        </p:txBody>
      </p:sp>
      <p:sp>
        <p:nvSpPr>
          <p:cNvPr id="48" name="TextBox 48"/>
          <p:cNvSpPr txBox="1"/>
          <p:nvPr/>
        </p:nvSpPr>
        <p:spPr>
          <a:xfrm>
            <a:off x="7199310" y="1631924"/>
            <a:ext cx="1563557"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70748" y="7632716"/>
            <a:ext cx="7217960" cy="198516"/>
          </a:xfrm>
          <a:prstGeom prst="rect">
            <a:avLst/>
          </a:prstGeom>
        </p:spPr>
        <p:txBody>
          <a:bodyPr lIns="0" tIns="0" rIns="0" bIns="0" rtlCol="0" anchor="t">
            <a:spAutoFit/>
          </a:bodyPr>
          <a:lstStyle/>
          <a:p>
            <a:pPr>
              <a:lnSpc>
                <a:spcPts val="1679"/>
              </a:lnSpc>
            </a:pPr>
            <a:r>
              <a:rPr lang="en-US" sz="1200" b="1" u="sng" dirty="0">
                <a:solidFill>
                  <a:srgbClr val="000000"/>
                </a:solidFill>
                <a:latin typeface="Cambria Bold"/>
                <a:ea typeface="Cambria Bold"/>
                <a:cs typeface="Cambria Bold"/>
                <a:sym typeface="Cambria Bold"/>
              </a:rPr>
              <a:t>Management / Procedure done:</a:t>
            </a:r>
            <a:r>
              <a:rPr lang="en-US" sz="1200" u="sng" dirty="0">
                <a:solidFill>
                  <a:srgbClr val="000000"/>
                </a:solidFill>
                <a:latin typeface="Cambria"/>
                <a:ea typeface="Cambria"/>
                <a:cs typeface="Cambria"/>
                <a:sym typeface="Cambria"/>
              </a:rPr>
              <a:t> </a:t>
            </a:r>
            <a:endParaRPr lang="en-US" sz="1200" u="sng" dirty="0" smtClean="0">
              <a:solidFill>
                <a:srgbClr val="000000"/>
              </a:solidFill>
              <a:latin typeface="Cambria"/>
              <a:ea typeface="Cambria"/>
              <a:cs typeface="Cambria"/>
              <a:sym typeface="Cambria"/>
            </a:endParaRPr>
          </a:p>
        </p:txBody>
      </p:sp>
      <p:sp>
        <p:nvSpPr>
          <p:cNvPr id="50" name="TextBox 50"/>
          <p:cNvSpPr txBox="1"/>
          <p:nvPr/>
        </p:nvSpPr>
        <p:spPr>
          <a:xfrm>
            <a:off x="7270748" y="6275394"/>
            <a:ext cx="2948172" cy="198516"/>
          </a:xfrm>
          <a:prstGeom prst="rect">
            <a:avLst/>
          </a:prstGeom>
        </p:spPr>
        <p:txBody>
          <a:bodyPr lIns="0" tIns="0" rIns="0" bIns="0" rtlCol="0" anchor="t">
            <a:spAutoFit/>
          </a:bodyPr>
          <a:lstStyle/>
          <a:p>
            <a:pPr algn="l">
              <a:lnSpc>
                <a:spcPts val="1679"/>
              </a:lnSpc>
            </a:pPr>
            <a:r>
              <a:rPr lang="en-US" sz="1200" b="1" u="sng" dirty="0" smtClean="0">
                <a:solidFill>
                  <a:srgbClr val="000000"/>
                </a:solidFill>
                <a:latin typeface="Cambria Bold"/>
                <a:ea typeface="Cambria Bold"/>
                <a:cs typeface="Cambria Bold"/>
                <a:sym typeface="Cambria Bold"/>
              </a:rPr>
              <a:t>Differential diagnosis / Clinical insights :</a:t>
            </a:r>
            <a:r>
              <a:rPr lang="en-US" sz="1200" u="sng" dirty="0" smtClean="0">
                <a:solidFill>
                  <a:srgbClr val="000000"/>
                </a:solidFill>
                <a:latin typeface="Cambria"/>
                <a:ea typeface="Cambria"/>
                <a:cs typeface="Cambria"/>
                <a:sym typeface="Cambria"/>
              </a:rPr>
              <a:t> </a:t>
            </a:r>
            <a:endParaRPr lang="en-US" sz="1200" u="sng" dirty="0">
              <a:solidFill>
                <a:srgbClr val="000000"/>
              </a:solidFill>
              <a:latin typeface="Cambria"/>
              <a:ea typeface="Cambria"/>
              <a:cs typeface="Cambria"/>
              <a:sym typeface="Cambria"/>
            </a:endParaRPr>
          </a:p>
        </p:txBody>
      </p:sp>
      <p:sp>
        <p:nvSpPr>
          <p:cNvPr id="51" name="TextBox 50"/>
          <p:cNvSpPr txBox="1"/>
          <p:nvPr/>
        </p:nvSpPr>
        <p:spPr>
          <a:xfrm>
            <a:off x="7199310" y="1846238"/>
            <a:ext cx="5143536" cy="2677656"/>
          </a:xfrm>
          <a:prstGeom prst="rect">
            <a:avLst/>
          </a:prstGeom>
          <a:noFill/>
        </p:spPr>
        <p:txBody>
          <a:bodyPr wrap="square" rtlCol="0">
            <a:spAutoFit/>
          </a:bodyPr>
          <a:lstStyle/>
          <a:p>
            <a:r>
              <a:rPr lang="en-US" sz="1400" b="1" dirty="0" smtClean="0"/>
              <a:t>Chief complaints: </a:t>
            </a:r>
            <a:r>
              <a:rPr lang="en-US" sz="1400" dirty="0" smtClean="0"/>
              <a:t>Patient came with complaint of giddiness for past 1 year Complaint of neck pain for past 6 months</a:t>
            </a:r>
          </a:p>
          <a:p>
            <a:r>
              <a:rPr lang="en-US" sz="1400" b="1" dirty="0" smtClean="0"/>
              <a:t>H/O Presenting Illness: </a:t>
            </a:r>
            <a:r>
              <a:rPr lang="en-US" sz="1400" dirty="0" smtClean="0"/>
              <a:t>Patient was apparently normal before 1 year after which she developed giddiness for past 1 year, insidious in onset, progressive in nature, aggravating during work and relived on rest. H/o neck pain which is radiating to right shoulder stiffness over the fingers and toes present on early morning, headache( frontal region). No h/o fever, </a:t>
            </a:r>
            <a:r>
              <a:rPr lang="en-US" sz="1400" dirty="0" err="1" smtClean="0"/>
              <a:t>cough,ear</a:t>
            </a:r>
            <a:r>
              <a:rPr lang="en-US" sz="1400" dirty="0" smtClean="0"/>
              <a:t> and throat complaints, palpitations, chest pain.</a:t>
            </a:r>
          </a:p>
          <a:p>
            <a:endParaRPr lang="en-US" sz="1400" dirty="0" smtClean="0"/>
          </a:p>
          <a:p>
            <a:endParaRPr lang="en-US" sz="1400" dirty="0" smtClean="0"/>
          </a:p>
          <a:p>
            <a:endParaRPr lang="en-US" sz="1400" b="1" dirty="0"/>
          </a:p>
        </p:txBody>
      </p:sp>
      <p:sp>
        <p:nvSpPr>
          <p:cNvPr id="53" name="TextBox 50"/>
          <p:cNvSpPr txBox="1"/>
          <p:nvPr/>
        </p:nvSpPr>
        <p:spPr>
          <a:xfrm>
            <a:off x="7270748" y="6489708"/>
            <a:ext cx="3000396" cy="1090042"/>
          </a:xfrm>
          <a:prstGeom prst="rect">
            <a:avLst/>
          </a:prstGeom>
        </p:spPr>
        <p:txBody>
          <a:bodyPr wrap="square" lIns="0" tIns="0" rIns="0" bIns="0" rtlCol="0" anchor="t">
            <a:spAutoFit/>
          </a:bodyPr>
          <a:lstStyle/>
          <a:p>
            <a:pPr>
              <a:lnSpc>
                <a:spcPts val="1679"/>
              </a:lnSpc>
              <a:buFont typeface="Arial" pitchFamily="34" charset="0"/>
              <a:buChar char="•"/>
            </a:pPr>
            <a:r>
              <a:rPr lang="en-US" sz="1200" dirty="0" smtClean="0"/>
              <a:t>Muscular strains and sprains</a:t>
            </a:r>
          </a:p>
          <a:p>
            <a:pPr>
              <a:lnSpc>
                <a:spcPts val="1679"/>
              </a:lnSpc>
              <a:buFont typeface="Arial" pitchFamily="34" charset="0"/>
              <a:buChar char="•"/>
            </a:pPr>
            <a:r>
              <a:rPr lang="en-US" sz="1200" dirty="0" smtClean="0"/>
              <a:t>Degenerative disc disease:</a:t>
            </a:r>
          </a:p>
          <a:p>
            <a:pPr>
              <a:lnSpc>
                <a:spcPts val="1679"/>
              </a:lnSpc>
              <a:buFont typeface="Arial" pitchFamily="34" charset="0"/>
              <a:buChar char="•"/>
            </a:pPr>
            <a:r>
              <a:rPr lang="en-US" sz="1200" dirty="0" smtClean="0"/>
              <a:t>Spinal canal </a:t>
            </a:r>
            <a:r>
              <a:rPr lang="en-US" sz="1200" dirty="0" err="1" smtClean="0"/>
              <a:t>stenosis</a:t>
            </a:r>
            <a:endParaRPr lang="en-US" sz="1200" dirty="0" smtClean="0"/>
          </a:p>
          <a:p>
            <a:pPr>
              <a:lnSpc>
                <a:spcPts val="1679"/>
              </a:lnSpc>
              <a:buFont typeface="Arial" pitchFamily="34" charset="0"/>
              <a:buChar char="•"/>
            </a:pPr>
            <a:r>
              <a:rPr lang="en-US" sz="1200" dirty="0" err="1" smtClean="0"/>
              <a:t>Osteoid</a:t>
            </a:r>
            <a:r>
              <a:rPr lang="en-US" sz="1200" dirty="0" smtClean="0"/>
              <a:t> sarcoma</a:t>
            </a:r>
          </a:p>
          <a:p>
            <a:pPr>
              <a:lnSpc>
                <a:spcPts val="1679"/>
              </a:lnSpc>
              <a:buFont typeface="Arial" pitchFamily="34" charset="0"/>
              <a:buChar char="•"/>
            </a:pPr>
            <a:r>
              <a:rPr lang="en-US" sz="1200" dirty="0" smtClean="0"/>
              <a:t>Rheumatoid arthritis</a:t>
            </a:r>
            <a:endParaRPr lang="en-US" sz="1200" dirty="0">
              <a:solidFill>
                <a:srgbClr val="000000"/>
              </a:solidFill>
              <a:latin typeface="Cambria"/>
              <a:ea typeface="Cambria"/>
              <a:cs typeface="Cambria"/>
              <a:sym typeface="Cambria"/>
            </a:endParaRPr>
          </a:p>
        </p:txBody>
      </p:sp>
      <p:sp>
        <p:nvSpPr>
          <p:cNvPr id="55" name="TextBox 49"/>
          <p:cNvSpPr txBox="1"/>
          <p:nvPr/>
        </p:nvSpPr>
        <p:spPr>
          <a:xfrm>
            <a:off x="7270748" y="7847030"/>
            <a:ext cx="7217960" cy="654025"/>
          </a:xfrm>
          <a:prstGeom prst="rect">
            <a:avLst/>
          </a:prstGeom>
        </p:spPr>
        <p:txBody>
          <a:bodyPr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Patient was advised to take </a:t>
            </a:r>
            <a:r>
              <a:rPr lang="en-IN" sz="1200" dirty="0" err="1" smtClean="0">
                <a:solidFill>
                  <a:srgbClr val="000000"/>
                </a:solidFill>
                <a:latin typeface="Cambria"/>
                <a:ea typeface="Cambria"/>
                <a:cs typeface="Cambria"/>
                <a:sym typeface="Cambria"/>
              </a:rPr>
              <a:t>Xray</a:t>
            </a:r>
            <a:r>
              <a:rPr lang="en-IN" sz="1200" dirty="0" smtClean="0">
                <a:solidFill>
                  <a:srgbClr val="000000"/>
                </a:solidFill>
                <a:latin typeface="Cambria"/>
                <a:ea typeface="Cambria"/>
                <a:cs typeface="Cambria"/>
                <a:sym typeface="Cambria"/>
              </a:rPr>
              <a:t> cervical spine </a:t>
            </a:r>
            <a:r>
              <a:rPr lang="en-IN" sz="1200" dirty="0" err="1" smtClean="0">
                <a:solidFill>
                  <a:srgbClr val="000000"/>
                </a:solidFill>
                <a:latin typeface="Cambria"/>
                <a:ea typeface="Cambria"/>
                <a:cs typeface="Cambria"/>
                <a:sym typeface="Cambria"/>
              </a:rPr>
              <a:t>ap</a:t>
            </a:r>
            <a:r>
              <a:rPr lang="en-IN" sz="1200" dirty="0" smtClean="0">
                <a:solidFill>
                  <a:srgbClr val="000000"/>
                </a:solidFill>
                <a:latin typeface="Cambria"/>
                <a:ea typeface="Cambria"/>
                <a:cs typeface="Cambria"/>
                <a:sym typeface="Cambria"/>
              </a:rPr>
              <a:t> / lateral; </a:t>
            </a:r>
            <a:r>
              <a:rPr lang="en-IN" sz="1200" dirty="0" err="1" smtClean="0">
                <a:solidFill>
                  <a:srgbClr val="000000"/>
                </a:solidFill>
                <a:latin typeface="Cambria"/>
                <a:ea typeface="Cambria"/>
                <a:cs typeface="Cambria"/>
                <a:sym typeface="Cambria"/>
              </a:rPr>
              <a:t>Xray</a:t>
            </a:r>
            <a:r>
              <a:rPr lang="en-IN" sz="1200" dirty="0" smtClean="0">
                <a:solidFill>
                  <a:srgbClr val="000000"/>
                </a:solidFill>
                <a:latin typeface="Cambria"/>
                <a:ea typeface="Cambria"/>
                <a:cs typeface="Cambria"/>
                <a:sym typeface="Cambria"/>
              </a:rPr>
              <a:t> thoracic spine </a:t>
            </a:r>
            <a:r>
              <a:rPr lang="en-IN" sz="1200" dirty="0" err="1" smtClean="0">
                <a:solidFill>
                  <a:srgbClr val="000000"/>
                </a:solidFill>
                <a:latin typeface="Cambria"/>
                <a:ea typeface="Cambria"/>
                <a:cs typeface="Cambria"/>
                <a:sym typeface="Cambria"/>
              </a:rPr>
              <a:t>ap</a:t>
            </a:r>
            <a:r>
              <a:rPr lang="en-IN" sz="1200" dirty="0" smtClean="0">
                <a:solidFill>
                  <a:srgbClr val="000000"/>
                </a:solidFill>
                <a:latin typeface="Cambria"/>
                <a:ea typeface="Cambria"/>
                <a:cs typeface="Cambria"/>
                <a:sym typeface="Cambria"/>
              </a:rPr>
              <a:t> / lateral</a:t>
            </a:r>
          </a:p>
          <a:p>
            <a:pPr>
              <a:lnSpc>
                <a:spcPts val="1679"/>
              </a:lnSpc>
              <a:buFont typeface="Arial" pitchFamily="34" charset="0"/>
              <a:buChar char="•"/>
            </a:pPr>
            <a:r>
              <a:rPr lang="en-US" sz="1200" dirty="0" smtClean="0"/>
              <a:t>Patient was advised to take iron rich food. </a:t>
            </a:r>
          </a:p>
          <a:p>
            <a:pPr>
              <a:lnSpc>
                <a:spcPts val="1679"/>
              </a:lnSpc>
              <a:buFont typeface="Arial" pitchFamily="34" charset="0"/>
              <a:buChar char="•"/>
            </a:pPr>
            <a:r>
              <a:rPr lang="en-US" sz="1200" dirty="0" smtClean="0"/>
              <a:t>Patient was also advised to do neck strengthening exercises</a:t>
            </a:r>
            <a:r>
              <a:rPr lang="en-IN" sz="1200" dirty="0" smtClean="0">
                <a:solidFill>
                  <a:srgbClr val="000000"/>
                </a:solidFill>
                <a:latin typeface="Cambria"/>
                <a:ea typeface="Cambria"/>
                <a:cs typeface="Cambria"/>
                <a:sym typeface="Cambria"/>
              </a:rPr>
              <a:t> </a:t>
            </a:r>
            <a:endParaRPr lang="en-US" sz="1200" dirty="0" smtClean="0">
              <a:solidFill>
                <a:srgbClr val="000000"/>
              </a:solidFill>
              <a:latin typeface="Cambria"/>
              <a:ea typeface="Cambria"/>
              <a:cs typeface="Cambria"/>
              <a:sym typeface="Cambria"/>
            </a:endParaRPr>
          </a:p>
        </p:txBody>
      </p:sp>
      <p:sp>
        <p:nvSpPr>
          <p:cNvPr id="54" name="TextBox 53"/>
          <p:cNvSpPr txBox="1"/>
          <p:nvPr/>
        </p:nvSpPr>
        <p:spPr>
          <a:xfrm>
            <a:off x="11199838" y="4346568"/>
            <a:ext cx="3357586" cy="1169551"/>
          </a:xfrm>
          <a:prstGeom prst="rect">
            <a:avLst/>
          </a:prstGeom>
          <a:noFill/>
        </p:spPr>
        <p:txBody>
          <a:bodyPr wrap="square" rtlCol="0">
            <a:spAutoFit/>
          </a:bodyPr>
          <a:lstStyle/>
          <a:p>
            <a:pPr>
              <a:buFont typeface="Arial" pitchFamily="34" charset="0"/>
              <a:buChar char="•"/>
            </a:pPr>
            <a:r>
              <a:rPr lang="en-US" sz="1000" b="1" dirty="0" smtClean="0"/>
              <a:t>RS ; NVBS, trachea appears to be in midline, equal chest movements, no wheeze</a:t>
            </a:r>
          </a:p>
          <a:p>
            <a:pPr>
              <a:buFont typeface="Arial" pitchFamily="34" charset="0"/>
              <a:buChar char="•"/>
            </a:pPr>
            <a:r>
              <a:rPr lang="en-US" sz="1000" b="1" dirty="0" smtClean="0"/>
              <a:t>Abdomen: soft, non tender, no </a:t>
            </a:r>
            <a:r>
              <a:rPr lang="en-US" sz="1000" b="1" dirty="0" err="1" smtClean="0"/>
              <a:t>organomegaly</a:t>
            </a:r>
            <a:endParaRPr lang="en-US" sz="1000" b="1" dirty="0" smtClean="0"/>
          </a:p>
          <a:p>
            <a:pPr>
              <a:buFont typeface="Arial" pitchFamily="34" charset="0"/>
              <a:buChar char="•"/>
            </a:pPr>
            <a:r>
              <a:rPr lang="en-US" sz="1000" b="1" dirty="0" smtClean="0"/>
              <a:t>CNS : no focal neurological deficit</a:t>
            </a:r>
          </a:p>
          <a:p>
            <a:pPr>
              <a:buFont typeface="Arial" pitchFamily="34" charset="0"/>
              <a:buChar char="•"/>
            </a:pPr>
            <a:r>
              <a:rPr lang="en-US" sz="1000" b="1" dirty="0" smtClean="0"/>
              <a:t>CVS: S1S2 heard, apical impulse seen on 5th </a:t>
            </a:r>
            <a:r>
              <a:rPr lang="en-US" sz="1000" b="1" dirty="0" err="1" smtClean="0"/>
              <a:t>intercoastal</a:t>
            </a:r>
            <a:r>
              <a:rPr lang="en-US" sz="1000" b="1" dirty="0" smtClean="0"/>
              <a:t> space</a:t>
            </a:r>
          </a:p>
          <a:p>
            <a:pPr>
              <a:buFont typeface="Arial" pitchFamily="34" charset="0"/>
              <a:buChar char="•"/>
            </a:pPr>
            <a:endParaRPr lang="en-US" sz="1000" dirty="0"/>
          </a:p>
        </p:txBody>
      </p:sp>
      <p:pic>
        <p:nvPicPr>
          <p:cNvPr id="4098" name="Picture 2"/>
          <p:cNvPicPr>
            <a:picLocks noChangeAspect="1" noChangeArrowheads="1"/>
          </p:cNvPicPr>
          <p:nvPr/>
        </p:nvPicPr>
        <p:blipFill>
          <a:blip r:embed="rId3"/>
          <a:srcRect/>
          <a:stretch>
            <a:fillRect/>
          </a:stretch>
        </p:blipFill>
        <p:spPr bwMode="auto">
          <a:xfrm>
            <a:off x="12485722" y="1631924"/>
            <a:ext cx="2143140" cy="2428892"/>
          </a:xfrm>
          <a:prstGeom prst="rect">
            <a:avLst/>
          </a:prstGeom>
          <a:noFill/>
          <a:ln w="9525">
            <a:noFill/>
            <a:miter lim="800000"/>
            <a:headEnd/>
            <a:tailEnd/>
          </a:ln>
          <a:effectLst/>
        </p:spPr>
      </p:pic>
      <p:pic>
        <p:nvPicPr>
          <p:cNvPr id="56" name="Picture 55" descr="photo_2025-01-19_14-07-36.jpg"/>
          <p:cNvPicPr>
            <a:picLocks noChangeAspect="1"/>
          </p:cNvPicPr>
          <p:nvPr/>
        </p:nvPicPr>
        <p:blipFill>
          <a:blip r:embed="rId4"/>
          <a:stretch>
            <a:fillRect/>
          </a:stretch>
        </p:blipFill>
        <p:spPr>
          <a:xfrm>
            <a:off x="412700" y="1489048"/>
            <a:ext cx="6643734" cy="3857652"/>
          </a:xfrm>
          <a:prstGeom prst="rect">
            <a:avLst/>
          </a:prstGeom>
        </p:spPr>
      </p:pic>
      <p:pic>
        <p:nvPicPr>
          <p:cNvPr id="57" name="Picture 56" descr="photo_2025-01-19_14-07-37.jpg"/>
          <p:cNvPicPr>
            <a:picLocks noChangeAspect="1"/>
          </p:cNvPicPr>
          <p:nvPr/>
        </p:nvPicPr>
        <p:blipFill>
          <a:blip r:embed="rId5"/>
          <a:stretch>
            <a:fillRect/>
          </a:stretch>
        </p:blipFill>
        <p:spPr>
          <a:xfrm>
            <a:off x="412700" y="5346700"/>
            <a:ext cx="6643734" cy="35719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412700" y="1489048"/>
            <a:ext cx="14251939" cy="8328140"/>
            <a:chOff x="63500" y="63500"/>
            <a:chExt cx="14251939" cy="832814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118302"/>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5"/>
              <a:ext cx="7475347" cy="1980256"/>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38951" y="6503691"/>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860617"/>
              <a:ext cx="7475347" cy="1285884"/>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6" name="Freeform 16"/>
            <p:cNvSpPr/>
            <p:nvPr/>
          </p:nvSpPr>
          <p:spPr>
            <a:xfrm>
              <a:off x="6838951" y="6575129"/>
              <a:ext cx="7456805" cy="1816511"/>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6217939"/>
              <a:ext cx="7466330" cy="1714512"/>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2" name="TextBox 22"/>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3</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3" name="TextBox 23"/>
          <p:cNvSpPr txBox="1"/>
          <p:nvPr/>
        </p:nvSpPr>
        <p:spPr>
          <a:xfrm>
            <a:off x="912766" y="417478"/>
            <a:ext cx="2286000"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BALARAM.S</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2344400" y="400507"/>
            <a:ext cx="1195149"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 </a:t>
            </a:r>
            <a:endParaRPr lang="en-US" sz="1100" b="1" dirty="0">
              <a:solidFill>
                <a:srgbClr val="000000"/>
              </a:solidFill>
              <a:latin typeface="Calibri (MS) Bold"/>
              <a:ea typeface="Calibri (MS) Bold"/>
              <a:cs typeface="Calibri (MS) Bold"/>
              <a:sym typeface="Calibri (MS) Bold"/>
            </a:endParaRPr>
          </a:p>
        </p:txBody>
      </p:sp>
      <p:sp>
        <p:nvSpPr>
          <p:cNvPr id="26" name="TextBox 26"/>
          <p:cNvSpPr txBox="1"/>
          <p:nvPr/>
        </p:nvSpPr>
        <p:spPr>
          <a:xfrm>
            <a:off x="677320" y="953995"/>
            <a:ext cx="2893648" cy="256480"/>
          </a:xfrm>
          <a:prstGeom prst="rect">
            <a:avLst/>
          </a:prstGeom>
        </p:spPr>
        <p:txBody>
          <a:bodyPr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5 </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PID:  </a:t>
            </a:r>
            <a:r>
              <a:rPr lang="en-US" sz="1400" dirty="0" smtClean="0"/>
              <a:t> 240711224075</a:t>
            </a:r>
            <a:endParaRPr lang="en-US" sz="1399" b="1" dirty="0">
              <a:solidFill>
                <a:srgbClr val="000000"/>
              </a:solidFill>
              <a:latin typeface="Cambria Bold"/>
              <a:ea typeface="Cambria Bold"/>
              <a:cs typeface="Cambria Bold"/>
              <a:sym typeface="Cambria Bold"/>
            </a:endParaRP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2555840" y="274602"/>
            <a:ext cx="10144196" cy="371897"/>
          </a:xfrm>
          <a:prstGeom prst="rect">
            <a:avLst/>
          </a:prstGeom>
        </p:spPr>
        <p:txBody>
          <a:bodyPr wrap="square" lIns="0" tIns="0" rIns="0" bIns="0" rtlCol="0" anchor="t">
            <a:spAutoFit/>
          </a:bodyPr>
          <a:lstStyle/>
          <a:p>
            <a:pPr algn="ctr">
              <a:lnSpc>
                <a:spcPts val="2921"/>
              </a:lnSpc>
            </a:pPr>
            <a:r>
              <a:rPr lang="en-US" sz="2199" b="1" i="1" dirty="0">
                <a:solidFill>
                  <a:srgbClr val="000000"/>
                </a:solidFill>
                <a:latin typeface="Cambria Bold Italics"/>
                <a:ea typeface="Cambria Bold Italics"/>
                <a:cs typeface="Cambria Bold Italics"/>
                <a:sym typeface="Cambria Bold Italics"/>
              </a:rPr>
              <a:t>A case </a:t>
            </a:r>
            <a:r>
              <a:rPr lang="en-US" sz="2199" b="1" i="1" dirty="0" smtClean="0">
                <a:solidFill>
                  <a:srgbClr val="000000"/>
                </a:solidFill>
                <a:latin typeface="Cambria Bold Italics"/>
                <a:ea typeface="Cambria Bold Italics"/>
                <a:cs typeface="Cambria Bold Italics"/>
                <a:sym typeface="Cambria Bold Italics"/>
              </a:rPr>
              <a:t>of </a:t>
            </a:r>
            <a:r>
              <a:rPr lang="it-IT" sz="2400" b="1" dirty="0" smtClean="0">
                <a:latin typeface="Cambria Bold Italics" charset="0"/>
              </a:rPr>
              <a:t>left lateral malleolar fracture</a:t>
            </a:r>
            <a:r>
              <a:rPr lang="en-US" sz="2199" b="1" i="1" dirty="0">
                <a:solidFill>
                  <a:srgbClr val="000000"/>
                </a:solidFill>
                <a:latin typeface="Cambria Bold" charset="0"/>
                <a:ea typeface="Cambria Bold Italics"/>
                <a:cs typeface="Cambria Bold Italics"/>
                <a:sym typeface="Cambria Bold Italics"/>
              </a:rPr>
              <a:t> </a:t>
            </a:r>
          </a:p>
        </p:txBody>
      </p:sp>
      <p:sp>
        <p:nvSpPr>
          <p:cNvPr id="31" name="TextBox 31"/>
          <p:cNvSpPr txBox="1"/>
          <p:nvPr/>
        </p:nvSpPr>
        <p:spPr>
          <a:xfrm>
            <a:off x="3200400" y="811120"/>
            <a:ext cx="11163835" cy="448841"/>
          </a:xfrm>
          <a:prstGeom prst="rect">
            <a:avLst/>
          </a:prstGeom>
        </p:spPr>
        <p:txBody>
          <a:bodyPr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a:t>
            </a:r>
            <a:r>
              <a:rPr lang="en-US" sz="1399" b="1" dirty="0" smtClean="0">
                <a:solidFill>
                  <a:srgbClr val="000000"/>
                </a:solidFill>
                <a:latin typeface="Cambria Bold"/>
                <a:ea typeface="Cambria Bold"/>
                <a:cs typeface="Cambria Bold"/>
                <a:sym typeface="Cambria Bold"/>
              </a:rPr>
              <a:t>: </a:t>
            </a:r>
            <a:r>
              <a:rPr lang="en-US" sz="1600" b="1" dirty="0">
                <a:solidFill>
                  <a:srgbClr val="000000"/>
                </a:solidFill>
                <a:latin typeface="Cambria Bold"/>
                <a:ea typeface="Cambria Bold"/>
                <a:cs typeface="Cambria Bold"/>
                <a:sym typeface="Cambria Bold"/>
              </a:rPr>
              <a:t>  </a:t>
            </a:r>
            <a:r>
              <a:rPr lang="en-US" sz="1600" b="1" dirty="0" err="1" smtClean="0">
                <a:solidFill>
                  <a:srgbClr val="000000"/>
                </a:solidFill>
                <a:latin typeface="Cambria Bold"/>
                <a:ea typeface="Cambria Bold"/>
                <a:cs typeface="Cambria Bold"/>
                <a:sym typeface="Cambria Bold"/>
              </a:rPr>
              <a:t>Gopinath</a:t>
            </a:r>
            <a:r>
              <a:rPr lang="en-US" sz="1600" b="1" dirty="0" smtClean="0">
                <a:solidFill>
                  <a:srgbClr val="000000"/>
                </a:solidFill>
                <a:latin typeface="Cambria Bold"/>
                <a:ea typeface="Cambria Bold"/>
                <a:cs typeface="Cambria Bold"/>
                <a:sym typeface="Cambria Bold"/>
              </a:rPr>
              <a:t> B</a:t>
            </a:r>
            <a:r>
              <a:rPr lang="en-US" sz="1399" b="1" dirty="0">
                <a:solidFill>
                  <a:srgbClr val="000000"/>
                </a:solidFill>
                <a:latin typeface="Cambria Bold"/>
                <a:ea typeface="Cambria Bold"/>
                <a:cs typeface="Cambria Bold"/>
                <a:sym typeface="Cambria Bold"/>
              </a:rPr>
              <a:t>                                                                                   Age</a:t>
            </a:r>
            <a:r>
              <a:rPr lang="en-US" sz="1399" b="1" dirty="0" smtClean="0">
                <a:solidFill>
                  <a:srgbClr val="000000"/>
                </a:solidFill>
                <a:latin typeface="Cambria Bold"/>
                <a:ea typeface="Cambria Bold"/>
                <a:cs typeface="Cambria Bold"/>
                <a:sym typeface="Cambria Bold"/>
              </a:rPr>
              <a:t>: </a:t>
            </a:r>
            <a:r>
              <a:rPr lang="en-US" sz="1400" b="1" dirty="0" smtClean="0"/>
              <a:t>42</a:t>
            </a:r>
            <a:r>
              <a:rPr lang="en-US" sz="1399" b="1" dirty="0" smtClean="0">
                <a:solidFill>
                  <a:srgbClr val="000000"/>
                </a:solidFill>
                <a:latin typeface="Cambria Bold"/>
                <a:ea typeface="Cambria Bold"/>
                <a:cs typeface="Cambria Bold"/>
                <a:sym typeface="Cambria Bold"/>
              </a:rPr>
              <a:t> </a:t>
            </a:r>
            <a:r>
              <a:rPr lang="en-US" sz="1399" b="1" dirty="0">
                <a:solidFill>
                  <a:srgbClr val="000000"/>
                </a:solidFill>
                <a:latin typeface="Cambria Bold"/>
                <a:ea typeface="Cambria Bold"/>
                <a:cs typeface="Cambria Bold"/>
                <a:sym typeface="Cambria Bold"/>
              </a:rPr>
              <a:t>                      Gender: </a:t>
            </a:r>
            <a:r>
              <a:rPr lang="en-US" sz="1399" b="1" dirty="0" smtClean="0">
                <a:solidFill>
                  <a:srgbClr val="000000"/>
                </a:solidFill>
                <a:latin typeface="Cambria Bold"/>
                <a:ea typeface="Cambria Bold"/>
                <a:cs typeface="Cambria Bold"/>
                <a:sym typeface="Cambria Bold"/>
              </a:rPr>
              <a:t>Male</a:t>
            </a:r>
            <a:endParaRPr lang="en-US" sz="1399" b="1" dirty="0">
              <a:solidFill>
                <a:srgbClr val="000000"/>
              </a:solidFill>
              <a:latin typeface="Cambria Bold"/>
              <a:ea typeface="Cambria Bold"/>
              <a:cs typeface="Cambria Bold"/>
              <a:sym typeface="Cambria Bold"/>
            </a:endParaRP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270748" y="4132254"/>
            <a:ext cx="7334837" cy="3013646"/>
          </a:xfrm>
          <a:prstGeom prst="rect">
            <a:avLst/>
          </a:prstGeom>
        </p:spPr>
        <p:txBody>
          <a:bodyPr lIns="0" tIns="0" rIns="0" bIns="0" rtlCol="0" anchor="t">
            <a:spAutoFit/>
          </a:bodyPr>
          <a:lstStyle/>
          <a:p>
            <a:pPr algn="l">
              <a:lnSpc>
                <a:spcPts val="1679"/>
              </a:lnSpc>
            </a:pPr>
            <a:r>
              <a:rPr lang="en-US" sz="1000" b="1" dirty="0" smtClean="0">
                <a:solidFill>
                  <a:srgbClr val="000000"/>
                </a:solidFill>
                <a:latin typeface="Cambria Bold"/>
                <a:ea typeface="Cambria Bold"/>
                <a:cs typeface="Cambria Bold"/>
                <a:sym typeface="Cambria Bold"/>
              </a:rPr>
              <a:t>Workup:</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Bp- 110/80 </a:t>
            </a:r>
            <a:r>
              <a:rPr lang="en-IN" sz="1000" b="1" dirty="0" err="1" smtClean="0">
                <a:solidFill>
                  <a:srgbClr val="000000"/>
                </a:solidFill>
                <a:latin typeface="Cambria Bold"/>
                <a:ea typeface="Cambria Bold"/>
                <a:cs typeface="Cambria Bold"/>
                <a:sym typeface="Cambria Bold"/>
              </a:rPr>
              <a:t>mmhg</a:t>
            </a:r>
            <a:r>
              <a:rPr lang="en-US" sz="1000" b="1" dirty="0" smtClean="0">
                <a:solidFill>
                  <a:srgbClr val="000000"/>
                </a:solidFill>
                <a:latin typeface="Cambria Bold"/>
                <a:ea typeface="Cambria Bold"/>
                <a:cs typeface="Cambria Bold"/>
                <a:sym typeface="Cambria Bold"/>
              </a:rPr>
              <a:t>, RR- 16/min, Spo2-98%,pulse-82bpm</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General examination-  Normal</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Patient was conscious, oriented to time, place and person</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Orthopaedic examination:</a:t>
            </a:r>
          </a:p>
          <a:p>
            <a:pPr>
              <a:lnSpc>
                <a:spcPts val="1679"/>
              </a:lnSpc>
              <a:buFont typeface="Wingdings" pitchFamily="2" charset="2"/>
              <a:buChar char="Ø"/>
            </a:pPr>
            <a:r>
              <a:rPr lang="en-IN" sz="1000" b="1" dirty="0" smtClean="0">
                <a:solidFill>
                  <a:srgbClr val="000000"/>
                </a:solidFill>
                <a:latin typeface="Cambria Bold"/>
                <a:ea typeface="Cambria Bold"/>
                <a:cs typeface="Cambria Bold"/>
                <a:sym typeface="Cambria Bold"/>
              </a:rPr>
              <a:t>Site: left lateral </a:t>
            </a:r>
            <a:r>
              <a:rPr lang="en-IN" sz="1000" b="1" dirty="0" err="1" smtClean="0">
                <a:solidFill>
                  <a:srgbClr val="000000"/>
                </a:solidFill>
                <a:latin typeface="Cambria Bold"/>
                <a:ea typeface="Cambria Bold"/>
                <a:cs typeface="Cambria Bold"/>
                <a:sym typeface="Cambria Bold"/>
              </a:rPr>
              <a:t>malleolar</a:t>
            </a:r>
            <a:r>
              <a:rPr lang="en-IN" sz="1000" b="1" dirty="0" smtClean="0">
                <a:solidFill>
                  <a:srgbClr val="000000"/>
                </a:solidFill>
                <a:latin typeface="Cambria Bold"/>
                <a:ea typeface="Cambria Bold"/>
                <a:cs typeface="Cambria Bold"/>
                <a:sym typeface="Cambria Bold"/>
              </a:rPr>
              <a:t> </a:t>
            </a:r>
          </a:p>
          <a:p>
            <a:pPr>
              <a:buFont typeface="Wingdings" pitchFamily="2" charset="2"/>
              <a:buChar char="Ø"/>
            </a:pPr>
            <a:r>
              <a:rPr lang="en-US" sz="1000" b="1" dirty="0" smtClean="0"/>
              <a:t>SWELLING+</a:t>
            </a:r>
          </a:p>
          <a:p>
            <a:pPr>
              <a:buFont typeface="Wingdings" pitchFamily="2" charset="2"/>
              <a:buChar char="Ø"/>
            </a:pPr>
            <a:r>
              <a:rPr lang="en-US" sz="1000" b="1" dirty="0" smtClean="0"/>
              <a:t>TENDERNESS PRESENT OVER LATERAL MALLEOLUS </a:t>
            </a:r>
          </a:p>
          <a:p>
            <a:pPr>
              <a:buFont typeface="Wingdings" pitchFamily="2" charset="2"/>
              <a:buChar char="Ø"/>
            </a:pPr>
            <a:r>
              <a:rPr lang="en-US" sz="1000" b="1" dirty="0" smtClean="0"/>
              <a:t>ROM PAINFUL AND RESTRICTED </a:t>
            </a:r>
          </a:p>
          <a:p>
            <a:pPr>
              <a:buFont typeface="Wingdings" pitchFamily="2" charset="2"/>
              <a:buChar char="Ø"/>
            </a:pPr>
            <a:r>
              <a:rPr lang="en-US" sz="1000" b="1" dirty="0" smtClean="0"/>
              <a:t>NO DNVD  </a:t>
            </a:r>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a:p>
            <a:pPr>
              <a:lnSpc>
                <a:spcPts val="1679"/>
              </a:lnSpc>
            </a:pPr>
            <a:endParaRPr lang="en-IN" sz="1000" b="1" dirty="0" smtClean="0">
              <a:solidFill>
                <a:srgbClr val="000000"/>
              </a:solidFill>
              <a:latin typeface="Cambria Bold"/>
              <a:ea typeface="Cambria Bold"/>
              <a:cs typeface="Cambria Bold"/>
              <a:sym typeface="Cambria Bold"/>
            </a:endParaRPr>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a:p>
            <a:pPr algn="l">
              <a:lnSpc>
                <a:spcPts val="1679"/>
              </a:lnSpc>
            </a:pPr>
            <a:r>
              <a:rPr lang="en-US" sz="1000" dirty="0" smtClean="0">
                <a:solidFill>
                  <a:srgbClr val="000000"/>
                </a:solidFill>
                <a:latin typeface="Cambria"/>
                <a:ea typeface="Cambria"/>
                <a:cs typeface="Cambria"/>
                <a:sym typeface="Cambria"/>
              </a:rPr>
              <a:t> </a:t>
            </a:r>
          </a:p>
          <a:p>
            <a:pPr algn="l">
              <a:lnSpc>
                <a:spcPts val="1679"/>
              </a:lnSpc>
            </a:pPr>
            <a:r>
              <a:rPr lang="en-IN" sz="1000" dirty="0" smtClean="0">
                <a:solidFill>
                  <a:srgbClr val="000000"/>
                </a:solidFill>
                <a:latin typeface="Cambria"/>
                <a:ea typeface="Cambria"/>
                <a:cs typeface="Cambria"/>
                <a:sym typeface="Cambria"/>
              </a:rPr>
              <a:t> </a:t>
            </a:r>
            <a:endParaRPr lang="en-US" sz="1000" dirty="0">
              <a:solidFill>
                <a:srgbClr val="000000"/>
              </a:solidFill>
              <a:latin typeface="Cambria"/>
              <a:ea typeface="Cambria"/>
              <a:cs typeface="Cambria"/>
              <a:sym typeface="Cambria"/>
            </a:endParaRPr>
          </a:p>
        </p:txBody>
      </p:sp>
      <p:sp>
        <p:nvSpPr>
          <p:cNvPr id="48" name="TextBox 48"/>
          <p:cNvSpPr txBox="1"/>
          <p:nvPr/>
        </p:nvSpPr>
        <p:spPr>
          <a:xfrm>
            <a:off x="7199310" y="1631924"/>
            <a:ext cx="1563557"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70748" y="7632716"/>
            <a:ext cx="7217960" cy="198516"/>
          </a:xfrm>
          <a:prstGeom prst="rect">
            <a:avLst/>
          </a:prstGeom>
        </p:spPr>
        <p:txBody>
          <a:bodyPr lIns="0" tIns="0" rIns="0" bIns="0" rtlCol="0" anchor="t">
            <a:spAutoFit/>
          </a:bodyPr>
          <a:lstStyle/>
          <a:p>
            <a:pPr>
              <a:lnSpc>
                <a:spcPts val="1679"/>
              </a:lnSpc>
            </a:pPr>
            <a:r>
              <a:rPr lang="en-US" sz="1200" b="1" u="sng" dirty="0" smtClean="0">
                <a:solidFill>
                  <a:srgbClr val="000000"/>
                </a:solidFill>
                <a:latin typeface="Cambria Bold"/>
                <a:ea typeface="Cambria Bold"/>
                <a:cs typeface="Cambria Bold"/>
                <a:sym typeface="Cambria Bold"/>
              </a:rPr>
              <a:t>Management</a:t>
            </a:r>
            <a:r>
              <a:rPr lang="en-US" sz="1200" b="1" u="sng" dirty="0">
                <a:solidFill>
                  <a:srgbClr val="000000"/>
                </a:solidFill>
                <a:latin typeface="Cambria Bold"/>
                <a:ea typeface="Cambria Bold"/>
                <a:cs typeface="Cambria Bold"/>
                <a:sym typeface="Cambria Bold"/>
              </a:rPr>
              <a:t> / Procedure done:</a:t>
            </a:r>
            <a:r>
              <a:rPr lang="en-US" sz="1200" u="sng" dirty="0">
                <a:solidFill>
                  <a:srgbClr val="000000"/>
                </a:solidFill>
                <a:latin typeface="Cambria"/>
                <a:ea typeface="Cambria"/>
                <a:cs typeface="Cambria"/>
                <a:sym typeface="Cambria"/>
              </a:rPr>
              <a:t> </a:t>
            </a:r>
            <a:endParaRPr lang="en-US" sz="1200" u="sng" dirty="0" smtClean="0">
              <a:solidFill>
                <a:srgbClr val="000000"/>
              </a:solidFill>
              <a:latin typeface="Cambria"/>
              <a:ea typeface="Cambria"/>
              <a:cs typeface="Cambria"/>
              <a:sym typeface="Cambria"/>
            </a:endParaRPr>
          </a:p>
        </p:txBody>
      </p:sp>
      <p:sp>
        <p:nvSpPr>
          <p:cNvPr id="50" name="TextBox 50"/>
          <p:cNvSpPr txBox="1"/>
          <p:nvPr/>
        </p:nvSpPr>
        <p:spPr>
          <a:xfrm>
            <a:off x="7270748" y="6275394"/>
            <a:ext cx="2948172" cy="198516"/>
          </a:xfrm>
          <a:prstGeom prst="rect">
            <a:avLst/>
          </a:prstGeom>
        </p:spPr>
        <p:txBody>
          <a:bodyPr lIns="0" tIns="0" rIns="0" bIns="0" rtlCol="0" anchor="t">
            <a:spAutoFit/>
          </a:bodyPr>
          <a:lstStyle/>
          <a:p>
            <a:pPr algn="l">
              <a:lnSpc>
                <a:spcPts val="1679"/>
              </a:lnSpc>
            </a:pPr>
            <a:r>
              <a:rPr lang="en-US" sz="1200" b="1" u="sng" dirty="0" smtClean="0">
                <a:solidFill>
                  <a:srgbClr val="000000"/>
                </a:solidFill>
                <a:latin typeface="Cambria Bold"/>
                <a:ea typeface="Cambria Bold"/>
                <a:cs typeface="Cambria Bold"/>
                <a:sym typeface="Cambria Bold"/>
              </a:rPr>
              <a:t>Differential diagnosis / Clinical insights :</a:t>
            </a:r>
            <a:r>
              <a:rPr lang="en-US" sz="1200" u="sng" dirty="0" smtClean="0">
                <a:solidFill>
                  <a:srgbClr val="000000"/>
                </a:solidFill>
                <a:latin typeface="Cambria"/>
                <a:ea typeface="Cambria"/>
                <a:cs typeface="Cambria"/>
                <a:sym typeface="Cambria"/>
              </a:rPr>
              <a:t> </a:t>
            </a:r>
            <a:endParaRPr lang="en-US" sz="1200" u="sng" dirty="0">
              <a:solidFill>
                <a:srgbClr val="000000"/>
              </a:solidFill>
              <a:latin typeface="Cambria"/>
              <a:ea typeface="Cambria"/>
              <a:cs typeface="Cambria"/>
              <a:sym typeface="Cambria"/>
            </a:endParaRPr>
          </a:p>
        </p:txBody>
      </p:sp>
      <p:sp>
        <p:nvSpPr>
          <p:cNvPr id="51" name="TextBox 50"/>
          <p:cNvSpPr txBox="1"/>
          <p:nvPr/>
        </p:nvSpPr>
        <p:spPr>
          <a:xfrm>
            <a:off x="7199310" y="1846238"/>
            <a:ext cx="5143536" cy="2677656"/>
          </a:xfrm>
          <a:prstGeom prst="rect">
            <a:avLst/>
          </a:prstGeom>
          <a:noFill/>
        </p:spPr>
        <p:txBody>
          <a:bodyPr wrap="square" rtlCol="0">
            <a:spAutoFit/>
          </a:bodyPr>
          <a:lstStyle/>
          <a:p>
            <a:r>
              <a:rPr lang="en-US" sz="1400" b="1" dirty="0" smtClean="0"/>
              <a:t>Chief complaints:</a:t>
            </a:r>
          </a:p>
          <a:p>
            <a:r>
              <a:rPr lang="en-US" sz="1400" dirty="0" smtClean="0"/>
              <a:t>Patient came for case removal for closed left lateral </a:t>
            </a:r>
            <a:r>
              <a:rPr lang="en-US" sz="1400" dirty="0" err="1" smtClean="0"/>
              <a:t>malleolar</a:t>
            </a:r>
            <a:r>
              <a:rPr lang="en-US" sz="1400" dirty="0" smtClean="0"/>
              <a:t> fracture</a:t>
            </a:r>
          </a:p>
          <a:p>
            <a:r>
              <a:rPr lang="en-US" sz="1400" b="1" dirty="0" smtClean="0"/>
              <a:t>H/O Presenting Illness</a:t>
            </a:r>
            <a:r>
              <a:rPr lang="en-US" sz="1400" dirty="0" smtClean="0"/>
              <a:t>: Patient came for case removal for closed left lateral </a:t>
            </a:r>
            <a:r>
              <a:rPr lang="en-US" sz="1400" dirty="0" err="1" smtClean="0"/>
              <a:t>malleolar</a:t>
            </a:r>
            <a:r>
              <a:rPr lang="en-US" sz="1400" dirty="0" smtClean="0"/>
              <a:t> fracture</a:t>
            </a:r>
          </a:p>
          <a:p>
            <a:r>
              <a:rPr lang="en-US" sz="1400" dirty="0" smtClean="0"/>
              <a:t>No h/o pain, swelling, loss of gait, loss of sensation</a:t>
            </a:r>
          </a:p>
          <a:p>
            <a:r>
              <a:rPr lang="en-US" sz="1400" b="1" dirty="0" smtClean="0"/>
              <a:t>Past History: </a:t>
            </a:r>
            <a:r>
              <a:rPr lang="en-US" sz="1400" dirty="0" smtClean="0"/>
              <a:t>K/c/o T2DM for 6 years Angioplasty done in 2019</a:t>
            </a:r>
          </a:p>
          <a:p>
            <a:r>
              <a:rPr lang="en-US" sz="1400" b="1" dirty="0" smtClean="0"/>
              <a:t>Personal History: </a:t>
            </a:r>
            <a:r>
              <a:rPr lang="en-US" sz="1400" dirty="0" smtClean="0"/>
              <a:t>Normal sleep normal bowel and bladder movements mixed diet</a:t>
            </a:r>
          </a:p>
          <a:p>
            <a:endParaRPr lang="en-US" sz="1400" dirty="0" smtClean="0"/>
          </a:p>
          <a:p>
            <a:endParaRPr lang="en-US" sz="1400" dirty="0" smtClean="0"/>
          </a:p>
          <a:p>
            <a:endParaRPr lang="en-US" sz="1400" b="1" dirty="0"/>
          </a:p>
        </p:txBody>
      </p:sp>
      <p:sp>
        <p:nvSpPr>
          <p:cNvPr id="53" name="TextBox 50"/>
          <p:cNvSpPr txBox="1"/>
          <p:nvPr/>
        </p:nvSpPr>
        <p:spPr>
          <a:xfrm>
            <a:off x="7270748" y="6489708"/>
            <a:ext cx="3000396" cy="1308050"/>
          </a:xfrm>
          <a:prstGeom prst="rect">
            <a:avLst/>
          </a:prstGeom>
        </p:spPr>
        <p:txBody>
          <a:bodyPr wrap="square" lIns="0" tIns="0" rIns="0" bIns="0" rtlCol="0" anchor="t">
            <a:spAutoFit/>
          </a:bodyPr>
          <a:lstStyle/>
          <a:p>
            <a:pPr>
              <a:lnSpc>
                <a:spcPts val="1679"/>
              </a:lnSpc>
              <a:buFont typeface="Arial" pitchFamily="34" charset="0"/>
              <a:buChar char="•"/>
            </a:pPr>
            <a:r>
              <a:rPr lang="en-US" sz="1200" dirty="0" smtClean="0"/>
              <a:t>Ankle sprain</a:t>
            </a:r>
          </a:p>
          <a:p>
            <a:pPr>
              <a:lnSpc>
                <a:spcPts val="1679"/>
              </a:lnSpc>
              <a:buFont typeface="Arial" pitchFamily="34" charset="0"/>
              <a:buChar char="•"/>
            </a:pPr>
            <a:r>
              <a:rPr lang="en-US" sz="1200" dirty="0" smtClean="0"/>
              <a:t>Osteoarthritis</a:t>
            </a:r>
          </a:p>
          <a:p>
            <a:pPr>
              <a:lnSpc>
                <a:spcPts val="1679"/>
              </a:lnSpc>
              <a:buFont typeface="Arial" pitchFamily="34" charset="0"/>
              <a:buChar char="•"/>
            </a:pPr>
            <a:r>
              <a:rPr lang="en-US" sz="1200" dirty="0" smtClean="0"/>
              <a:t>Achilles rupture</a:t>
            </a:r>
          </a:p>
          <a:p>
            <a:pPr>
              <a:lnSpc>
                <a:spcPts val="1679"/>
              </a:lnSpc>
              <a:buFont typeface="Arial" pitchFamily="34" charset="0"/>
              <a:buChar char="•"/>
            </a:pPr>
            <a:r>
              <a:rPr lang="en-US" sz="1200" dirty="0" smtClean="0"/>
              <a:t>Tendon dislocation</a:t>
            </a:r>
          </a:p>
          <a:p>
            <a:pPr>
              <a:lnSpc>
                <a:spcPts val="1679"/>
              </a:lnSpc>
              <a:buFont typeface="Arial" pitchFamily="34" charset="0"/>
              <a:buChar char="•"/>
            </a:pPr>
            <a:r>
              <a:rPr lang="en-US" sz="1200" dirty="0" smtClean="0"/>
              <a:t>Rheumatoid arthritis</a:t>
            </a:r>
          </a:p>
          <a:p>
            <a:pPr>
              <a:lnSpc>
                <a:spcPts val="1679"/>
              </a:lnSpc>
              <a:buFont typeface="Arial" pitchFamily="34" charset="0"/>
              <a:buChar char="•"/>
            </a:pPr>
            <a:endParaRPr lang="en-US" sz="1200" dirty="0">
              <a:solidFill>
                <a:srgbClr val="000000"/>
              </a:solidFill>
              <a:latin typeface="Cambria"/>
              <a:ea typeface="Cambria"/>
              <a:cs typeface="Cambria"/>
              <a:sym typeface="Cambria"/>
            </a:endParaRPr>
          </a:p>
        </p:txBody>
      </p:sp>
      <p:pic>
        <p:nvPicPr>
          <p:cNvPr id="5122" name="Picture 2"/>
          <p:cNvPicPr>
            <a:picLocks noChangeAspect="1" noChangeArrowheads="1"/>
          </p:cNvPicPr>
          <p:nvPr/>
        </p:nvPicPr>
        <p:blipFill>
          <a:blip r:embed="rId3"/>
          <a:srcRect/>
          <a:stretch>
            <a:fillRect/>
          </a:stretch>
        </p:blipFill>
        <p:spPr bwMode="auto">
          <a:xfrm rot="5400000">
            <a:off x="12342845" y="1774800"/>
            <a:ext cx="2428891" cy="2143140"/>
          </a:xfrm>
          <a:prstGeom prst="rect">
            <a:avLst/>
          </a:prstGeom>
          <a:noFill/>
          <a:ln w="9525">
            <a:noFill/>
            <a:miter lim="800000"/>
            <a:headEnd/>
            <a:tailEnd/>
          </a:ln>
          <a:effectLst/>
        </p:spPr>
      </p:pic>
      <p:sp>
        <p:nvSpPr>
          <p:cNvPr id="56" name="TextBox 55"/>
          <p:cNvSpPr txBox="1"/>
          <p:nvPr/>
        </p:nvSpPr>
        <p:spPr>
          <a:xfrm>
            <a:off x="11199838" y="4346568"/>
            <a:ext cx="3357586" cy="1169551"/>
          </a:xfrm>
          <a:prstGeom prst="rect">
            <a:avLst/>
          </a:prstGeom>
          <a:noFill/>
        </p:spPr>
        <p:txBody>
          <a:bodyPr wrap="square" rtlCol="0">
            <a:spAutoFit/>
          </a:bodyPr>
          <a:lstStyle/>
          <a:p>
            <a:pPr>
              <a:buFont typeface="Arial" pitchFamily="34" charset="0"/>
              <a:buChar char="•"/>
            </a:pPr>
            <a:r>
              <a:rPr lang="en-US" sz="1000" b="1" dirty="0" smtClean="0"/>
              <a:t>RS ; NVBS, trachea appears to be in midline, equal chest movements, no wheeze</a:t>
            </a:r>
          </a:p>
          <a:p>
            <a:pPr>
              <a:buFont typeface="Arial" pitchFamily="34" charset="0"/>
              <a:buChar char="•"/>
            </a:pPr>
            <a:r>
              <a:rPr lang="en-US" sz="1000" b="1" dirty="0" smtClean="0"/>
              <a:t>Abdomen: soft, non tender, no </a:t>
            </a:r>
            <a:r>
              <a:rPr lang="en-US" sz="1000" b="1" dirty="0" err="1" smtClean="0"/>
              <a:t>organomegaly</a:t>
            </a:r>
            <a:endParaRPr lang="en-US" sz="1000" b="1" dirty="0" smtClean="0"/>
          </a:p>
          <a:p>
            <a:pPr>
              <a:buFont typeface="Arial" pitchFamily="34" charset="0"/>
              <a:buChar char="•"/>
            </a:pPr>
            <a:r>
              <a:rPr lang="en-US" sz="1000" b="1" dirty="0" smtClean="0"/>
              <a:t>CNS : no focal neurological deficit</a:t>
            </a:r>
          </a:p>
          <a:p>
            <a:pPr>
              <a:buFont typeface="Arial" pitchFamily="34" charset="0"/>
              <a:buChar char="•"/>
            </a:pPr>
            <a:r>
              <a:rPr lang="en-US" sz="1000" b="1" dirty="0" smtClean="0"/>
              <a:t>CVS: S1S2 heard, apical impulse seen on 5th </a:t>
            </a:r>
            <a:r>
              <a:rPr lang="en-US" sz="1000" b="1" dirty="0" err="1" smtClean="0"/>
              <a:t>intercoastal</a:t>
            </a:r>
            <a:r>
              <a:rPr lang="en-US" sz="1000" b="1" dirty="0" smtClean="0"/>
              <a:t> space</a:t>
            </a:r>
          </a:p>
          <a:p>
            <a:pPr>
              <a:buFont typeface="Arial" pitchFamily="34" charset="0"/>
              <a:buChar char="•"/>
            </a:pPr>
            <a:endParaRPr lang="en-US" sz="1000" dirty="0"/>
          </a:p>
        </p:txBody>
      </p:sp>
      <p:sp>
        <p:nvSpPr>
          <p:cNvPr id="57" name="TextBox 49"/>
          <p:cNvSpPr txBox="1"/>
          <p:nvPr/>
        </p:nvSpPr>
        <p:spPr>
          <a:xfrm>
            <a:off x="7270748" y="7989906"/>
            <a:ext cx="7217960" cy="1644040"/>
          </a:xfrm>
          <a:prstGeom prst="rect">
            <a:avLst/>
          </a:prstGeom>
        </p:spPr>
        <p:txBody>
          <a:bodyPr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Patient was advised to take </a:t>
            </a:r>
            <a:r>
              <a:rPr lang="en-US" sz="1200" dirty="0" smtClean="0">
                <a:solidFill>
                  <a:srgbClr val="000000"/>
                </a:solidFill>
                <a:latin typeface="Cambria"/>
                <a:ea typeface="Cambria"/>
                <a:cs typeface="Cambria"/>
                <a:sym typeface="Cambria"/>
              </a:rPr>
              <a:t>X-RAY ankle three views – left</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On </a:t>
            </a:r>
            <a:r>
              <a:rPr lang="en-IN" sz="1200" dirty="0" err="1" smtClean="0">
                <a:solidFill>
                  <a:srgbClr val="000000"/>
                </a:solidFill>
                <a:latin typeface="Cambria"/>
                <a:ea typeface="Cambria"/>
                <a:cs typeface="Cambria"/>
                <a:sym typeface="Cambria"/>
              </a:rPr>
              <a:t>Xray</a:t>
            </a:r>
            <a:r>
              <a:rPr lang="en-IN" sz="1200" dirty="0" smtClean="0">
                <a:solidFill>
                  <a:srgbClr val="000000"/>
                </a:solidFill>
                <a:latin typeface="Cambria"/>
                <a:ea typeface="Cambria"/>
                <a:cs typeface="Cambria"/>
                <a:sym typeface="Cambria"/>
              </a:rPr>
              <a:t>: healing of bones were present</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Removal of plaster of </a:t>
            </a:r>
            <a:r>
              <a:rPr lang="en-IN" sz="1200" dirty="0" err="1" smtClean="0">
                <a:solidFill>
                  <a:srgbClr val="000000"/>
                </a:solidFill>
                <a:latin typeface="Cambria"/>
                <a:ea typeface="Cambria"/>
                <a:cs typeface="Cambria"/>
                <a:sym typeface="Cambria"/>
              </a:rPr>
              <a:t>paris</a:t>
            </a:r>
            <a:r>
              <a:rPr lang="en-IN" sz="1200" dirty="0" smtClean="0">
                <a:solidFill>
                  <a:srgbClr val="000000"/>
                </a:solidFill>
                <a:latin typeface="Cambria"/>
                <a:ea typeface="Cambria"/>
                <a:cs typeface="Cambria"/>
                <a:sym typeface="Cambria"/>
              </a:rPr>
              <a:t> was done</a:t>
            </a:r>
          </a:p>
          <a:p>
            <a:pPr>
              <a:buFont typeface="Arial" pitchFamily="34" charset="0"/>
              <a:buChar char="•"/>
            </a:pPr>
            <a:r>
              <a:rPr lang="en-US" sz="1200" dirty="0" smtClean="0"/>
              <a:t>Tab </a:t>
            </a:r>
            <a:r>
              <a:rPr lang="en-US" sz="1200" dirty="0" err="1" smtClean="0"/>
              <a:t>Tolydol</a:t>
            </a:r>
            <a:r>
              <a:rPr lang="en-US" sz="1200" dirty="0" smtClean="0"/>
              <a:t> 1-0-1 x 5 days </a:t>
            </a:r>
          </a:p>
          <a:p>
            <a:pPr>
              <a:buFont typeface="Arial" pitchFamily="34" charset="0"/>
              <a:buChar char="•"/>
            </a:pPr>
            <a:r>
              <a:rPr lang="en-US" sz="1200" dirty="0" smtClean="0"/>
              <a:t>Tab Ranitidine 150 mg 1-0-1 x 5 days </a:t>
            </a:r>
          </a:p>
          <a:p>
            <a:pPr>
              <a:buFont typeface="Arial" pitchFamily="34" charset="0"/>
              <a:buChar char="•"/>
            </a:pPr>
            <a:r>
              <a:rPr lang="en-US" sz="1200" dirty="0" smtClean="0"/>
              <a:t>Tab CHYMORAL Forte 1-1-1 x 5 days </a:t>
            </a:r>
          </a:p>
          <a:p>
            <a:pPr>
              <a:lnSpc>
                <a:spcPts val="1679"/>
              </a:lnSpc>
              <a:buFont typeface="Arial" pitchFamily="34" charset="0"/>
              <a:buChar char="•"/>
            </a:pPr>
            <a:endParaRPr lang="en-US" sz="1200" dirty="0" smtClean="0">
              <a:solidFill>
                <a:srgbClr val="000000"/>
              </a:solidFill>
              <a:latin typeface="Cambria"/>
              <a:ea typeface="Cambria"/>
              <a:cs typeface="Cambria"/>
              <a:sym typeface="Cambria"/>
            </a:endParaRPr>
          </a:p>
          <a:p>
            <a:pPr>
              <a:lnSpc>
                <a:spcPts val="1679"/>
              </a:lnSpc>
              <a:buFont typeface="Arial" pitchFamily="34" charset="0"/>
              <a:buChar char="•"/>
            </a:pPr>
            <a:endParaRPr lang="en-US" sz="1200" dirty="0" smtClean="0">
              <a:solidFill>
                <a:srgbClr val="000000"/>
              </a:solidFill>
              <a:latin typeface="Cambria"/>
              <a:ea typeface="Cambria"/>
              <a:cs typeface="Cambria"/>
              <a:sym typeface="Cambria"/>
            </a:endParaRPr>
          </a:p>
        </p:txBody>
      </p:sp>
      <p:pic>
        <p:nvPicPr>
          <p:cNvPr id="59" name="Picture 58" descr="photo_2025-01-19_14-23-08.jpg"/>
          <p:cNvPicPr>
            <a:picLocks noChangeAspect="1"/>
          </p:cNvPicPr>
          <p:nvPr/>
        </p:nvPicPr>
        <p:blipFill>
          <a:blip r:embed="rId4"/>
          <a:stretch>
            <a:fillRect/>
          </a:stretch>
        </p:blipFill>
        <p:spPr>
          <a:xfrm>
            <a:off x="412700" y="1489048"/>
            <a:ext cx="3510515" cy="4071966"/>
          </a:xfrm>
          <a:prstGeom prst="rect">
            <a:avLst/>
          </a:prstGeom>
        </p:spPr>
      </p:pic>
      <p:pic>
        <p:nvPicPr>
          <p:cNvPr id="60" name="Picture 59" descr="photo_2025-01-19_14-23-09 (2).jpg"/>
          <p:cNvPicPr>
            <a:picLocks noChangeAspect="1"/>
          </p:cNvPicPr>
          <p:nvPr/>
        </p:nvPicPr>
        <p:blipFill>
          <a:blip r:embed="rId5"/>
          <a:stretch>
            <a:fillRect/>
          </a:stretch>
        </p:blipFill>
        <p:spPr>
          <a:xfrm>
            <a:off x="3913162" y="1489049"/>
            <a:ext cx="3143272" cy="4071966"/>
          </a:xfrm>
          <a:prstGeom prst="rect">
            <a:avLst/>
          </a:prstGeom>
        </p:spPr>
      </p:pic>
      <p:pic>
        <p:nvPicPr>
          <p:cNvPr id="61" name="Picture 60" descr="photo_2025-01-19_14-23-09.jpg"/>
          <p:cNvPicPr>
            <a:picLocks noChangeAspect="1"/>
          </p:cNvPicPr>
          <p:nvPr/>
        </p:nvPicPr>
        <p:blipFill>
          <a:blip r:embed="rId6"/>
          <a:stretch>
            <a:fillRect/>
          </a:stretch>
        </p:blipFill>
        <p:spPr>
          <a:xfrm>
            <a:off x="412700" y="5561014"/>
            <a:ext cx="6643734" cy="3357586"/>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380</TotalTime>
  <Words>1684</Words>
  <Application>Microsoft Office PowerPoint</Application>
  <PresentationFormat>Custom</PresentationFormat>
  <Paragraphs>342</Paragraphs>
  <Slides>8</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vt:i4>
      </vt:variant>
    </vt:vector>
  </HeadingPairs>
  <TitlesOfParts>
    <vt:vector size="19" baseType="lpstr">
      <vt:lpstr>Arial</vt:lpstr>
      <vt:lpstr>IBM Plex Sans Bold</vt:lpstr>
      <vt:lpstr>IBM Plex Sans</vt:lpstr>
      <vt:lpstr>Calibri (MS) Bold</vt:lpstr>
      <vt:lpstr>Calibri (MS)</vt:lpstr>
      <vt:lpstr>Cambria Bold</vt:lpstr>
      <vt:lpstr>Cambria Bold Italics</vt:lpstr>
      <vt:lpstr>Calibri</vt:lpstr>
      <vt:lpstr>Cambria</vt:lpstr>
      <vt:lpstr>Wingdings</vt:lpstr>
      <vt:lpstr>Office Theme</vt:lpstr>
      <vt:lpstr>Slide 1</vt:lpstr>
      <vt:lpstr>Slide 2</vt:lpstr>
      <vt:lpstr>Slide 3</vt:lpstr>
      <vt:lpstr>Slide 4</vt:lpstr>
      <vt:lpstr>Slide 5</vt:lpstr>
      <vt:lpstr>Slide 6</vt:lpstr>
      <vt:lpstr>Slide 7</vt:lpstr>
      <vt:lpstr>Slide 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Bhuvan Ophthal Logbook</dc:title>
  <dc:creator>SARAVANAN</dc:creator>
  <cp:lastModifiedBy>Windows User</cp:lastModifiedBy>
  <cp:revision>41</cp:revision>
  <dcterms:created xsi:type="dcterms:W3CDTF">2006-08-16T00:00:00Z</dcterms:created>
  <dcterms:modified xsi:type="dcterms:W3CDTF">2025-01-20T04:00:12Z</dcterms:modified>
  <dc:identifier>DAGZhNZM21c</dc:identifier>
</cp:coreProperties>
</file>