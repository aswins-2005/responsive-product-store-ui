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1" d="100"/>
          <a:sy n="71" d="100"/>
        </p:scale>
        <p:origin x="-1356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1DBAF6D-E491-4993-A3BE-B19B95AB2F27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BDC79F0-1317-474E-A958-56B5A322D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71678"/>
            <a:ext cx="8458200" cy="1222375"/>
          </a:xfrm>
        </p:spPr>
        <p:txBody>
          <a:bodyPr anchor="ctr"/>
          <a:lstStyle/>
          <a:p>
            <a:r>
              <a:rPr lang="en-IN" dirty="0" smtClean="0"/>
              <a:t>DROWNING AND ITS MANAGEMENT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7554" y="4500570"/>
            <a:ext cx="8458200" cy="914400"/>
          </a:xfrm>
        </p:spPr>
        <p:txBody>
          <a:bodyPr anchor="ctr"/>
          <a:lstStyle/>
          <a:p>
            <a:pPr algn="ctr"/>
            <a:r>
              <a:rPr lang="en-IN" dirty="0" smtClean="0"/>
              <a:t>S. BALARAM</a:t>
            </a:r>
          </a:p>
          <a:p>
            <a:pPr algn="ctr"/>
            <a:r>
              <a:rPr lang="en-IN" dirty="0" smtClean="0"/>
              <a:t>CRMI</a:t>
            </a:r>
            <a:endParaRPr lang="en-US" dirty="0"/>
          </a:p>
        </p:txBody>
      </p:sp>
      <p:pic>
        <p:nvPicPr>
          <p:cNvPr id="6146" name="Picture 2" descr="I'm Drowning in $100,000 of Debt. But Someone Wants to Help. - The New York  Times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000372"/>
            <a:ext cx="5214974" cy="26432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IN" sz="2000" b="1" dirty="0" smtClean="0"/>
              <a:t>WHO definition: </a:t>
            </a:r>
            <a:r>
              <a:rPr lang="en-IN" sz="2000" dirty="0" smtClean="0"/>
              <a:t>Process of respiratory impairment due to submersion (complete/incomplete) or immersion in water</a:t>
            </a:r>
          </a:p>
          <a:p>
            <a:pPr>
              <a:buNone/>
            </a:pPr>
            <a:r>
              <a:rPr lang="en-IN" sz="2000" b="1" dirty="0" smtClean="0"/>
              <a:t>Causes of drowning:</a:t>
            </a:r>
          </a:p>
          <a:p>
            <a:r>
              <a:rPr lang="en-IN" sz="2000" dirty="0" smtClean="0"/>
              <a:t>Accidental (</a:t>
            </a:r>
            <a:r>
              <a:rPr lang="en-IN" sz="2000" b="1" dirty="0" smtClean="0"/>
              <a:t>most common cause)</a:t>
            </a:r>
          </a:p>
          <a:p>
            <a:r>
              <a:rPr lang="en-IN" sz="2000" dirty="0" smtClean="0"/>
              <a:t>Exhaustion</a:t>
            </a:r>
          </a:p>
          <a:p>
            <a:r>
              <a:rPr lang="en-IN" sz="2000" dirty="0" smtClean="0"/>
              <a:t>Hypothermia</a:t>
            </a:r>
          </a:p>
          <a:p>
            <a:r>
              <a:rPr lang="en-IN" sz="2000" dirty="0" smtClean="0"/>
              <a:t>Entrapment in whirlpool/tidal waves</a:t>
            </a:r>
          </a:p>
          <a:p>
            <a:pPr>
              <a:buNone/>
            </a:pPr>
            <a:r>
              <a:rPr lang="en-IN" sz="2000" b="1" dirty="0" smtClean="0"/>
              <a:t>Types of drowning:</a:t>
            </a:r>
          </a:p>
          <a:p>
            <a:r>
              <a:rPr lang="en-IN" sz="2000" dirty="0" smtClean="0"/>
              <a:t>Typical drowning (Wet drowning)</a:t>
            </a:r>
          </a:p>
          <a:p>
            <a:r>
              <a:rPr lang="en-IN" sz="2000" dirty="0" smtClean="0"/>
              <a:t>Atypical drowning (Dry drowning)</a:t>
            </a:r>
          </a:p>
          <a:p>
            <a:r>
              <a:rPr lang="en-IN" sz="2000" dirty="0" smtClean="0"/>
              <a:t>Shallow water drowning</a:t>
            </a:r>
          </a:p>
          <a:p>
            <a:r>
              <a:rPr lang="en-IN" sz="2000" dirty="0" smtClean="0"/>
              <a:t>Immersion syndrome/ </a:t>
            </a:r>
            <a:r>
              <a:rPr lang="en-IN" sz="2000" dirty="0" err="1" smtClean="0"/>
              <a:t>hydrocution</a:t>
            </a:r>
            <a:endParaRPr lang="en-IN" sz="2000" dirty="0" smtClean="0"/>
          </a:p>
          <a:p>
            <a:r>
              <a:rPr lang="en-IN" sz="2000" dirty="0" smtClean="0"/>
              <a:t>Secondary drowning/ near drowning</a:t>
            </a:r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</p:txBody>
      </p:sp>
      <p:pic>
        <p:nvPicPr>
          <p:cNvPr id="4" name="Picture 3" descr="photo_2025-06-05_19-36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2" y="2071678"/>
            <a:ext cx="3302817" cy="3643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85728"/>
            <a:ext cx="8686800" cy="62865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sz="2000" b="1" dirty="0" smtClean="0"/>
              <a:t>WET DROWNING ( TYPICAL DROWNING):</a:t>
            </a:r>
          </a:p>
          <a:p>
            <a:r>
              <a:rPr lang="en-IN" sz="2000" dirty="0" smtClean="0"/>
              <a:t>It is a condition in which the obstruction of air passages and lungs by fluids</a:t>
            </a:r>
          </a:p>
          <a:p>
            <a:r>
              <a:rPr lang="en-IN" sz="2000" dirty="0" smtClean="0"/>
              <a:t>Here, victim has severe chest pain, and death occurs due to cardiac arrest or ventricular fibrillation</a:t>
            </a:r>
          </a:p>
          <a:p>
            <a:r>
              <a:rPr lang="en-IN" sz="2000" dirty="0" smtClean="0"/>
              <a:t>Wet drowning includes fresh water and salt water drowning</a:t>
            </a:r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endParaRPr lang="en-IN" sz="2000" dirty="0" smtClean="0"/>
          </a:p>
          <a:p>
            <a:pPr>
              <a:buNone/>
            </a:pPr>
            <a:endParaRPr lang="en-IN" sz="2000" b="1" dirty="0" smtClean="0"/>
          </a:p>
          <a:p>
            <a:pPr>
              <a:buNone/>
            </a:pPr>
            <a:r>
              <a:rPr lang="en-IN" sz="2000" b="1" dirty="0" smtClean="0"/>
              <a:t>ATYPICAL DROWNING:</a:t>
            </a:r>
          </a:p>
          <a:p>
            <a:pPr>
              <a:buNone/>
            </a:pPr>
            <a:r>
              <a:rPr lang="en-IN" sz="2000" dirty="0" smtClean="0"/>
              <a:t>It is a condition in which there is very little or no inhalation of water in air passage and </a:t>
            </a:r>
            <a:r>
              <a:rPr lang="en-IN" sz="2000" dirty="0" smtClean="0"/>
              <a:t>includes:</a:t>
            </a:r>
            <a:endParaRPr lang="en-IN" sz="2000" dirty="0" smtClean="0"/>
          </a:p>
          <a:p>
            <a:endParaRPr lang="en-US" sz="2000" dirty="0"/>
          </a:p>
        </p:txBody>
      </p:sp>
      <p:pic>
        <p:nvPicPr>
          <p:cNvPr id="6" name="Picture 5" descr="photo_2025-06-06_17-02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2071678"/>
            <a:ext cx="3714776" cy="3032470"/>
          </a:xfrm>
          <a:prstGeom prst="rect">
            <a:avLst/>
          </a:prstGeom>
        </p:spPr>
      </p:pic>
      <p:pic>
        <p:nvPicPr>
          <p:cNvPr id="7" name="Picture 6" descr="photo_2025-06-06_17-02-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4" y="2071678"/>
            <a:ext cx="3804146" cy="30003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14290"/>
            <a:ext cx="8777318" cy="65008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/>
              <a:t>DRY DROWNING:</a:t>
            </a:r>
          </a:p>
          <a:p>
            <a:pPr>
              <a:buNone/>
            </a:pPr>
            <a:r>
              <a:rPr lang="en-IN" sz="2000" dirty="0" smtClean="0"/>
              <a:t>In this condition, no or little water is inhaled </a:t>
            </a:r>
          </a:p>
          <a:p>
            <a:pPr>
              <a:buNone/>
            </a:pPr>
            <a:r>
              <a:rPr lang="en-IN" sz="2000" dirty="0" smtClean="0"/>
              <a:t>in respiratory tract. Here death occurs due to </a:t>
            </a:r>
          </a:p>
          <a:p>
            <a:pPr>
              <a:buNone/>
            </a:pPr>
            <a:r>
              <a:rPr lang="en-IN" sz="2000" dirty="0" smtClean="0"/>
              <a:t>laryngeal spasm</a:t>
            </a:r>
          </a:p>
          <a:p>
            <a:pPr>
              <a:buNone/>
            </a:pPr>
            <a:r>
              <a:rPr lang="en-IN" sz="2000" u="sng" dirty="0" smtClean="0"/>
              <a:t>Clinical features: </a:t>
            </a:r>
            <a:r>
              <a:rPr lang="en-IN" sz="2000" dirty="0" smtClean="0"/>
              <a:t>coughing, difficulty breathing, confusion</a:t>
            </a:r>
          </a:p>
          <a:p>
            <a:pPr>
              <a:buNone/>
            </a:pPr>
            <a:r>
              <a:rPr lang="en-IN" sz="2000" dirty="0" smtClean="0"/>
              <a:t>sleepiness, fast or hard breathing.</a:t>
            </a:r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r>
              <a:rPr lang="en-IN" sz="2000" b="1" dirty="0" smtClean="0"/>
              <a:t>SHALLOW WATER DROWNING:</a:t>
            </a:r>
          </a:p>
          <a:p>
            <a:pPr>
              <a:buNone/>
            </a:pPr>
            <a:r>
              <a:rPr lang="en-IN" sz="2000" dirty="0" smtClean="0"/>
              <a:t>In this condition, drowning occurs in small puddle of </a:t>
            </a:r>
          </a:p>
          <a:p>
            <a:pPr>
              <a:buNone/>
            </a:pPr>
            <a:r>
              <a:rPr lang="en-IN" sz="2000" dirty="0" smtClean="0"/>
              <a:t>water when depth of water is only few inches but</a:t>
            </a:r>
          </a:p>
          <a:p>
            <a:pPr>
              <a:buNone/>
            </a:pPr>
            <a:r>
              <a:rPr lang="en-IN" sz="2000" dirty="0" smtClean="0"/>
              <a:t>sufficient to submerge the mouth and nostrils. It </a:t>
            </a:r>
          </a:p>
          <a:p>
            <a:pPr>
              <a:buNone/>
            </a:pPr>
            <a:r>
              <a:rPr lang="en-IN" sz="2000" dirty="0" smtClean="0"/>
              <a:t>is mostly accidental in those persons who are disabled </a:t>
            </a:r>
          </a:p>
          <a:p>
            <a:pPr>
              <a:buNone/>
            </a:pPr>
            <a:r>
              <a:rPr lang="en-IN" sz="2000" dirty="0" smtClean="0"/>
              <a:t>or small children, epileptics, drunkards</a:t>
            </a:r>
          </a:p>
          <a:p>
            <a:pPr>
              <a:buNone/>
            </a:pPr>
            <a:r>
              <a:rPr lang="en-IN" sz="2000" b="1" dirty="0" smtClean="0"/>
              <a:t>IMMERSION SYNDROME/ HYDROCUTION:</a:t>
            </a:r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Sudden contact of cold water with body surface leads </a:t>
            </a:r>
          </a:p>
          <a:p>
            <a:pPr>
              <a:buNone/>
            </a:pPr>
            <a:r>
              <a:rPr lang="en-IN" sz="2000" dirty="0" smtClean="0"/>
              <a:t>to stimulation of nerve endings and causes </a:t>
            </a:r>
            <a:r>
              <a:rPr lang="en-IN" sz="2000" dirty="0" err="1" smtClean="0"/>
              <a:t>vagal</a:t>
            </a:r>
            <a:r>
              <a:rPr lang="en-IN" sz="2000" dirty="0" smtClean="0"/>
              <a:t> inhibition</a:t>
            </a:r>
          </a:p>
          <a:p>
            <a:pPr>
              <a:buNone/>
            </a:pPr>
            <a:r>
              <a:rPr lang="en-IN" sz="2000" dirty="0" smtClean="0"/>
              <a:t>and leads to death of person due to cardiac arrest.</a:t>
            </a:r>
          </a:p>
          <a:p>
            <a:pPr>
              <a:buNone/>
            </a:pPr>
            <a:endParaRPr lang="en-US" sz="2000" dirty="0"/>
          </a:p>
        </p:txBody>
      </p:sp>
      <p:pic>
        <p:nvPicPr>
          <p:cNvPr id="4" name="Picture 3" descr="photo_2025-06-06_17-08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26" y="142852"/>
            <a:ext cx="2500298" cy="2428892"/>
          </a:xfrm>
          <a:prstGeom prst="rect">
            <a:avLst/>
          </a:prstGeom>
        </p:spPr>
      </p:pic>
      <p:pic>
        <p:nvPicPr>
          <p:cNvPr id="5" name="Picture 4" descr="photo_2025-06-06_17-20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226" y="2643182"/>
            <a:ext cx="2589774" cy="1785950"/>
          </a:xfrm>
          <a:prstGeom prst="rect">
            <a:avLst/>
          </a:prstGeom>
        </p:spPr>
      </p:pic>
      <p:pic>
        <p:nvPicPr>
          <p:cNvPr id="6" name="Picture 5" descr="photo_2025-06-06_17-30-2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16" y="4572008"/>
            <a:ext cx="1857388" cy="2285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2852"/>
            <a:ext cx="8686800" cy="64294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/>
              <a:t>SECONDARY DROWNING/ NEAR DROWNING:</a:t>
            </a:r>
          </a:p>
          <a:p>
            <a:pPr>
              <a:buNone/>
            </a:pPr>
            <a:r>
              <a:rPr lang="en-IN" sz="2000" dirty="0" smtClean="0"/>
              <a:t>It refers to a condition in which there is survival of </a:t>
            </a:r>
          </a:p>
          <a:p>
            <a:pPr>
              <a:buNone/>
            </a:pPr>
            <a:r>
              <a:rPr lang="en-IN" sz="2000" dirty="0" smtClean="0"/>
              <a:t>person following immersion episode and the victim die</a:t>
            </a:r>
          </a:p>
          <a:p>
            <a:pPr>
              <a:buNone/>
            </a:pPr>
            <a:r>
              <a:rPr lang="en-IN" sz="2000" dirty="0" smtClean="0"/>
              <a:t>subsequently as a result of </a:t>
            </a:r>
            <a:r>
              <a:rPr lang="en-IN" sz="2000" dirty="0" err="1" smtClean="0"/>
              <a:t>pathophysiological</a:t>
            </a:r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consequences. Death occurs as a sole or combine</a:t>
            </a:r>
          </a:p>
          <a:p>
            <a:pPr>
              <a:buNone/>
            </a:pPr>
            <a:r>
              <a:rPr lang="en-IN" sz="2000" dirty="0" smtClean="0"/>
              <a:t>effect of pulmonary </a:t>
            </a:r>
            <a:r>
              <a:rPr lang="en-IN" sz="2000" dirty="0" err="1" smtClean="0"/>
              <a:t>edema</a:t>
            </a:r>
            <a:r>
              <a:rPr lang="en-IN" sz="2000" dirty="0" smtClean="0"/>
              <a:t>, aspiration pneumonia and </a:t>
            </a:r>
          </a:p>
          <a:p>
            <a:pPr>
              <a:buNone/>
            </a:pPr>
            <a:r>
              <a:rPr lang="en-IN" sz="2000" dirty="0" err="1" smtClean="0"/>
              <a:t>electrolye</a:t>
            </a:r>
            <a:r>
              <a:rPr lang="en-IN" sz="2000" dirty="0" smtClean="0"/>
              <a:t> imbalance.</a:t>
            </a:r>
          </a:p>
          <a:p>
            <a:pPr>
              <a:buNone/>
            </a:pPr>
            <a:r>
              <a:rPr lang="en-IN" sz="2000" b="1" dirty="0" smtClean="0"/>
              <a:t>CAUSES OF DEATH:</a:t>
            </a:r>
          </a:p>
          <a:p>
            <a:r>
              <a:rPr lang="en-IN" sz="2000" dirty="0" smtClean="0"/>
              <a:t>Asphyxia</a:t>
            </a:r>
          </a:p>
          <a:p>
            <a:r>
              <a:rPr lang="en-IN" sz="2000" dirty="0" err="1" smtClean="0"/>
              <a:t>Vagal</a:t>
            </a:r>
            <a:r>
              <a:rPr lang="en-IN" sz="2000" dirty="0" smtClean="0"/>
              <a:t> inhibition</a:t>
            </a:r>
          </a:p>
          <a:p>
            <a:r>
              <a:rPr lang="en-IN" sz="2000" dirty="0" smtClean="0"/>
              <a:t>Ventricular fibrillation</a:t>
            </a:r>
          </a:p>
          <a:p>
            <a:r>
              <a:rPr lang="en-IN" sz="2000" dirty="0" smtClean="0"/>
              <a:t>Myocardial anoxia</a:t>
            </a:r>
          </a:p>
          <a:p>
            <a:r>
              <a:rPr lang="en-IN" sz="2000" dirty="0" smtClean="0"/>
              <a:t>Laryngeal spasm</a:t>
            </a:r>
          </a:p>
          <a:p>
            <a:r>
              <a:rPr lang="en-IN" sz="2000" dirty="0" smtClean="0"/>
              <a:t>Exhaustion</a:t>
            </a:r>
          </a:p>
          <a:p>
            <a:r>
              <a:rPr lang="en-IN" sz="2000" dirty="0" smtClean="0"/>
              <a:t>Hypothermia</a:t>
            </a:r>
          </a:p>
          <a:p>
            <a:r>
              <a:rPr lang="en-IN" sz="2000" dirty="0" smtClean="0"/>
              <a:t>Head injury</a:t>
            </a:r>
            <a:endParaRPr lang="en-US" sz="2000" dirty="0"/>
          </a:p>
        </p:txBody>
      </p:sp>
      <p:pic>
        <p:nvPicPr>
          <p:cNvPr id="4" name="Picture 3" descr="photo_2025-06-06_17-36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8" y="0"/>
            <a:ext cx="2500330" cy="3663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4678" y="2786058"/>
            <a:ext cx="30003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SIGNS  AND SYMPTOMS:</a:t>
            </a:r>
          </a:p>
          <a:p>
            <a:pPr>
              <a:buFont typeface="Arial" pitchFamily="34" charset="0"/>
              <a:buChar char="•"/>
            </a:pPr>
            <a:r>
              <a:rPr lang="en-IN" sz="2000" dirty="0" smtClean="0"/>
              <a:t>Cyanosis, coughing and production of frothy white sputum</a:t>
            </a:r>
          </a:p>
          <a:p>
            <a:pPr>
              <a:buFont typeface="Arial" pitchFamily="34" charset="0"/>
              <a:buChar char="•"/>
            </a:pPr>
            <a:r>
              <a:rPr lang="en-IN" sz="2000" dirty="0" err="1" smtClean="0"/>
              <a:t>Tachypnea</a:t>
            </a:r>
            <a:r>
              <a:rPr lang="en-IN" sz="2000" dirty="0" smtClean="0"/>
              <a:t>, tachycardia</a:t>
            </a:r>
          </a:p>
          <a:p>
            <a:pPr>
              <a:buFont typeface="Arial" pitchFamily="34" charset="0"/>
              <a:buChar char="•"/>
            </a:pPr>
            <a:r>
              <a:rPr lang="en-IN" sz="2000" dirty="0" smtClean="0"/>
              <a:t>Low grade fever</a:t>
            </a:r>
          </a:p>
          <a:p>
            <a:pPr>
              <a:buFont typeface="Arial" pitchFamily="34" charset="0"/>
              <a:buChar char="•"/>
            </a:pPr>
            <a:r>
              <a:rPr lang="en-IN" sz="2000" dirty="0" err="1" smtClean="0"/>
              <a:t>Rales</a:t>
            </a:r>
            <a:r>
              <a:rPr lang="en-IN" sz="2000" dirty="0" smtClean="0"/>
              <a:t>, </a:t>
            </a:r>
            <a:r>
              <a:rPr lang="en-IN" sz="2000" dirty="0" err="1" smtClean="0"/>
              <a:t>rhonchi</a:t>
            </a:r>
            <a:endParaRPr lang="en-IN" sz="2000" dirty="0" smtClean="0"/>
          </a:p>
          <a:p>
            <a:pPr>
              <a:buFont typeface="Arial" pitchFamily="34" charset="0"/>
              <a:buChar char="•"/>
            </a:pPr>
            <a:r>
              <a:rPr lang="en-IN" sz="2000" dirty="0" smtClean="0"/>
              <a:t>Signs of associated head and neck trauma</a:t>
            </a:r>
          </a:p>
          <a:p>
            <a:pPr>
              <a:buFont typeface="Arial" pitchFamily="34" charset="0"/>
              <a:buChar char="•"/>
            </a:pPr>
            <a:r>
              <a:rPr lang="en-IN" sz="2000" dirty="0" smtClean="0"/>
              <a:t>Coma to </a:t>
            </a:r>
            <a:r>
              <a:rPr lang="en-IN" sz="2000" dirty="0" err="1" smtClean="0"/>
              <a:t>aggitated</a:t>
            </a:r>
            <a:r>
              <a:rPr lang="en-IN" sz="2000" dirty="0" smtClean="0"/>
              <a:t> alert</a:t>
            </a:r>
            <a:endParaRPr lang="en-US" sz="2000" dirty="0"/>
          </a:p>
        </p:txBody>
      </p:sp>
      <p:pic>
        <p:nvPicPr>
          <p:cNvPr id="6" name="Picture 5" descr="photo_2025-06-06_17-52-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702" y="3714752"/>
            <a:ext cx="2200649" cy="19288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4290"/>
            <a:ext cx="8686800" cy="58658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EFFECTS OF DROWNING </a:t>
            </a:r>
          </a:p>
          <a:p>
            <a:r>
              <a:rPr lang="en-US" sz="2000" b="1" dirty="0" smtClean="0"/>
              <a:t>Pulmonary :</a:t>
            </a:r>
          </a:p>
          <a:p>
            <a:pPr>
              <a:buNone/>
            </a:pPr>
            <a:r>
              <a:rPr lang="en-US" sz="2000" dirty="0" smtClean="0"/>
              <a:t>• Aspirated water washes out surfactant causing acute respiratory distress syndrome </a:t>
            </a:r>
          </a:p>
          <a:p>
            <a:pPr>
              <a:buNone/>
            </a:pPr>
            <a:r>
              <a:rPr lang="en-US" sz="2000" dirty="0" smtClean="0"/>
              <a:t>• Decreased lung compliance </a:t>
            </a:r>
          </a:p>
          <a:p>
            <a:pPr>
              <a:buNone/>
            </a:pPr>
            <a:r>
              <a:rPr lang="en-US" sz="2000" dirty="0" smtClean="0"/>
              <a:t>• Ventilation–perfusion mismatching </a:t>
            </a:r>
          </a:p>
          <a:p>
            <a:pPr>
              <a:buNone/>
            </a:pPr>
            <a:r>
              <a:rPr lang="en-US" sz="2000" dirty="0" smtClean="0"/>
              <a:t>• Chest X-ray can be normal, localized, </a:t>
            </a:r>
            <a:r>
              <a:rPr lang="en-US" sz="2000" dirty="0" err="1" smtClean="0"/>
              <a:t>perihilar</a:t>
            </a:r>
            <a:r>
              <a:rPr lang="en-US" sz="2000" dirty="0" smtClean="0"/>
              <a:t> or diffuse pulmonary edema.  </a:t>
            </a:r>
          </a:p>
          <a:p>
            <a:r>
              <a:rPr lang="en-US" sz="2000" b="1" dirty="0" smtClean="0"/>
              <a:t>Neurological:</a:t>
            </a:r>
          </a:p>
          <a:p>
            <a:pPr>
              <a:buNone/>
            </a:pPr>
            <a:r>
              <a:rPr lang="en-US" sz="2000" dirty="0" smtClean="0"/>
              <a:t>• Hypoxic neuronal damage </a:t>
            </a:r>
          </a:p>
          <a:p>
            <a:pPr>
              <a:buNone/>
            </a:pPr>
            <a:r>
              <a:rPr lang="en-US" sz="2000" dirty="0" smtClean="0"/>
              <a:t>• Cerebral edema/raised ICT </a:t>
            </a:r>
          </a:p>
          <a:p>
            <a:r>
              <a:rPr lang="en-US" sz="2000" b="1" dirty="0" smtClean="0"/>
              <a:t>Cardiovascular: </a:t>
            </a:r>
          </a:p>
          <a:p>
            <a:pPr>
              <a:buNone/>
            </a:pPr>
            <a:r>
              <a:rPr lang="en-US" sz="2000" dirty="0" smtClean="0"/>
              <a:t>• Arrhythmias can be secondary to hypothermia or hypoxia.  </a:t>
            </a:r>
          </a:p>
          <a:p>
            <a:pPr>
              <a:buNone/>
            </a:pPr>
            <a:r>
              <a:rPr lang="en-US" sz="2000" dirty="0" smtClean="0"/>
              <a:t>• Most common include sinus tachycardia, sinus </a:t>
            </a:r>
            <a:r>
              <a:rPr lang="en-US" sz="2000" dirty="0" err="1" smtClean="0"/>
              <a:t>bradycardia</a:t>
            </a:r>
            <a:r>
              <a:rPr lang="en-US" sz="2000" dirty="0" smtClean="0"/>
              <a:t>, </a:t>
            </a:r>
            <a:r>
              <a:rPr lang="en-US" sz="2000" dirty="0" err="1" smtClean="0"/>
              <a:t>atrial</a:t>
            </a:r>
            <a:r>
              <a:rPr lang="en-US" sz="2000" dirty="0" smtClean="0"/>
              <a:t> fibrillation </a:t>
            </a:r>
          </a:p>
          <a:p>
            <a:r>
              <a:rPr lang="en-US" sz="2000" b="1" dirty="0" smtClean="0"/>
              <a:t>Renal: </a:t>
            </a:r>
          </a:p>
          <a:p>
            <a:pPr>
              <a:buNone/>
            </a:pPr>
            <a:r>
              <a:rPr lang="en-US" sz="2000" dirty="0" smtClean="0"/>
              <a:t>• Hypoxic acute tubular necrosis can occur in near fatal drowning.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85728"/>
            <a:ext cx="8686800" cy="62865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sz="2000" b="1" dirty="0" smtClean="0"/>
              <a:t>DIAGNOSTIC TESTS FOR DROWNING:</a:t>
            </a:r>
          </a:p>
          <a:p>
            <a:r>
              <a:rPr lang="en-IN" sz="2000" dirty="0" smtClean="0"/>
              <a:t>Chest XRAY: Helps to visualize the extent of lung damage such as </a:t>
            </a:r>
            <a:r>
              <a:rPr lang="en-IN" sz="2000" dirty="0" err="1" smtClean="0"/>
              <a:t>edema</a:t>
            </a:r>
            <a:r>
              <a:rPr lang="en-IN" sz="2000" dirty="0" smtClean="0"/>
              <a:t> or fluid accumulation</a:t>
            </a:r>
          </a:p>
          <a:p>
            <a:r>
              <a:rPr lang="en-IN" sz="2000" dirty="0" smtClean="0"/>
              <a:t>Blood tests: It helps to assess </a:t>
            </a:r>
            <a:r>
              <a:rPr lang="en-IN" sz="2000" dirty="0" err="1" smtClean="0"/>
              <a:t>elctrolytes</a:t>
            </a:r>
            <a:r>
              <a:rPr lang="en-IN" sz="2000" dirty="0" smtClean="0"/>
              <a:t> imbalances, blood glucose levels and rule out other conditions contributing to drowning</a:t>
            </a:r>
          </a:p>
          <a:p>
            <a:r>
              <a:rPr lang="en-IN" sz="2000" dirty="0" smtClean="0"/>
              <a:t>ECG: It helps in evaluate for heart </a:t>
            </a:r>
            <a:r>
              <a:rPr lang="en-IN" sz="2000" dirty="0" err="1" smtClean="0"/>
              <a:t>arrythmias</a:t>
            </a:r>
            <a:r>
              <a:rPr lang="en-IN" sz="2000" dirty="0" smtClean="0"/>
              <a:t> or other cardiac issues which can </a:t>
            </a:r>
            <a:r>
              <a:rPr lang="en-IN" sz="2000" dirty="0" err="1" smtClean="0"/>
              <a:t>contribuite</a:t>
            </a:r>
            <a:r>
              <a:rPr lang="en-IN" sz="2000" dirty="0" smtClean="0"/>
              <a:t> for drowning</a:t>
            </a:r>
          </a:p>
          <a:p>
            <a:r>
              <a:rPr lang="en-IN" sz="2000" dirty="0" smtClean="0"/>
              <a:t>Diatom test( </a:t>
            </a:r>
            <a:r>
              <a:rPr lang="en-IN" sz="2000" dirty="0" err="1" smtClean="0"/>
              <a:t>Foresnsic</a:t>
            </a:r>
            <a:r>
              <a:rPr lang="en-IN" sz="2000" dirty="0" smtClean="0"/>
              <a:t> cases): In forensic investigations, diatoms found in organs can help support the diagnosis of drowning if the victim aspirated water.</a:t>
            </a:r>
          </a:p>
          <a:p>
            <a:pPr>
              <a:buNone/>
            </a:pPr>
            <a:r>
              <a:rPr lang="en-IN" sz="2000" b="1" dirty="0" smtClean="0"/>
              <a:t>FIRST AID MANAGEMENT FOR DROWNING: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rgbClr val="C00000"/>
                </a:solidFill>
              </a:rPr>
              <a:t>1. Scene safety: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Make sure the scene is safe for victim and rescuer.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rgbClr val="C00000"/>
                </a:solidFill>
              </a:rPr>
              <a:t>2. Rescue the victim to land:</a:t>
            </a:r>
          </a:p>
          <a:p>
            <a:pPr marL="457200" indent="-457200"/>
            <a:r>
              <a:rPr lang="en-IN" sz="2000" dirty="0" smtClean="0">
                <a:solidFill>
                  <a:srgbClr val="002060"/>
                </a:solidFill>
              </a:rPr>
              <a:t>Call- </a:t>
            </a:r>
            <a:r>
              <a:rPr lang="en-IN" sz="2000" dirty="0" smtClean="0">
                <a:solidFill>
                  <a:schemeClr val="tx1"/>
                </a:solidFill>
              </a:rPr>
              <a:t>Call the nearby person for help</a:t>
            </a:r>
          </a:p>
          <a:p>
            <a:pPr marL="457200" indent="-457200"/>
            <a:r>
              <a:rPr lang="en-IN" sz="2000" dirty="0" smtClean="0">
                <a:solidFill>
                  <a:srgbClr val="002060"/>
                </a:solidFill>
              </a:rPr>
              <a:t>Reach- </a:t>
            </a:r>
            <a:r>
              <a:rPr lang="en-IN" sz="2000" dirty="0" smtClean="0">
                <a:solidFill>
                  <a:schemeClr val="tx1"/>
                </a:solidFill>
              </a:rPr>
              <a:t>Try to reach the victim</a:t>
            </a:r>
          </a:p>
          <a:p>
            <a:pPr marL="457200" indent="-457200"/>
            <a:r>
              <a:rPr lang="en-IN" sz="2000" dirty="0" smtClean="0">
                <a:solidFill>
                  <a:srgbClr val="002060"/>
                </a:solidFill>
              </a:rPr>
              <a:t>Throw and tow-</a:t>
            </a:r>
            <a:r>
              <a:rPr lang="en-IN" sz="2000" dirty="0" smtClean="0">
                <a:solidFill>
                  <a:schemeClr val="tx1"/>
                </a:solidFill>
              </a:rPr>
              <a:t> Throw- rope, life rings, floating </a:t>
            </a:r>
          </a:p>
          <a:p>
            <a:pPr marL="457200" indent="-457200"/>
            <a:r>
              <a:rPr lang="en-IN" sz="2000" dirty="0" smtClean="0">
                <a:solidFill>
                  <a:schemeClr val="tx1"/>
                </a:solidFill>
              </a:rPr>
              <a:t>rings to the victim</a:t>
            </a:r>
            <a:endParaRPr lang="en-IN" sz="2000" dirty="0" smtClean="0">
              <a:solidFill>
                <a:srgbClr val="002060"/>
              </a:solidFill>
            </a:endParaRPr>
          </a:p>
          <a:p>
            <a:pPr marL="457200" indent="-457200"/>
            <a:endParaRPr lang="en-IN" sz="2000" dirty="0" smtClean="0"/>
          </a:p>
          <a:p>
            <a:pPr marL="457200" indent="-457200">
              <a:buAutoNum type="alphaUcParenR"/>
            </a:pPr>
            <a:endParaRPr lang="en-IN" sz="2000" b="1" dirty="0" smtClean="0"/>
          </a:p>
          <a:p>
            <a:endParaRPr lang="en-IN" sz="2000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60" y="3590418"/>
            <a:ext cx="2853089" cy="248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4290"/>
            <a:ext cx="8686800" cy="6643710"/>
          </a:xfrm>
        </p:spPr>
        <p:txBody>
          <a:bodyPr>
            <a:normAutofit/>
          </a:bodyPr>
          <a:lstStyle/>
          <a:p>
            <a:r>
              <a:rPr lang="en-IN" sz="2000" dirty="0" smtClean="0">
                <a:solidFill>
                  <a:srgbClr val="002060"/>
                </a:solidFill>
              </a:rPr>
              <a:t>Row- </a:t>
            </a:r>
            <a:r>
              <a:rPr lang="en-IN" sz="2000" dirty="0" smtClean="0">
                <a:solidFill>
                  <a:schemeClr val="tx1"/>
                </a:solidFill>
              </a:rPr>
              <a:t>Row the victim if possible</a:t>
            </a:r>
          </a:p>
          <a:p>
            <a:r>
              <a:rPr lang="en-IN" sz="2000" dirty="0" smtClean="0">
                <a:solidFill>
                  <a:srgbClr val="002060"/>
                </a:solidFill>
              </a:rPr>
              <a:t>Go- </a:t>
            </a:r>
            <a:r>
              <a:rPr lang="en-IN" sz="2000" dirty="0" smtClean="0">
                <a:solidFill>
                  <a:schemeClr val="tx1"/>
                </a:solidFill>
              </a:rPr>
              <a:t>Go yourself to rescue the victim if possible</a:t>
            </a: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 smtClean="0">
                <a:solidFill>
                  <a:srgbClr val="C00000"/>
                </a:solidFill>
              </a:rPr>
              <a:t>3. Position:</a:t>
            </a:r>
          </a:p>
          <a:p>
            <a:pPr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Position the victim on their back first (Supine).</a:t>
            </a: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sz="2000" dirty="0" smtClean="0">
                <a:solidFill>
                  <a:srgbClr val="C00000"/>
                </a:solidFill>
              </a:rPr>
              <a:t>4. Activate the medical emergency system:</a:t>
            </a:r>
          </a:p>
          <a:p>
            <a:pPr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Inform the medical emergency unit through phone</a:t>
            </a: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sz="2000" dirty="0" smtClean="0">
                <a:solidFill>
                  <a:srgbClr val="C00000"/>
                </a:solidFill>
              </a:rPr>
              <a:t>5. Observe: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N" sz="2000" b="1" dirty="0" err="1" smtClean="0">
                <a:solidFill>
                  <a:schemeClr val="tx1"/>
                </a:solidFill>
              </a:rPr>
              <a:t>Obseve</a:t>
            </a:r>
            <a:r>
              <a:rPr lang="en-IN" sz="2000" b="1" dirty="0" smtClean="0">
                <a:solidFill>
                  <a:schemeClr val="tx1"/>
                </a:solidFill>
              </a:rPr>
              <a:t> a patient if he/she is conscious</a:t>
            </a:r>
            <a:r>
              <a:rPr lang="en-IN" sz="2000" dirty="0" smtClean="0">
                <a:solidFill>
                  <a:schemeClr val="tx1"/>
                </a:solidFill>
              </a:rPr>
              <a:t>: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Warm the victim by covering with blanket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Provide recovery position and shift the patient to hospital.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IN" sz="2000" b="1" dirty="0" smtClean="0">
                <a:solidFill>
                  <a:schemeClr val="tx1"/>
                </a:solidFill>
              </a:rPr>
              <a:t>If the victim is unconscious and unresponsive with</a:t>
            </a:r>
          </a:p>
          <a:p>
            <a:pPr marL="457200" indent="-457200">
              <a:buNone/>
            </a:pPr>
            <a:r>
              <a:rPr lang="en-IN" sz="2000" b="1" dirty="0" smtClean="0">
                <a:solidFill>
                  <a:schemeClr val="tx1"/>
                </a:solidFill>
              </a:rPr>
              <a:t>no breathing and pulse: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Start CPR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Reassess the condition every 2 minutes and shift the victim</a:t>
            </a:r>
          </a:p>
          <a:p>
            <a:pPr marL="457200" indent="-457200"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t</a:t>
            </a:r>
            <a:r>
              <a:rPr lang="en-IN" sz="2000" dirty="0" smtClean="0">
                <a:solidFill>
                  <a:schemeClr val="tx1"/>
                </a:solidFill>
              </a:rPr>
              <a:t>o </a:t>
            </a:r>
            <a:r>
              <a:rPr lang="en-IN" sz="2000" dirty="0" smtClean="0">
                <a:solidFill>
                  <a:schemeClr val="tx1"/>
                </a:solidFill>
              </a:rPr>
              <a:t>hospital.</a:t>
            </a:r>
          </a:p>
          <a:p>
            <a:pPr marL="457200" indent="-45720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AutoNum type="alphaLcParenR"/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64" y="0"/>
            <a:ext cx="2335592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071678"/>
            <a:ext cx="2590744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29454" y="3929066"/>
            <a:ext cx="1928826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14290"/>
            <a:ext cx="8686800" cy="64294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/>
              <a:t>HOSPITAL EMERGENCY MANAGEMENT:</a:t>
            </a:r>
          </a:p>
          <a:p>
            <a:r>
              <a:rPr lang="en-IN" sz="2000" dirty="0" smtClean="0"/>
              <a:t>Trauma assessment to look for other injuries (including cervical spine injuries)</a:t>
            </a:r>
          </a:p>
          <a:p>
            <a:r>
              <a:rPr lang="en-IN" sz="2000" dirty="0" smtClean="0"/>
              <a:t>Wet clothes should be removed and warming blankets should be applied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000" b="1" dirty="0" smtClean="0"/>
              <a:t>NEUROLOGICAL INJURIES: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IN" sz="2000" dirty="0" smtClean="0"/>
              <a:t>Main goal is to prevent secondary neurological injuries due to ischemia, cerebral </a:t>
            </a:r>
            <a:r>
              <a:rPr lang="en-IN" sz="2000" dirty="0" err="1" smtClean="0"/>
              <a:t>edema</a:t>
            </a:r>
            <a:r>
              <a:rPr lang="en-IN" sz="2000" dirty="0" smtClean="0"/>
              <a:t>, hypotension, </a:t>
            </a:r>
            <a:r>
              <a:rPr lang="en-IN" sz="2000" dirty="0" err="1" smtClean="0"/>
              <a:t>electrolye</a:t>
            </a:r>
            <a:r>
              <a:rPr lang="en-IN" sz="2000" dirty="0" smtClean="0"/>
              <a:t> imbalance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IN" sz="2000" dirty="0" smtClean="0"/>
              <a:t>Elevation of head end at 30 degrees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IN" sz="2000" dirty="0" smtClean="0"/>
              <a:t>Diuretics to decrease cerebral </a:t>
            </a:r>
            <a:r>
              <a:rPr lang="en-IN" sz="2000" dirty="0" err="1" smtClean="0"/>
              <a:t>edema</a:t>
            </a:r>
            <a:r>
              <a:rPr lang="en-IN" sz="2000" dirty="0" smtClean="0"/>
              <a:t>, titrated so as to not cause hypotension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IN" sz="2000" dirty="0" smtClean="0"/>
              <a:t>Prevent seizure by using non sedative </a:t>
            </a:r>
            <a:r>
              <a:rPr lang="en-IN" sz="2000" dirty="0" err="1" smtClean="0"/>
              <a:t>antiepileptics</a:t>
            </a:r>
            <a:r>
              <a:rPr lang="en-IN" sz="2000" dirty="0" smtClean="0"/>
              <a:t> like </a:t>
            </a:r>
            <a:r>
              <a:rPr lang="en-IN" sz="2000" dirty="0" err="1" smtClean="0"/>
              <a:t>phenytoin</a:t>
            </a:r>
            <a:endParaRPr lang="en-IN" sz="2000" dirty="0" smtClean="0"/>
          </a:p>
          <a:p>
            <a:pPr marL="457200" indent="-457200">
              <a:buFont typeface="Wingdings" pitchFamily="2" charset="2"/>
              <a:buChar char="v"/>
            </a:pPr>
            <a:r>
              <a:rPr lang="en-IN" sz="2000" dirty="0" smtClean="0"/>
              <a:t>Avoid neuromuscular blockers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IN" sz="2000" dirty="0" smtClean="0"/>
              <a:t>Prevent hypo and </a:t>
            </a:r>
            <a:r>
              <a:rPr lang="en-IN" sz="2000" dirty="0" err="1" smtClean="0"/>
              <a:t>hyperglycemia</a:t>
            </a:r>
            <a:r>
              <a:rPr lang="en-IN" sz="2000" dirty="0" smtClean="0"/>
              <a:t> and maintain sugar level of </a:t>
            </a:r>
            <a:r>
              <a:rPr lang="en-IN" sz="2000" dirty="0" smtClean="0"/>
              <a:t>180-200mg/dl.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 dirty="0" smtClean="0"/>
              <a:t>Hyperventilation can be tried in patients with imminent threat of </a:t>
            </a:r>
            <a:r>
              <a:rPr lang="en-US" sz="2000" dirty="0" err="1" smtClean="0"/>
              <a:t>herniation</a:t>
            </a:r>
            <a:r>
              <a:rPr lang="en-US" sz="2000" dirty="0" smtClean="0"/>
              <a:t>. </a:t>
            </a:r>
            <a:r>
              <a:rPr lang="en-US" sz="2000" dirty="0" smtClean="0"/>
              <a:t>Prolonged </a:t>
            </a:r>
            <a:r>
              <a:rPr lang="en-US" sz="2000" dirty="0" smtClean="0"/>
              <a:t>hyperventilation should be avoided as it causes vasoconstriction and decreased cerebral blood flow. </a:t>
            </a:r>
            <a:endParaRPr lang="en-IN" sz="2000" dirty="0" smtClean="0"/>
          </a:p>
          <a:p>
            <a:pPr marL="457200" indent="-457200">
              <a:buFont typeface="Wingdings" pitchFamily="2" charset="2"/>
              <a:buChar char="v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85728"/>
            <a:ext cx="8686800" cy="579439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2. </a:t>
            </a:r>
            <a:r>
              <a:rPr lang="en-US" sz="2000" b="1" dirty="0" smtClean="0"/>
              <a:t>RESPIRATORY:</a:t>
            </a:r>
          </a:p>
          <a:p>
            <a:r>
              <a:rPr lang="en-US" sz="2000" dirty="0" smtClean="0"/>
              <a:t>   </a:t>
            </a:r>
            <a:r>
              <a:rPr lang="en-US" sz="2000" dirty="0" err="1" smtClean="0"/>
              <a:t>Bronchospasm</a:t>
            </a:r>
            <a:r>
              <a:rPr lang="en-US" sz="2000" dirty="0" smtClean="0"/>
              <a:t> is common and should be treated with </a:t>
            </a:r>
            <a:r>
              <a:rPr lang="en-US" sz="2000" dirty="0" err="1" smtClean="0"/>
              <a:t>nebulization</a:t>
            </a:r>
            <a:r>
              <a:rPr lang="en-US" sz="2000" dirty="0" smtClean="0"/>
              <a:t>. </a:t>
            </a:r>
          </a:p>
          <a:p>
            <a:r>
              <a:rPr lang="en-US" sz="2000" dirty="0" smtClean="0"/>
              <a:t>  Antibiotics are indicated in case chest X-ray shows features of consolidation. </a:t>
            </a:r>
          </a:p>
          <a:p>
            <a:r>
              <a:rPr lang="en-US" sz="2000" dirty="0" smtClean="0"/>
              <a:t>Pseudomonas should be covered in this case. </a:t>
            </a:r>
          </a:p>
          <a:p>
            <a:pPr>
              <a:buNone/>
            </a:pPr>
            <a:r>
              <a:rPr lang="en-US" sz="2000" dirty="0" smtClean="0"/>
              <a:t>  </a:t>
            </a:r>
            <a:r>
              <a:rPr lang="en-US" sz="2000" u="sng" dirty="0" smtClean="0"/>
              <a:t>Mechanical ventilation if indicated: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If </a:t>
            </a:r>
            <a:r>
              <a:rPr lang="en-US" sz="2000" dirty="0" smtClean="0"/>
              <a:t>SPO2 is &lt;90 or pO2 is &lt;60 on high flow </a:t>
            </a:r>
            <a:r>
              <a:rPr lang="en-US" sz="2000" dirty="0" smtClean="0"/>
              <a:t>oxygen.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Drowsy patient.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In </a:t>
            </a:r>
            <a:r>
              <a:rPr lang="en-US" sz="2000" dirty="0" smtClean="0"/>
              <a:t>patients on non-invasive ventilation, saturation is to be maintained above 94%   </a:t>
            </a:r>
            <a:endParaRPr lang="en-US" sz="2000" dirty="0" smtClean="0"/>
          </a:p>
          <a:p>
            <a:pPr marL="457200" indent="-457200"/>
            <a:r>
              <a:rPr lang="en-US" sz="2000" dirty="0" smtClean="0"/>
              <a:t>ECMO </a:t>
            </a:r>
            <a:r>
              <a:rPr lang="en-US" sz="2000" dirty="0" smtClean="0"/>
              <a:t>has been tried in a few case series but there is not too much evidence supporting its use. </a:t>
            </a:r>
          </a:p>
          <a:p>
            <a:r>
              <a:rPr lang="en-US" sz="2000" dirty="0" smtClean="0"/>
              <a:t>  Use of exogenous surfactant: Has been tried.</a:t>
            </a:r>
          </a:p>
          <a:p>
            <a:pPr>
              <a:buNone/>
            </a:pPr>
            <a:r>
              <a:rPr lang="en-US" sz="2000" dirty="0" smtClean="0"/>
              <a:t>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hoto_2025-06-09_00-34-3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976" y="428604"/>
            <a:ext cx="6929486" cy="6429396"/>
          </a:xfrm>
        </p:spPr>
      </p:pic>
      <p:sp>
        <p:nvSpPr>
          <p:cNvPr id="5" name="TextBox 4"/>
          <p:cNvSpPr txBox="1"/>
          <p:nvPr/>
        </p:nvSpPr>
        <p:spPr>
          <a:xfrm>
            <a:off x="2571736" y="0"/>
            <a:ext cx="3786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/>
              <a:t>Drowning algorithm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85728"/>
            <a:ext cx="8686800" cy="579439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POOR PROGNOSIS IN DROWNING: </a:t>
            </a:r>
          </a:p>
          <a:p>
            <a:pPr>
              <a:buNone/>
            </a:pPr>
            <a:r>
              <a:rPr lang="en-US" sz="2000" dirty="0" smtClean="0"/>
              <a:t>• </a:t>
            </a:r>
            <a:r>
              <a:rPr lang="en-US" sz="2000" dirty="0" smtClean="0"/>
              <a:t>Duration of submersion &gt;5 minutes (most critical factor)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• </a:t>
            </a:r>
            <a:r>
              <a:rPr lang="en-US" sz="2000" dirty="0" smtClean="0"/>
              <a:t>Time to effective basic life support &gt;10 minutes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• </a:t>
            </a:r>
            <a:r>
              <a:rPr lang="en-US" sz="2000" dirty="0" smtClean="0"/>
              <a:t>Resuscitation duration &gt;25 minutes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• </a:t>
            </a:r>
            <a:r>
              <a:rPr lang="en-US" sz="2000" dirty="0" smtClean="0"/>
              <a:t>Age &gt;14 years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• </a:t>
            </a:r>
            <a:r>
              <a:rPr lang="en-US" sz="2000" dirty="0" smtClean="0"/>
              <a:t>Glasgow Coma Scale &lt;5 (i.e. comatose)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• </a:t>
            </a:r>
            <a:r>
              <a:rPr lang="en-US" sz="2000" dirty="0" smtClean="0"/>
              <a:t>Persistent apnea and requirement of cardiopulmonary resuscitation in the emergency department 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• </a:t>
            </a:r>
            <a:r>
              <a:rPr lang="en-US" sz="2000" dirty="0" smtClean="0"/>
              <a:t>Arterial blood pH &lt;7.1 upon presentation</a:t>
            </a:r>
            <a:endParaRPr lang="en-US" sz="2000" dirty="0"/>
          </a:p>
        </p:txBody>
      </p:sp>
      <p:pic>
        <p:nvPicPr>
          <p:cNvPr id="4" name="Picture 3" descr="photo_2025-06-09_00-40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3857628"/>
            <a:ext cx="8715436" cy="2786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Gif - GIFcen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195</TotalTime>
  <Words>996</Words>
  <Application>Microsoft Office PowerPoint</Application>
  <PresentationFormat>On-screen Show (4:3)</PresentationFormat>
  <Paragraphs>153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Trek</vt:lpstr>
      <vt:lpstr>DROWNING AND ITS MANAGEMENT </vt:lpstr>
      <vt:lpstr>INTRODUCTION: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DROWNING AND ITS MANAGEMENT</dc:title>
  <dc:creator>Windows User</dc:creator>
  <cp:lastModifiedBy>Windows User</cp:lastModifiedBy>
  <cp:revision>27</cp:revision>
  <dcterms:created xsi:type="dcterms:W3CDTF">2025-06-05T13:45:38Z</dcterms:created>
  <dcterms:modified xsi:type="dcterms:W3CDTF">2025-06-08T19:36:07Z</dcterms:modified>
</cp:coreProperties>
</file>