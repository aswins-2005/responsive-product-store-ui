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5113000" cy="10680700"/>
  <p:notesSz cx="15113000" cy="10680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3475" y="3311017"/>
            <a:ext cx="12846050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6950" y="5981192"/>
            <a:ext cx="1057910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113000" cy="10680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55650" y="2456561"/>
            <a:ext cx="6574155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783195" y="2456561"/>
            <a:ext cx="6574155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5113000" cy="10680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1072" y="2363396"/>
            <a:ext cx="13281660" cy="4424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5650" y="2456561"/>
            <a:ext cx="1360170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38420" y="9933051"/>
            <a:ext cx="483616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55650" y="9933051"/>
            <a:ext cx="347599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81360" y="9933051"/>
            <a:ext cx="347599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3000" y="529021"/>
            <a:ext cx="14382115" cy="815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61290">
              <a:lnSpc>
                <a:spcPct val="100000"/>
              </a:lnSpc>
              <a:spcBef>
                <a:spcPts val="100"/>
              </a:spcBef>
            </a:pPr>
            <a:r>
              <a:rPr dirty="0" u="heavy" sz="2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General</a:t>
            </a:r>
            <a:r>
              <a:rPr dirty="0" u="heavy" sz="2400" spc="-9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Instructions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400">
              <a:latin typeface="Calibri"/>
              <a:cs typeface="Calibri"/>
            </a:endParaRPr>
          </a:p>
          <a:p>
            <a:pPr marL="290830" indent="-278130">
              <a:lnSpc>
                <a:spcPct val="100000"/>
              </a:lnSpc>
              <a:buAutoNum type="arabicPeriod"/>
              <a:tabLst>
                <a:tab pos="290830" algn="l"/>
              </a:tabLst>
            </a:pP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template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must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remain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unchanged.</a:t>
            </a:r>
            <a:endParaRPr sz="2200">
              <a:latin typeface="Calibri"/>
              <a:cs typeface="Calibri"/>
            </a:endParaRPr>
          </a:p>
          <a:p>
            <a:pPr marL="290830" indent="-27813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90830" algn="l"/>
              </a:tabLst>
            </a:pPr>
            <a:r>
              <a:rPr dirty="0" sz="2200" b="1">
                <a:latin typeface="Calibri"/>
                <a:cs typeface="Calibri"/>
              </a:rPr>
              <a:t>Dimensions/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Slide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size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-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A3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format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only.</a:t>
            </a:r>
            <a:endParaRPr sz="2200">
              <a:latin typeface="Calibri"/>
              <a:cs typeface="Calibri"/>
            </a:endParaRPr>
          </a:p>
          <a:p>
            <a:pPr marL="290830" indent="-27813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90830" algn="l"/>
              </a:tabLst>
            </a:pP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patient's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eyes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should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not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masked,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as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shown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sample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slide.</a:t>
            </a:r>
            <a:endParaRPr sz="2200">
              <a:latin typeface="Calibri"/>
              <a:cs typeface="Calibri"/>
            </a:endParaRPr>
          </a:p>
          <a:p>
            <a:pPr marL="299720" marR="25400" indent="-287655">
              <a:lnSpc>
                <a:spcPct val="150000"/>
              </a:lnSpc>
              <a:buAutoNum type="arabicPeriod"/>
              <a:tabLst>
                <a:tab pos="363220" algn="l"/>
              </a:tabLst>
            </a:pPr>
            <a:r>
              <a:rPr dirty="0" sz="2200" b="1">
                <a:latin typeface="Calibri"/>
                <a:cs typeface="Calibri"/>
              </a:rPr>
              <a:t>Font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style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Calibri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heading:</a:t>
            </a:r>
            <a:r>
              <a:rPr dirty="0" sz="2200" spc="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16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bold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for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heading,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14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bold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for</a:t>
            </a:r>
            <a:r>
              <a:rPr dirty="0" sz="2200" spc="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subheadings,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Calibri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body,</a:t>
            </a:r>
            <a:r>
              <a:rPr dirty="0" sz="2200" spc="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13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non-</a:t>
            </a:r>
            <a:r>
              <a:rPr dirty="0" sz="2200" b="1">
                <a:latin typeface="Calibri"/>
                <a:cs typeface="Calibri"/>
              </a:rPr>
              <a:t>bold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characters</a:t>
            </a:r>
            <a:r>
              <a:rPr dirty="0" sz="2200" spc="3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for </a:t>
            </a:r>
            <a:r>
              <a:rPr dirty="0" sz="2200" spc="-25" b="1">
                <a:latin typeface="Calibri"/>
                <a:cs typeface="Calibri"/>
              </a:rPr>
              <a:t>	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body</a:t>
            </a:r>
            <a:r>
              <a:rPr dirty="0" sz="2200" spc="47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contents.</a:t>
            </a:r>
            <a:endParaRPr sz="2200">
              <a:latin typeface="Calibri"/>
              <a:cs typeface="Calibri"/>
            </a:endParaRPr>
          </a:p>
          <a:p>
            <a:pPr marL="285750" marR="33020" indent="-273050">
              <a:lnSpc>
                <a:spcPct val="150000"/>
              </a:lnSpc>
              <a:buAutoNum type="arabicPeriod"/>
              <a:tabLst>
                <a:tab pos="285750" algn="l"/>
                <a:tab pos="329565" algn="l"/>
              </a:tabLst>
            </a:pPr>
            <a:r>
              <a:rPr dirty="0" sz="2200" b="1">
                <a:latin typeface="Calibri"/>
                <a:cs typeface="Calibri"/>
              </a:rPr>
              <a:t>	Images</a:t>
            </a:r>
            <a:r>
              <a:rPr dirty="0" sz="2200" spc="2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must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occupy</a:t>
            </a:r>
            <a:r>
              <a:rPr dirty="0" sz="2200" spc="2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entire</a:t>
            </a:r>
            <a:r>
              <a:rPr dirty="0" sz="2200" spc="2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box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should</a:t>
            </a:r>
            <a:r>
              <a:rPr dirty="0" sz="2200" spc="2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only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be</a:t>
            </a:r>
            <a:r>
              <a:rPr dirty="0" sz="2200" spc="2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radiographs,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lesions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or</a:t>
            </a:r>
            <a:r>
              <a:rPr dirty="0" sz="2200" spc="2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procedural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images</a:t>
            </a:r>
            <a:r>
              <a:rPr dirty="0" sz="2200" spc="2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(before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2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after). </a:t>
            </a:r>
            <a:r>
              <a:rPr dirty="0" sz="2200" b="1">
                <a:latin typeface="Calibri"/>
                <a:cs typeface="Calibri"/>
              </a:rPr>
              <a:t>Photos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consent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forms,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lab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reports,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case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logs,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or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any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printed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materials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are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not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permitted.</a:t>
            </a:r>
            <a:endParaRPr sz="2200">
              <a:latin typeface="Calibri"/>
              <a:cs typeface="Calibri"/>
            </a:endParaRPr>
          </a:p>
          <a:p>
            <a:pPr marL="290830" indent="-27813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90830" algn="l"/>
              </a:tabLst>
            </a:pPr>
            <a:r>
              <a:rPr dirty="0" sz="2200" b="1">
                <a:latin typeface="Calibri"/>
                <a:cs typeface="Calibri"/>
              </a:rPr>
              <a:t>Only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high-</a:t>
            </a:r>
            <a:r>
              <a:rPr dirty="0" sz="2200" b="1">
                <a:latin typeface="Calibri"/>
                <a:cs typeface="Calibri"/>
              </a:rPr>
              <a:t>resolution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images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should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used.</a:t>
            </a:r>
            <a:endParaRPr sz="2200">
              <a:latin typeface="Calibri"/>
              <a:cs typeface="Calibri"/>
            </a:endParaRPr>
          </a:p>
          <a:p>
            <a:pPr marL="285750" marR="5080" indent="-273050">
              <a:lnSpc>
                <a:spcPct val="150000"/>
              </a:lnSpc>
              <a:buAutoNum type="arabicPeriod"/>
              <a:tabLst>
                <a:tab pos="285750" algn="l"/>
                <a:tab pos="335280" algn="l"/>
              </a:tabLst>
            </a:pPr>
            <a:r>
              <a:rPr dirty="0" sz="2200" b="1">
                <a:latin typeface="Calibri"/>
                <a:cs typeface="Calibri"/>
              </a:rPr>
              <a:t>	Slides</a:t>
            </a:r>
            <a:r>
              <a:rPr dirty="0" sz="2200" spc="29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should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be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arranged</a:t>
            </a:r>
            <a:r>
              <a:rPr dirty="0" sz="2200" spc="29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by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department,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with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each</a:t>
            </a:r>
            <a:r>
              <a:rPr dirty="0" sz="2200" spc="29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department's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name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on</a:t>
            </a:r>
            <a:r>
              <a:rPr dirty="0" sz="2200" spc="29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separate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slide.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29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department</a:t>
            </a:r>
            <a:r>
              <a:rPr dirty="0" sz="2200" spc="30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name </a:t>
            </a:r>
            <a:r>
              <a:rPr dirty="0" sz="2200" b="1">
                <a:latin typeface="Calibri"/>
                <a:cs typeface="Calibri"/>
              </a:rPr>
              <a:t>should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have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no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borders,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font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should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Calibri,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heading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(bold),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size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96.</a:t>
            </a:r>
            <a:endParaRPr sz="2200">
              <a:latin typeface="Calibri"/>
              <a:cs typeface="Calibri"/>
            </a:endParaRPr>
          </a:p>
          <a:p>
            <a:pPr marL="290830" indent="-27813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90830" algn="l"/>
              </a:tabLst>
            </a:pPr>
            <a:r>
              <a:rPr dirty="0" sz="2200" b="1">
                <a:latin typeface="Calibri"/>
                <a:cs typeface="Calibri"/>
              </a:rPr>
              <a:t>Do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not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include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case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logs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with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nil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significant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findings.</a:t>
            </a:r>
            <a:endParaRPr sz="2200">
              <a:latin typeface="Calibri"/>
              <a:cs typeface="Calibri"/>
            </a:endParaRPr>
          </a:p>
          <a:p>
            <a:pPr marL="285750" marR="32384" indent="-273050">
              <a:lnSpc>
                <a:spcPct val="150000"/>
              </a:lnSpc>
              <a:buAutoNum type="arabicPeriod"/>
              <a:tabLst>
                <a:tab pos="285750" algn="l"/>
                <a:tab pos="314960" algn="l"/>
              </a:tabLst>
            </a:pPr>
            <a:r>
              <a:rPr dirty="0" sz="2200" b="1">
                <a:latin typeface="Calibri"/>
                <a:cs typeface="Calibri"/>
              </a:rPr>
              <a:t>	For</a:t>
            </a:r>
            <a:r>
              <a:rPr dirty="0" sz="2200" spc="114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clinical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revenue</a:t>
            </a:r>
            <a:r>
              <a:rPr dirty="0" sz="2200" spc="114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calculations,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include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114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cost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investigations</a:t>
            </a:r>
            <a:r>
              <a:rPr dirty="0" sz="2200" spc="114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raised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114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cost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minor</a:t>
            </a:r>
            <a:r>
              <a:rPr dirty="0" sz="2200" spc="114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procedures</a:t>
            </a:r>
            <a:r>
              <a:rPr dirty="0" sz="2200" spc="12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performed, </a:t>
            </a:r>
            <a:r>
              <a:rPr dirty="0" sz="2200" b="1">
                <a:latin typeface="Calibri"/>
                <a:cs typeface="Calibri"/>
              </a:rPr>
              <a:t>such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as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catheterizations,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IV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fluids,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injections,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suturing,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wound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cleaning,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dressing,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etc.</a:t>
            </a:r>
            <a:endParaRPr sz="2200">
              <a:latin typeface="Calibri"/>
              <a:cs typeface="Calibri"/>
            </a:endParaRPr>
          </a:p>
          <a:p>
            <a:pPr marL="431800" indent="-41910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31800" algn="l"/>
              </a:tabLst>
            </a:pPr>
            <a:r>
              <a:rPr dirty="0" sz="2200" spc="-20" b="1">
                <a:latin typeface="Calibri"/>
                <a:cs typeface="Calibri"/>
              </a:rPr>
              <a:t>Attach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proof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CME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participation,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conferences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attended,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publications,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citations,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presentations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at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end.</a:t>
            </a:r>
            <a:endParaRPr sz="2200">
              <a:latin typeface="Calibri"/>
              <a:cs typeface="Calibri"/>
            </a:endParaRPr>
          </a:p>
          <a:p>
            <a:pPr marL="431800" indent="-41910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31800" algn="l"/>
              </a:tabLst>
            </a:pP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cover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page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photo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should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casual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photo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without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apron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or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scrubs.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113000" cy="106807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987800" y="8383699"/>
            <a:ext cx="6941184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50">
                <a:solidFill>
                  <a:srgbClr val="F9D672"/>
                </a:solidFill>
                <a:latin typeface="Arial MT"/>
                <a:cs typeface="Arial MT"/>
              </a:rPr>
              <a:t>Dr.</a:t>
            </a:r>
            <a:r>
              <a:rPr dirty="0" sz="3250" spc="-14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3250" spc="-75">
                <a:solidFill>
                  <a:srgbClr val="F9D672"/>
                </a:solidFill>
                <a:latin typeface="Arial MT"/>
                <a:cs typeface="Arial MT"/>
              </a:rPr>
              <a:t>RAMYA</a:t>
            </a:r>
            <a:r>
              <a:rPr dirty="0" sz="3250" spc="-18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F9D672"/>
                </a:solidFill>
                <a:latin typeface="Arial MT"/>
                <a:cs typeface="Arial MT"/>
              </a:rPr>
              <a:t>G</a:t>
            </a:r>
            <a:r>
              <a:rPr dirty="0" sz="3250" spc="-8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F9D672"/>
                </a:solidFill>
                <a:latin typeface="Arial MT"/>
                <a:cs typeface="Arial MT"/>
              </a:rPr>
              <a:t>Xorticanz</a:t>
            </a:r>
            <a:r>
              <a:rPr dirty="0" sz="3250" spc="-8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F9D672"/>
                </a:solidFill>
                <a:latin typeface="Arial MT"/>
                <a:cs typeface="Arial MT"/>
              </a:rPr>
              <a:t>(2019</a:t>
            </a:r>
            <a:r>
              <a:rPr dirty="0" sz="3250" spc="-7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F9D672"/>
                </a:solidFill>
                <a:latin typeface="Arial MT"/>
                <a:cs typeface="Arial MT"/>
              </a:rPr>
              <a:t>-</a:t>
            </a:r>
            <a:r>
              <a:rPr dirty="0" sz="3250" spc="-8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F9D672"/>
                </a:solidFill>
                <a:latin typeface="Arial MT"/>
                <a:cs typeface="Arial MT"/>
              </a:rPr>
              <a:t>2024)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41500" y="8982152"/>
            <a:ext cx="1182370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>
                <a:solidFill>
                  <a:srgbClr val="F9D672"/>
                </a:solidFill>
                <a:latin typeface="Arial MT"/>
                <a:cs typeface="Arial MT"/>
              </a:rPr>
              <a:t>SAVEETHA</a:t>
            </a:r>
            <a:r>
              <a:rPr dirty="0" sz="1150" spc="-7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MEDICAL</a:t>
            </a:r>
            <a:r>
              <a:rPr dirty="0" sz="1150" spc="-6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COLLEGE</a:t>
            </a:r>
            <a:r>
              <a:rPr dirty="0" sz="1150" spc="-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|</a:t>
            </a:r>
            <a:r>
              <a:rPr dirty="0" sz="1150" spc="-1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F9D672"/>
                </a:solidFill>
                <a:latin typeface="Arial MT"/>
                <a:cs typeface="Arial MT"/>
              </a:rPr>
              <a:t>SAVEETHA</a:t>
            </a:r>
            <a:r>
              <a:rPr dirty="0" sz="1150" spc="-7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INSTITUTE</a:t>
            </a:r>
            <a:r>
              <a:rPr dirty="0" sz="1150" spc="-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OF</a:t>
            </a:r>
            <a:r>
              <a:rPr dirty="0" sz="1150" spc="-10">
                <a:solidFill>
                  <a:srgbClr val="F9D672"/>
                </a:solidFill>
                <a:latin typeface="Arial MT"/>
                <a:cs typeface="Arial MT"/>
              </a:rPr>
              <a:t> MEDICAL</a:t>
            </a:r>
            <a:r>
              <a:rPr dirty="0" sz="1150" spc="-11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AND</a:t>
            </a:r>
            <a:r>
              <a:rPr dirty="0" sz="1150" spc="-2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F9D672"/>
                </a:solidFill>
                <a:latin typeface="Arial MT"/>
                <a:cs typeface="Arial MT"/>
              </a:rPr>
              <a:t>TECHNICAL</a:t>
            </a:r>
            <a:r>
              <a:rPr dirty="0" sz="1150" spc="-5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SCIENCES</a:t>
            </a:r>
            <a:r>
              <a:rPr dirty="0" sz="1150" spc="-1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|</a:t>
            </a:r>
            <a:r>
              <a:rPr dirty="0" sz="1150" spc="-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F9D672"/>
                </a:solidFill>
                <a:latin typeface="Arial MT"/>
                <a:cs typeface="Arial MT"/>
              </a:rPr>
              <a:t>SAVEETHA</a:t>
            </a:r>
            <a:r>
              <a:rPr dirty="0" sz="1150" spc="-7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D.</a:t>
            </a:r>
            <a:r>
              <a:rPr dirty="0" sz="1150" spc="-1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UNIVERSITY</a:t>
            </a:r>
            <a:r>
              <a:rPr dirty="0" sz="1150" spc="-2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|</a:t>
            </a:r>
            <a:r>
              <a:rPr dirty="0" sz="1150" spc="-1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KANCHIPURAM</a:t>
            </a:r>
            <a:r>
              <a:rPr dirty="0" sz="1150" spc="-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-</a:t>
            </a:r>
            <a:r>
              <a:rPr dirty="0" sz="1150" spc="-1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105</a:t>
            </a:r>
            <a:r>
              <a:rPr dirty="0" sz="1150" spc="-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|</a:t>
            </a:r>
            <a:r>
              <a:rPr dirty="0" sz="1150" spc="-3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F9D672"/>
                </a:solidFill>
                <a:latin typeface="Arial MT"/>
                <a:cs typeface="Arial MT"/>
              </a:rPr>
              <a:t>TAMIL</a:t>
            </a:r>
            <a:r>
              <a:rPr dirty="0" sz="1150" spc="-45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NADU</a:t>
            </a:r>
            <a:r>
              <a:rPr dirty="0" sz="1150" spc="-10">
                <a:solidFill>
                  <a:srgbClr val="F9D672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9D672"/>
                </a:solidFill>
                <a:latin typeface="Arial MT"/>
                <a:cs typeface="Arial MT"/>
              </a:rPr>
              <a:t>|</a:t>
            </a:r>
            <a:r>
              <a:rPr dirty="0" sz="1150" spc="-10">
                <a:solidFill>
                  <a:srgbClr val="F9D672"/>
                </a:solidFill>
                <a:latin typeface="Arial MT"/>
                <a:cs typeface="Arial MT"/>
              </a:rPr>
              <a:t> INDIA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5589" y="9813800"/>
            <a:ext cx="6642100" cy="718820"/>
          </a:xfrm>
          <a:custGeom>
            <a:avLst/>
            <a:gdLst/>
            <a:ahLst/>
            <a:cxnLst/>
            <a:rect l="l" t="t" r="r" b="b"/>
            <a:pathLst>
              <a:path w="6642100" h="718820">
                <a:moveTo>
                  <a:pt x="6641999" y="718199"/>
                </a:moveTo>
                <a:lnTo>
                  <a:pt x="0" y="718199"/>
                </a:lnTo>
                <a:lnTo>
                  <a:pt x="0" y="0"/>
                </a:lnTo>
                <a:lnTo>
                  <a:pt x="6641999" y="0"/>
                </a:lnTo>
                <a:lnTo>
                  <a:pt x="6641999" y="718199"/>
                </a:lnTo>
                <a:close/>
              </a:path>
            </a:pathLst>
          </a:custGeom>
          <a:solidFill>
            <a:srgbClr val="3537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35589" y="6192689"/>
            <a:ext cx="6642100" cy="718820"/>
          </a:xfrm>
          <a:custGeom>
            <a:avLst/>
            <a:gdLst/>
            <a:ahLst/>
            <a:cxnLst/>
            <a:rect l="l" t="t" r="r" b="b"/>
            <a:pathLst>
              <a:path w="6642100" h="718820">
                <a:moveTo>
                  <a:pt x="6641999" y="718199"/>
                </a:moveTo>
                <a:lnTo>
                  <a:pt x="0" y="718199"/>
                </a:lnTo>
                <a:lnTo>
                  <a:pt x="0" y="0"/>
                </a:lnTo>
                <a:lnTo>
                  <a:pt x="6641999" y="0"/>
                </a:lnTo>
                <a:lnTo>
                  <a:pt x="6641999" y="718199"/>
                </a:lnTo>
                <a:close/>
              </a:path>
            </a:pathLst>
          </a:custGeom>
          <a:solidFill>
            <a:srgbClr val="3537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23071" y="8223780"/>
            <a:ext cx="6642100" cy="718820"/>
          </a:xfrm>
          <a:custGeom>
            <a:avLst/>
            <a:gdLst/>
            <a:ahLst/>
            <a:cxnLst/>
            <a:rect l="l" t="t" r="r" b="b"/>
            <a:pathLst>
              <a:path w="6642100" h="718820">
                <a:moveTo>
                  <a:pt x="6641999" y="718199"/>
                </a:moveTo>
                <a:lnTo>
                  <a:pt x="0" y="718199"/>
                </a:lnTo>
                <a:lnTo>
                  <a:pt x="0" y="0"/>
                </a:lnTo>
                <a:lnTo>
                  <a:pt x="6641999" y="0"/>
                </a:lnTo>
                <a:lnTo>
                  <a:pt x="6641999" y="718199"/>
                </a:lnTo>
                <a:close/>
              </a:path>
            </a:pathLst>
          </a:custGeom>
          <a:solidFill>
            <a:srgbClr val="3537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244150" y="1539144"/>
            <a:ext cx="213995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b="1">
                <a:latin typeface="Yu Gothic UI"/>
                <a:cs typeface="Yu Gothic UI"/>
              </a:rPr>
              <a:t>2 0</a:t>
            </a:r>
            <a:r>
              <a:rPr dirty="0" sz="2450" spc="5" b="1">
                <a:latin typeface="Yu Gothic UI"/>
                <a:cs typeface="Yu Gothic UI"/>
              </a:rPr>
              <a:t> </a:t>
            </a:r>
            <a:r>
              <a:rPr dirty="0" sz="2450" b="1">
                <a:latin typeface="Yu Gothic UI"/>
                <a:cs typeface="Yu Gothic UI"/>
              </a:rPr>
              <a:t>2</a:t>
            </a:r>
            <a:r>
              <a:rPr dirty="0" sz="2450" spc="-5" b="1">
                <a:latin typeface="Yu Gothic UI"/>
                <a:cs typeface="Yu Gothic UI"/>
              </a:rPr>
              <a:t> </a:t>
            </a:r>
            <a:r>
              <a:rPr dirty="0" sz="2450" b="1">
                <a:latin typeface="Yu Gothic UI"/>
                <a:cs typeface="Yu Gothic UI"/>
              </a:rPr>
              <a:t>5</a:t>
            </a:r>
            <a:r>
              <a:rPr dirty="0" sz="2450" spc="5" b="1">
                <a:latin typeface="Yu Gothic UI"/>
                <a:cs typeface="Yu Gothic UI"/>
              </a:rPr>
              <a:t> </a:t>
            </a:r>
            <a:r>
              <a:rPr dirty="0" sz="2450" b="1">
                <a:latin typeface="Yu Gothic UI"/>
                <a:cs typeface="Yu Gothic UI"/>
              </a:rPr>
              <a:t>- 2</a:t>
            </a:r>
            <a:r>
              <a:rPr dirty="0" sz="2450" spc="5" b="1">
                <a:latin typeface="Yu Gothic UI"/>
                <a:cs typeface="Yu Gothic UI"/>
              </a:rPr>
              <a:t> </a:t>
            </a:r>
            <a:r>
              <a:rPr dirty="0" sz="2450" b="1">
                <a:latin typeface="Yu Gothic UI"/>
                <a:cs typeface="Yu Gothic UI"/>
              </a:rPr>
              <a:t>0</a:t>
            </a:r>
            <a:r>
              <a:rPr dirty="0" sz="2450" spc="-5" b="1">
                <a:latin typeface="Yu Gothic UI"/>
                <a:cs typeface="Yu Gothic UI"/>
              </a:rPr>
              <a:t> </a:t>
            </a:r>
            <a:r>
              <a:rPr dirty="0" sz="2450" spc="-25" b="1">
                <a:latin typeface="Yu Gothic UI"/>
                <a:cs typeface="Yu Gothic UI"/>
              </a:rPr>
              <a:t>26</a:t>
            </a:r>
            <a:endParaRPr sz="2450">
              <a:latin typeface="Yu Gothic UI"/>
              <a:cs typeface="Yu Gothic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9300" y="2104104"/>
            <a:ext cx="6210300" cy="1169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6805">
              <a:lnSpc>
                <a:spcPct val="100000"/>
              </a:lnSpc>
              <a:spcBef>
                <a:spcPts val="100"/>
              </a:spcBef>
            </a:pPr>
            <a:r>
              <a:rPr dirty="0" sz="2500" spc="-175" b="1">
                <a:latin typeface="Verdana"/>
                <a:cs typeface="Verdana"/>
              </a:rPr>
              <a:t>CERTIFICATE</a:t>
            </a:r>
            <a:r>
              <a:rPr dirty="0" sz="2500" spc="-150" b="1">
                <a:latin typeface="Verdana"/>
                <a:cs typeface="Verdana"/>
              </a:rPr>
              <a:t> </a:t>
            </a:r>
            <a:r>
              <a:rPr dirty="0" sz="2500" spc="-20" b="1">
                <a:latin typeface="Verdana"/>
                <a:cs typeface="Verdana"/>
              </a:rPr>
              <a:t>OF</a:t>
            </a:r>
            <a:r>
              <a:rPr dirty="0" sz="2500" spc="-155" b="1">
                <a:latin typeface="Verdana"/>
                <a:cs typeface="Verdana"/>
              </a:rPr>
              <a:t> </a:t>
            </a:r>
            <a:r>
              <a:rPr dirty="0" sz="2500" spc="-55" b="1">
                <a:latin typeface="Verdana"/>
                <a:cs typeface="Verdana"/>
              </a:rPr>
              <a:t>COMPLETION</a:t>
            </a:r>
            <a:endParaRPr sz="25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685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Certify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Declaration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Clinical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Academic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Activities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contained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Graduation Work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Bonafide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Dr.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Ramya.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Graduation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from </a:t>
            </a:r>
            <a:r>
              <a:rPr dirty="0" sz="1200">
                <a:latin typeface="Calibri"/>
                <a:cs typeface="Calibri"/>
              </a:rPr>
              <a:t>September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2017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December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674490" y="2104104"/>
            <a:ext cx="7230745" cy="1170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1150">
              <a:lnSpc>
                <a:spcPct val="100000"/>
              </a:lnSpc>
              <a:spcBef>
                <a:spcPts val="100"/>
              </a:spcBef>
            </a:pPr>
            <a:r>
              <a:rPr dirty="0" sz="2500" spc="-95" b="1">
                <a:latin typeface="Verdana"/>
                <a:cs typeface="Verdana"/>
              </a:rPr>
              <a:t>BONAFIDE</a:t>
            </a:r>
            <a:r>
              <a:rPr dirty="0" sz="2500" spc="-135" b="1">
                <a:latin typeface="Verdana"/>
                <a:cs typeface="Verdana"/>
              </a:rPr>
              <a:t> </a:t>
            </a:r>
            <a:r>
              <a:rPr dirty="0" sz="2500" spc="-80" b="1">
                <a:latin typeface="Verdana"/>
                <a:cs typeface="Verdana"/>
              </a:rPr>
              <a:t>CERTIFICATE</a:t>
            </a:r>
            <a:endParaRPr sz="2500">
              <a:latin typeface="Verdana"/>
              <a:cs typeface="Verdana"/>
            </a:endParaRPr>
          </a:p>
          <a:p>
            <a:pPr marL="12700" marR="5080">
              <a:lnSpc>
                <a:spcPct val="111700"/>
              </a:lnSpc>
              <a:spcBef>
                <a:spcPts val="119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Certify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Dr.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Ramya.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Guidance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Supervision,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Degree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Bachelor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Medicine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Bachelor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Surgery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September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2019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December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Saveetha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Medical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College, </a:t>
            </a:r>
            <a:r>
              <a:rPr dirty="0" sz="1200">
                <a:latin typeface="Calibri"/>
                <a:cs typeface="Calibri"/>
              </a:rPr>
              <a:t>Saveetha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Institute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Medical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Technical</a:t>
            </a:r>
            <a:r>
              <a:rPr dirty="0" sz="1200" spc="-10">
                <a:latin typeface="Calibri"/>
                <a:cs typeface="Calibri"/>
              </a:rPr>
              <a:t> Sciences, Chennai.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45198" y="4510026"/>
            <a:ext cx="17011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latin typeface="Lucida Sans Unicode"/>
                <a:cs typeface="Lucida Sans Unicode"/>
              </a:rPr>
              <a:t>Dr. </a:t>
            </a:r>
            <a:r>
              <a:rPr dirty="0" sz="1800" spc="150">
                <a:latin typeface="Lucida Sans Unicode"/>
                <a:cs typeface="Lucida Sans Unicode"/>
              </a:rPr>
              <a:t>J.</a:t>
            </a:r>
            <a:r>
              <a:rPr dirty="0" sz="1800" spc="-90">
                <a:latin typeface="Lucida Sans Unicode"/>
                <a:cs typeface="Lucida Sans Unicode"/>
              </a:rPr>
              <a:t> </a:t>
            </a:r>
            <a:r>
              <a:rPr dirty="0" sz="1800" spc="55">
                <a:latin typeface="Lucida Sans Unicode"/>
                <a:cs typeface="Lucida Sans Unicode"/>
              </a:rPr>
              <a:t>Kumutha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36674" y="4465892"/>
            <a:ext cx="1311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Lucida Sans Unicode"/>
                <a:cs typeface="Lucida Sans Unicode"/>
              </a:rPr>
              <a:t>Dr.Sheeja</a:t>
            </a:r>
            <a:r>
              <a:rPr dirty="0" sz="1800" spc="140">
                <a:latin typeface="Lucida Sans Unicode"/>
                <a:cs typeface="Lucida Sans Unicode"/>
              </a:rPr>
              <a:t> </a:t>
            </a:r>
            <a:r>
              <a:rPr dirty="0" sz="1800" spc="55">
                <a:latin typeface="Lucida Sans Unicode"/>
                <a:cs typeface="Lucida Sans Unicode"/>
              </a:rPr>
              <a:t>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36674" y="4685043"/>
            <a:ext cx="11347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latin typeface="Lucida Sans Unicode"/>
                <a:cs typeface="Lucida Sans Unicode"/>
              </a:rPr>
              <a:t>Varghese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6674" y="5138146"/>
            <a:ext cx="188976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Lucida Sans Unicode"/>
                <a:cs typeface="Lucida Sans Unicode"/>
              </a:rPr>
              <a:t>Registrar</a:t>
            </a:r>
            <a:r>
              <a:rPr dirty="0" sz="1300" spc="45">
                <a:latin typeface="Lucida Sans Unicode"/>
                <a:cs typeface="Lucida Sans Unicode"/>
              </a:rPr>
              <a:t> </a:t>
            </a:r>
            <a:r>
              <a:rPr dirty="0" sz="1300" spc="70">
                <a:latin typeface="Lucida Sans Unicode"/>
                <a:cs typeface="Lucida Sans Unicode"/>
              </a:rPr>
              <a:t>(Academics)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6674" y="5296422"/>
            <a:ext cx="60261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Lucida Sans Unicode"/>
                <a:cs typeface="Lucida Sans Unicode"/>
              </a:rPr>
              <a:t>SIMATS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27811" y="5116052"/>
            <a:ext cx="10198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Lucida Sans Unicode"/>
                <a:cs typeface="Lucida Sans Unicode"/>
              </a:rPr>
              <a:t>Dean,</a:t>
            </a:r>
            <a:r>
              <a:rPr dirty="0" sz="1300" spc="-30">
                <a:latin typeface="Lucida Sans Unicode"/>
                <a:cs typeface="Lucida Sans Unicode"/>
              </a:rPr>
              <a:t> </a:t>
            </a:r>
            <a:r>
              <a:rPr dirty="0" sz="1300" spc="-20">
                <a:latin typeface="Lucida Sans Unicode"/>
                <a:cs typeface="Lucida Sans Unicode"/>
              </a:rPr>
              <a:t>SMCH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23071" y="6975874"/>
            <a:ext cx="6642100" cy="462915"/>
          </a:xfrm>
          <a:prstGeom prst="rect">
            <a:avLst/>
          </a:prstGeom>
          <a:solidFill>
            <a:srgbClr val="353768"/>
          </a:solidFill>
        </p:spPr>
        <p:txBody>
          <a:bodyPr wrap="square" lIns="0" tIns="67945" rIns="0" bIns="0" rtlCol="0" vert="horz">
            <a:spAutoFit/>
          </a:bodyPr>
          <a:lstStyle/>
          <a:p>
            <a:pPr algn="ctr" marL="151130">
              <a:lnSpc>
                <a:spcPct val="100000"/>
              </a:lnSpc>
              <a:spcBef>
                <a:spcPts val="535"/>
              </a:spcBef>
              <a:tabLst>
                <a:tab pos="3735704" algn="l"/>
              </a:tabLst>
            </a:pPr>
            <a:r>
              <a:rPr dirty="0" sz="2200" spc="-20" b="1">
                <a:solidFill>
                  <a:srgbClr val="FFFFFF"/>
                </a:solidFill>
                <a:latin typeface="Arial"/>
                <a:cs typeface="Arial"/>
              </a:rPr>
              <a:t>ASSISTANT</a:t>
            </a:r>
            <a:r>
              <a:rPr dirty="0" sz="2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FFFFF"/>
                </a:solidFill>
                <a:latin typeface="Arial"/>
                <a:cs typeface="Arial"/>
              </a:rPr>
              <a:t>ASSOCIATE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200" spc="-10" b="1">
                <a:solidFill>
                  <a:srgbClr val="FFFFFF"/>
                </a:solidFill>
                <a:latin typeface="Arial"/>
                <a:cs typeface="Arial"/>
              </a:rPr>
              <a:t>DEANS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84152" y="6576231"/>
            <a:ext cx="11893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Kannan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7805574" y="3376336"/>
          <a:ext cx="2186305" cy="7162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9470"/>
              </a:tblGrid>
              <a:tr h="800100">
                <a:tc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General</a:t>
                      </a:r>
                      <a:r>
                        <a:rPr dirty="0" sz="1200" spc="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Medicine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260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General</a:t>
                      </a:r>
                      <a:r>
                        <a:rPr dirty="0" sz="1200" spc="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Surgery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90805">
                    <a:solidFill>
                      <a:srgbClr val="35376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marL="6540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Paediatrics</a:t>
                      </a:r>
                      <a:endParaRPr sz="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65405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Obstetrics</a:t>
                      </a:r>
                      <a:r>
                        <a:rPr dirty="0" sz="1250" spc="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125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Gynaecology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95250">
                    <a:solidFill>
                      <a:srgbClr val="353768"/>
                    </a:solidFill>
                  </a:tcPr>
                </a:tc>
              </a:tr>
              <a:tr h="761365">
                <a:tc>
                  <a:txBody>
                    <a:bodyPr/>
                    <a:lstStyle/>
                    <a:p>
                      <a:pPr marL="65976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Orthopedics</a:t>
                      </a:r>
                      <a:endParaRPr sz="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721360">
                        <a:lnSpc>
                          <a:spcPct val="100000"/>
                        </a:lnSpc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Psychiatry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74295">
                    <a:solidFill>
                      <a:srgbClr val="35376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marL="340995" marR="262890" indent="-5080">
                        <a:lnSpc>
                          <a:spcPts val="3000"/>
                        </a:lnSpc>
                        <a:spcBef>
                          <a:spcPts val="200"/>
                        </a:spcBef>
                      </a:pPr>
                      <a:r>
                        <a:rPr dirty="0" sz="12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Respiratory</a:t>
                      </a:r>
                      <a:r>
                        <a:rPr dirty="0" sz="1250" spc="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Medicine </a:t>
                      </a:r>
                      <a:r>
                        <a:rPr dirty="0" sz="12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Community</a:t>
                      </a:r>
                      <a:r>
                        <a:rPr dirty="0" sz="1250" spc="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Medicine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25400">
                    <a:solidFill>
                      <a:srgbClr val="35376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marL="64769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dirty="0" sz="12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ENT</a:t>
                      </a:r>
                      <a:endParaRPr sz="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660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Ophthalmology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102235">
                    <a:solidFill>
                      <a:srgbClr val="35376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marL="650875" marR="563880" indent="-13335">
                        <a:lnSpc>
                          <a:spcPts val="3000"/>
                        </a:lnSpc>
                        <a:spcBef>
                          <a:spcPts val="200"/>
                        </a:spcBef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Dermatology </a:t>
                      </a:r>
                      <a:r>
                        <a:rPr dirty="0" sz="12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Critical</a:t>
                      </a:r>
                      <a:r>
                        <a:rPr dirty="0" sz="125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Care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25400">
                    <a:solidFill>
                      <a:srgbClr val="353768"/>
                    </a:solidFill>
                  </a:tcPr>
                </a:tc>
              </a:tr>
              <a:tr h="838835">
                <a:tc>
                  <a:txBody>
                    <a:bodyPr/>
                    <a:lstStyle/>
                    <a:p>
                      <a:pPr marL="330200" marR="257175" indent="403860">
                        <a:lnSpc>
                          <a:spcPts val="3000"/>
                        </a:lnSpc>
                        <a:spcBef>
                          <a:spcPts val="210"/>
                        </a:spcBef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Radiology </a:t>
                      </a:r>
                      <a:r>
                        <a:rPr dirty="0" sz="12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Transfusion</a:t>
                      </a:r>
                      <a:r>
                        <a:rPr dirty="0" sz="1250" spc="-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Medicine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26670">
                    <a:solidFill>
                      <a:srgbClr val="35376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marL="660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2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Emergency</a:t>
                      </a:r>
                      <a:r>
                        <a:rPr dirty="0" sz="1250" spc="-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Medicine</a:t>
                      </a:r>
                      <a:endParaRPr sz="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654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Pathology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116205">
                    <a:solidFill>
                      <a:srgbClr val="353768"/>
                    </a:solidFill>
                  </a:tcPr>
                </a:tc>
              </a:tr>
              <a:tr h="761365">
                <a:tc>
                  <a:txBody>
                    <a:bodyPr/>
                    <a:lstStyle/>
                    <a:p>
                      <a:pPr marL="64198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Microbiology</a:t>
                      </a:r>
                      <a:endParaRPr sz="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633095">
                        <a:lnSpc>
                          <a:spcPct val="100000"/>
                        </a:lnSpc>
                      </a:pPr>
                      <a:r>
                        <a:rPr dirty="0" sz="1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Biochemistry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133985">
                    <a:solidFill>
                      <a:srgbClr val="353768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933688" y="6263240"/>
            <a:ext cx="45885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40230" algn="l"/>
              </a:tabLst>
            </a:pPr>
            <a:r>
              <a:rPr dirty="0" sz="1400">
                <a:solidFill>
                  <a:srgbClr val="FFFFFF"/>
                </a:solidFill>
                <a:latin typeface="Arial Black"/>
                <a:cs typeface="Arial Black"/>
              </a:rPr>
              <a:t>VICE</a:t>
            </a:r>
            <a:r>
              <a:rPr dirty="0" sz="14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PRINCIPAL</a:t>
            </a:r>
            <a:r>
              <a:rPr dirty="0" sz="14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MEDICALSUPERINDENTENT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17272" y="9859998"/>
            <a:ext cx="1852295" cy="56451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5"/>
              </a:spcBef>
            </a:pPr>
            <a:r>
              <a:rPr dirty="0" sz="1400">
                <a:solidFill>
                  <a:srgbClr val="FFFFFF"/>
                </a:solidFill>
                <a:latin typeface="Arial Black"/>
                <a:cs typeface="Arial Black"/>
              </a:rPr>
              <a:t>STUDENT</a:t>
            </a:r>
            <a:r>
              <a:rPr dirty="0" sz="140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AFFAIRS</a:t>
            </a:r>
            <a:endParaRPr sz="1400">
              <a:latin typeface="Arial Black"/>
              <a:cs typeface="Arial Black"/>
            </a:endParaRPr>
          </a:p>
          <a:p>
            <a:pPr marL="10795">
              <a:lnSpc>
                <a:spcPct val="100000"/>
              </a:lnSpc>
              <a:spcBef>
                <a:spcPts val="225"/>
              </a:spcBef>
            </a:pP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Hemamalini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436123" y="9859998"/>
            <a:ext cx="1553210" cy="56451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5"/>
              </a:spcBef>
            </a:pP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EXAMINATIONS</a:t>
            </a:r>
            <a:endParaRPr sz="1400">
              <a:latin typeface="Arial Black"/>
              <a:cs typeface="Arial Black"/>
            </a:endParaRPr>
          </a:p>
          <a:p>
            <a:pPr marL="97155">
              <a:lnSpc>
                <a:spcPct val="100000"/>
              </a:lnSpc>
              <a:spcBef>
                <a:spcPts val="225"/>
              </a:spcBef>
            </a:pP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Jayakumar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479730" y="8243652"/>
            <a:ext cx="1224280" cy="59372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9525">
              <a:lnSpc>
                <a:spcPct val="100000"/>
              </a:lnSpc>
              <a:spcBef>
                <a:spcPts val="375"/>
              </a:spcBef>
            </a:pP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ACADEMICS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Kavitha</a:t>
            </a:r>
            <a:r>
              <a:rPr dirty="0" sz="1800" spc="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709418" y="8287995"/>
            <a:ext cx="1095375" cy="54927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RESEARCH</a:t>
            </a:r>
            <a:endParaRPr sz="1400">
              <a:latin typeface="Arial Black"/>
              <a:cs typeface="Arial Black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</a:pP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Nisha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17272" y="8225624"/>
            <a:ext cx="1494790" cy="61150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56540">
              <a:lnSpc>
                <a:spcPct val="100000"/>
              </a:lnSpc>
              <a:spcBef>
                <a:spcPts val="434"/>
              </a:spcBef>
            </a:pPr>
            <a:r>
              <a:rPr dirty="0" sz="1400" spc="-10">
                <a:solidFill>
                  <a:srgbClr val="FFFFFF"/>
                </a:solidFill>
                <a:latin typeface="Arial Black"/>
                <a:cs typeface="Arial Black"/>
              </a:rPr>
              <a:t>CLINICS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Hari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Haran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648408" y="6522753"/>
            <a:ext cx="2921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Dr.Ponnambala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Namasivayam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725323" y="6210595"/>
            <a:ext cx="1497965" cy="60706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08940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solidFill>
                  <a:srgbClr val="FFFFFF"/>
                </a:solidFill>
                <a:latin typeface="Arial Black"/>
                <a:cs typeface="Arial Black"/>
              </a:rPr>
              <a:t>DMS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Dr.Alagar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Raja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3009191" y="210529"/>
            <a:ext cx="911733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135890">
              <a:lnSpc>
                <a:spcPct val="100000"/>
              </a:lnSpc>
              <a:spcBef>
                <a:spcPts val="100"/>
              </a:spcBef>
            </a:pPr>
            <a:r>
              <a:rPr dirty="0" sz="4000" spc="45" b="0">
                <a:solidFill>
                  <a:srgbClr val="000000"/>
                </a:solidFill>
                <a:latin typeface="Verdana"/>
                <a:cs typeface="Verdana"/>
              </a:rPr>
              <a:t>GRADUATE</a:t>
            </a:r>
            <a:r>
              <a:rPr dirty="0" sz="4000" spc="-36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000" spc="180" b="0">
                <a:solidFill>
                  <a:srgbClr val="000000"/>
                </a:solidFill>
                <a:latin typeface="Verdana"/>
                <a:cs typeface="Verdana"/>
              </a:rPr>
              <a:t>PROGRAM</a:t>
            </a:r>
            <a:r>
              <a:rPr dirty="0" sz="4000" spc="-36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000" spc="155" b="0">
                <a:solidFill>
                  <a:srgbClr val="000000"/>
                </a:solidFill>
                <a:latin typeface="Verdana"/>
                <a:cs typeface="Verdana"/>
              </a:rPr>
              <a:t>BOOK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dirty="0" sz="4000" spc="-300">
                <a:solidFill>
                  <a:srgbClr val="000000"/>
                </a:solidFill>
                <a:latin typeface="Verdana"/>
                <a:cs typeface="Verdana"/>
              </a:rPr>
              <a:t>CLINICAL</a:t>
            </a:r>
            <a:r>
              <a:rPr dirty="0" sz="4000" spc="-22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000" spc="-555">
                <a:solidFill>
                  <a:srgbClr val="000000"/>
                </a:solidFill>
                <a:latin typeface="Verdana"/>
                <a:cs typeface="Verdana"/>
              </a:rPr>
              <a:t>&amp;</a:t>
            </a:r>
            <a:r>
              <a:rPr dirty="0" sz="4000" spc="-215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000" spc="-165">
                <a:solidFill>
                  <a:srgbClr val="000000"/>
                </a:solidFill>
                <a:latin typeface="Verdana"/>
                <a:cs typeface="Verdana"/>
              </a:rPr>
              <a:t>ACADEMIC</a:t>
            </a:r>
            <a:r>
              <a:rPr dirty="0" sz="4000" spc="-22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000" spc="-405">
                <a:solidFill>
                  <a:srgbClr val="000000"/>
                </a:solidFill>
                <a:latin typeface="Verdana"/>
                <a:cs typeface="Verdana"/>
              </a:rPr>
              <a:t>ACTIVITIES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3599" y="3657624"/>
            <a:ext cx="1680901" cy="1736224"/>
          </a:xfrm>
          <a:prstGeom prst="rect">
            <a:avLst/>
          </a:prstGeom>
        </p:spPr>
      </p:pic>
      <p:graphicFrame>
        <p:nvGraphicFramePr>
          <p:cNvPr id="27" name="object 27" descr=""/>
          <p:cNvGraphicFramePr>
            <a:graphicFrameLocks noGrp="1"/>
          </p:cNvGraphicFramePr>
          <p:nvPr/>
        </p:nvGraphicFramePr>
        <p:xfrm>
          <a:off x="9987812" y="3371599"/>
          <a:ext cx="4588510" cy="730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8545"/>
                <a:gridCol w="2174239"/>
              </a:tblGrid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6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Kannan</a:t>
                      </a:r>
                      <a:r>
                        <a:rPr dirty="0" sz="1200" spc="-5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6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Nagarajan</a:t>
                      </a:r>
                      <a:r>
                        <a:rPr dirty="0" sz="1200" spc="-6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9987812" y="4192749"/>
          <a:ext cx="4588510" cy="1511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8545"/>
                <a:gridCol w="2174239"/>
              </a:tblGrid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</a:t>
                      </a:r>
                      <a:r>
                        <a:rPr dirty="0" sz="1200" spc="-1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Sathish</a:t>
                      </a:r>
                      <a:r>
                        <a:rPr dirty="0" sz="1200" spc="-1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Kumar</a:t>
                      </a:r>
                      <a:r>
                        <a:rPr dirty="0" sz="1200" spc="-1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8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Seethalakshmi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1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4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Nitesh</a:t>
                      </a:r>
                      <a:r>
                        <a:rPr dirty="0" sz="1200" spc="-4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Kumar</a:t>
                      </a:r>
                      <a:r>
                        <a:rPr dirty="0" sz="1200" spc="-4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Rathi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Dr.Shanthi Nambi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object 29" descr=""/>
          <p:cNvGraphicFramePr>
            <a:graphicFrameLocks noGrp="1"/>
          </p:cNvGraphicFramePr>
          <p:nvPr/>
        </p:nvGraphicFramePr>
        <p:xfrm>
          <a:off x="9987812" y="5787349"/>
          <a:ext cx="4588510" cy="730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8545"/>
                <a:gridCol w="2174239"/>
              </a:tblGrid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Dr.Gangadharan</a:t>
                      </a:r>
                      <a:r>
                        <a:rPr dirty="0" sz="1200" spc="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Dr.Dinesh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Kumar</a:t>
                      </a: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0" name="object 30" descr=""/>
          <p:cNvGraphicFramePr>
            <a:graphicFrameLocks noGrp="1"/>
          </p:cNvGraphicFramePr>
          <p:nvPr/>
        </p:nvGraphicFramePr>
        <p:xfrm>
          <a:off x="9987812" y="6598573"/>
          <a:ext cx="4588510" cy="2293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8545"/>
                <a:gridCol w="2174239"/>
              </a:tblGrid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6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Elangovan</a:t>
                      </a:r>
                      <a:r>
                        <a:rPr dirty="0" sz="1200" spc="-6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</a:t>
                      </a:r>
                      <a:r>
                        <a:rPr dirty="0" sz="1200" spc="-2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Veni</a:t>
                      </a:r>
                      <a:r>
                        <a:rPr dirty="0" sz="1200" spc="-2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priya</a:t>
                      </a:r>
                      <a:r>
                        <a:rPr dirty="0" sz="1200" spc="-2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1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7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Narasimhalu</a:t>
                      </a:r>
                      <a:r>
                        <a:rPr dirty="0" sz="1200" spc="-7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C.R.V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4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Ram</a:t>
                      </a:r>
                      <a:r>
                        <a:rPr dirty="0" sz="1200" spc="-4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Kumar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1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Dr.Paarthipan</a:t>
                      </a:r>
                      <a:r>
                        <a:rPr dirty="0" sz="1200" spc="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6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Sahayaraj</a:t>
                      </a:r>
                      <a:r>
                        <a:rPr dirty="0" sz="1200" spc="-6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J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object 31" descr=""/>
          <p:cNvGraphicFramePr>
            <a:graphicFrameLocks noGrp="1"/>
          </p:cNvGraphicFramePr>
          <p:nvPr/>
        </p:nvGraphicFramePr>
        <p:xfrm>
          <a:off x="9987812" y="8976548"/>
          <a:ext cx="4588510" cy="730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8545"/>
                <a:gridCol w="2174239"/>
              </a:tblGrid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</a:t>
                      </a:r>
                      <a:r>
                        <a:rPr dirty="0" sz="1200" spc="-2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Rajadurai</a:t>
                      </a:r>
                      <a:r>
                        <a:rPr dirty="0" sz="1200" spc="-2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6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Sahayaraj</a:t>
                      </a:r>
                      <a:r>
                        <a:rPr dirty="0" sz="1200" spc="-6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J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2" name="object 32" descr=""/>
          <p:cNvGraphicFramePr>
            <a:graphicFrameLocks noGrp="1"/>
          </p:cNvGraphicFramePr>
          <p:nvPr/>
        </p:nvGraphicFramePr>
        <p:xfrm>
          <a:off x="9987812" y="9787773"/>
          <a:ext cx="4588510" cy="730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8545"/>
                <a:gridCol w="2174239"/>
              </a:tblGrid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Dr.</a:t>
                      </a:r>
                      <a:r>
                        <a:rPr dirty="0" sz="1200" spc="-4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Jayakumar</a:t>
                      </a:r>
                      <a:r>
                        <a:rPr dirty="0" sz="1200" spc="-4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Dr</a:t>
                      </a:r>
                      <a:r>
                        <a:rPr dirty="0" sz="1200" spc="-2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Gurupavan</a:t>
                      </a:r>
                      <a:r>
                        <a:rPr dirty="0" sz="1200" spc="-2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Kumar</a:t>
                      </a:r>
                      <a:r>
                        <a:rPr dirty="0" sz="1200" spc="-15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2C2E35"/>
                          </a:solidFill>
                          <a:latin typeface="Arial MT"/>
                          <a:cs typeface="Arial MT"/>
                        </a:rPr>
                        <a:t>Ganta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7937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 descr=""/>
          <p:cNvSpPr/>
          <p:nvPr/>
        </p:nvSpPr>
        <p:spPr>
          <a:xfrm>
            <a:off x="2403200" y="1564299"/>
            <a:ext cx="10184765" cy="0"/>
          </a:xfrm>
          <a:custGeom>
            <a:avLst/>
            <a:gdLst/>
            <a:ahLst/>
            <a:cxnLst/>
            <a:rect l="l" t="t" r="r" b="b"/>
            <a:pathLst>
              <a:path w="10184765" h="0">
                <a:moveTo>
                  <a:pt x="0" y="0"/>
                </a:moveTo>
                <a:lnTo>
                  <a:pt x="10184399" y="0"/>
                </a:lnTo>
              </a:path>
            </a:pathLst>
          </a:custGeom>
          <a:ln w="9524">
            <a:solidFill>
              <a:srgbClr val="1F49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2366599" y="1985599"/>
            <a:ext cx="10257790" cy="0"/>
          </a:xfrm>
          <a:custGeom>
            <a:avLst/>
            <a:gdLst/>
            <a:ahLst/>
            <a:cxnLst/>
            <a:rect l="l" t="t" r="r" b="b"/>
            <a:pathLst>
              <a:path w="10257790" h="0">
                <a:moveTo>
                  <a:pt x="0" y="0"/>
                </a:moveTo>
                <a:lnTo>
                  <a:pt x="10257599" y="0"/>
                </a:lnTo>
              </a:path>
            </a:pathLst>
          </a:custGeom>
          <a:ln w="9524">
            <a:solidFill>
              <a:srgbClr val="1F497D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09749" y="2794011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206375" rIns="0" bIns="0" rtlCol="0" vert="horz">
            <a:spAutoFit/>
          </a:bodyPr>
          <a:lstStyle/>
          <a:p>
            <a:pPr algn="ctr" marR="69850">
              <a:lnSpc>
                <a:spcPct val="100000"/>
              </a:lnSpc>
              <a:spcBef>
                <a:spcPts val="1625"/>
              </a:spcBef>
            </a:pPr>
            <a:r>
              <a:rPr dirty="0" sz="3450" spc="-50">
                <a:solidFill>
                  <a:srgbClr val="221E1F"/>
                </a:solidFill>
                <a:latin typeface="Lucida Sans Unicode"/>
                <a:cs typeface="Lucida Sans Unicode"/>
              </a:rPr>
              <a:t>0</a:t>
            </a:r>
            <a:endParaRPr sz="3450">
              <a:latin typeface="Lucida Sans Unicode"/>
              <a:cs typeface="Lucida Sans Unicode"/>
            </a:endParaRPr>
          </a:p>
          <a:p>
            <a:pPr marL="706120">
              <a:lnSpc>
                <a:spcPct val="100000"/>
              </a:lnSpc>
              <a:spcBef>
                <a:spcPts val="1055"/>
              </a:spcBef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PROCEDURES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28499" y="2794011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1270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endParaRPr sz="1450">
              <a:latin typeface="Times New Roman"/>
              <a:cs typeface="Times New Roman"/>
            </a:endParaRPr>
          </a:p>
          <a:p>
            <a:pPr marL="622300" marR="766445" indent="408305">
              <a:lnSpc>
                <a:spcPct val="123500"/>
              </a:lnSpc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PAPER </a:t>
            </a:r>
            <a:r>
              <a:rPr dirty="0" sz="1450" spc="-40">
                <a:solidFill>
                  <a:srgbClr val="221E1F"/>
                </a:solidFill>
                <a:latin typeface="Lucida Sans Unicode"/>
                <a:cs typeface="Lucida Sans Unicode"/>
              </a:rPr>
              <a:t>PRESENTATIONS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84787" y="2794011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450">
              <a:latin typeface="Times New Roman"/>
              <a:cs typeface="Times New Roman"/>
            </a:endParaRPr>
          </a:p>
          <a:p>
            <a:pPr marL="632460">
              <a:lnSpc>
                <a:spcPct val="100000"/>
              </a:lnSpc>
              <a:spcBef>
                <a:spcPts val="5"/>
              </a:spcBef>
            </a:pPr>
            <a:r>
              <a:rPr dirty="0" sz="1450" spc="-35">
                <a:solidFill>
                  <a:srgbClr val="221E1F"/>
                </a:solidFill>
                <a:latin typeface="Lucida Sans Unicode"/>
                <a:cs typeface="Lucida Sans Unicode"/>
              </a:rPr>
              <a:t>CLINICAL</a:t>
            </a:r>
            <a:r>
              <a:rPr dirty="0" sz="1450" spc="-55">
                <a:solidFill>
                  <a:srgbClr val="221E1F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CASES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28499" y="4195423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136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75"/>
              </a:spcBef>
            </a:pPr>
            <a:endParaRPr sz="1450">
              <a:latin typeface="Times New Roman"/>
              <a:cs typeface="Times New Roman"/>
            </a:endParaRPr>
          </a:p>
          <a:p>
            <a:pPr marL="622300" marR="766445" indent="352425">
              <a:lnSpc>
                <a:spcPct val="123500"/>
              </a:lnSpc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POSTER </a:t>
            </a:r>
            <a:r>
              <a:rPr dirty="0" sz="1450" spc="-40">
                <a:solidFill>
                  <a:srgbClr val="221E1F"/>
                </a:solidFill>
                <a:latin typeface="Lucida Sans Unicode"/>
                <a:cs typeface="Lucida Sans Unicode"/>
              </a:rPr>
              <a:t>PRESENTATIONS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84787" y="4195423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450">
              <a:latin typeface="Times New Roman"/>
              <a:cs typeface="Times New Roman"/>
            </a:endParaRPr>
          </a:p>
          <a:p>
            <a:pPr marL="501650">
              <a:lnSpc>
                <a:spcPct val="100000"/>
              </a:lnSpc>
            </a:pPr>
            <a:r>
              <a:rPr dirty="0" sz="1450" spc="-55">
                <a:solidFill>
                  <a:srgbClr val="221E1F"/>
                </a:solidFill>
                <a:latin typeface="Lucida Sans Unicode"/>
                <a:cs typeface="Lucida Sans Unicode"/>
              </a:rPr>
              <a:t>VALUE</a:t>
            </a:r>
            <a:r>
              <a:rPr dirty="0" sz="1450" spc="-70">
                <a:solidFill>
                  <a:srgbClr val="221E1F"/>
                </a:solidFill>
                <a:latin typeface="Lucida Sans Unicode"/>
                <a:cs typeface="Lucida Sans Unicode"/>
              </a:rPr>
              <a:t> </a:t>
            </a:r>
            <a:r>
              <a:rPr dirty="0" sz="1450">
                <a:solidFill>
                  <a:srgbClr val="221E1F"/>
                </a:solidFill>
                <a:latin typeface="Lucida Sans Unicode"/>
                <a:cs typeface="Lucida Sans Unicode"/>
              </a:rPr>
              <a:t>OF</a:t>
            </a:r>
            <a:r>
              <a:rPr dirty="0" sz="1450" spc="-70">
                <a:solidFill>
                  <a:srgbClr val="221E1F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THERAPY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09749" y="4195423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215900" rIns="0" bIns="0" rtlCol="0" vert="horz">
            <a:spAutoFit/>
          </a:bodyPr>
          <a:lstStyle/>
          <a:p>
            <a:pPr marL="1169670">
              <a:lnSpc>
                <a:spcPts val="4140"/>
              </a:lnSpc>
              <a:spcBef>
                <a:spcPts val="1700"/>
              </a:spcBef>
            </a:pPr>
            <a:r>
              <a:rPr dirty="0" sz="3450" spc="-50">
                <a:solidFill>
                  <a:srgbClr val="221E1F"/>
                </a:solidFill>
                <a:latin typeface="Lucida Sans Unicode"/>
                <a:cs typeface="Lucida Sans Unicode"/>
              </a:rPr>
              <a:t>0</a:t>
            </a:r>
            <a:endParaRPr sz="3450">
              <a:latin typeface="Lucida Sans Unicode"/>
              <a:cs typeface="Lucida Sans Unicode"/>
            </a:endParaRPr>
          </a:p>
          <a:p>
            <a:pPr marL="1096645">
              <a:lnSpc>
                <a:spcPct val="100000"/>
              </a:lnSpc>
            </a:pPr>
            <a:r>
              <a:rPr dirty="0" sz="1450" spc="-25">
                <a:solidFill>
                  <a:srgbClr val="221E1F"/>
                </a:solidFill>
                <a:latin typeface="Lucida Sans Unicode"/>
                <a:cs typeface="Lucida Sans Unicode"/>
              </a:rPr>
              <a:t>INR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828499" y="5596836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147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1450">
              <a:latin typeface="Times New Roman"/>
              <a:cs typeface="Times New Roman"/>
            </a:endParaRPr>
          </a:p>
          <a:p>
            <a:pPr marL="727710" marR="880744" indent="114300">
              <a:lnSpc>
                <a:spcPct val="123500"/>
              </a:lnSpc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NATIONAL CONFERENCE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84787" y="5596836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450">
              <a:latin typeface="Times New Roman"/>
              <a:cs typeface="Times New Roman"/>
            </a:endParaRPr>
          </a:p>
          <a:p>
            <a:pPr marL="789305">
              <a:lnSpc>
                <a:spcPct val="100000"/>
              </a:lnSpc>
              <a:spcBef>
                <a:spcPts val="5"/>
              </a:spcBef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ACADEMICS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84787" y="6998248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450">
              <a:latin typeface="Times New Roman"/>
              <a:cs typeface="Times New Roman"/>
            </a:endParaRPr>
          </a:p>
          <a:p>
            <a:pPr marL="454659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221E1F"/>
                </a:solidFill>
                <a:latin typeface="Lucida Sans Unicode"/>
                <a:cs typeface="Lucida Sans Unicode"/>
              </a:rPr>
              <a:t>ACADEMIC</a:t>
            </a:r>
            <a:r>
              <a:rPr dirty="0" sz="1450" spc="-75">
                <a:solidFill>
                  <a:srgbClr val="221E1F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AWARDS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84787" y="8399660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1450">
              <a:latin typeface="Times New Roman"/>
              <a:cs typeface="Times New Roman"/>
            </a:endParaRPr>
          </a:p>
          <a:p>
            <a:pPr marL="855980">
              <a:lnSpc>
                <a:spcPct val="100000"/>
              </a:lnSpc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RESEARCH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09749" y="5596836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225425" rIns="0" bIns="0" rtlCol="0" vert="horz">
            <a:spAutoFit/>
          </a:bodyPr>
          <a:lstStyle/>
          <a:p>
            <a:pPr algn="ctr" marR="88265">
              <a:lnSpc>
                <a:spcPts val="4140"/>
              </a:lnSpc>
              <a:spcBef>
                <a:spcPts val="1775"/>
              </a:spcBef>
            </a:pPr>
            <a:r>
              <a:rPr dirty="0" sz="3450" spc="245">
                <a:solidFill>
                  <a:srgbClr val="221E1F"/>
                </a:solidFill>
                <a:latin typeface="Lucida Sans Unicode"/>
                <a:cs typeface="Lucida Sans Unicode"/>
              </a:rPr>
              <a:t>%</a:t>
            </a:r>
            <a:endParaRPr sz="3450">
              <a:latin typeface="Lucida Sans Unicode"/>
              <a:cs typeface="Lucida Sans Unicode"/>
            </a:endParaRPr>
          </a:p>
          <a:p>
            <a:pPr marL="713105">
              <a:lnSpc>
                <a:spcPct val="100000"/>
              </a:lnSpc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DISTINCTION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09749" y="6998248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234950" rIns="0" bIns="0" rtlCol="0" vert="horz">
            <a:spAutoFit/>
          </a:bodyPr>
          <a:lstStyle/>
          <a:p>
            <a:pPr algn="ctr" marR="26670">
              <a:lnSpc>
                <a:spcPct val="100000"/>
              </a:lnSpc>
              <a:spcBef>
                <a:spcPts val="1850"/>
              </a:spcBef>
            </a:pPr>
            <a:r>
              <a:rPr dirty="0" sz="3450" spc="-50">
                <a:solidFill>
                  <a:srgbClr val="221E1F"/>
                </a:solidFill>
                <a:latin typeface="Lucida Sans Unicode"/>
                <a:cs typeface="Lucida Sans Unicode"/>
              </a:rPr>
              <a:t>0</a:t>
            </a:r>
            <a:endParaRPr sz="3450">
              <a:latin typeface="Lucida Sans Unicode"/>
              <a:cs typeface="Lucida Sans Unicode"/>
            </a:endParaRPr>
          </a:p>
          <a:p>
            <a:pPr marL="882015">
              <a:lnSpc>
                <a:spcPct val="100000"/>
              </a:lnSpc>
              <a:spcBef>
                <a:spcPts val="1055"/>
              </a:spcBef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AWARDS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28499" y="6998248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1555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25"/>
              </a:spcBef>
            </a:pPr>
            <a:endParaRPr sz="1450">
              <a:latin typeface="Times New Roman"/>
              <a:cs typeface="Times New Roman"/>
            </a:endParaRPr>
          </a:p>
          <a:p>
            <a:pPr marL="729615" marR="814705" indent="-116839">
              <a:lnSpc>
                <a:spcPct val="123500"/>
              </a:lnSpc>
            </a:pPr>
            <a:r>
              <a:rPr dirty="0" sz="1450" spc="-70">
                <a:solidFill>
                  <a:srgbClr val="221E1F"/>
                </a:solidFill>
                <a:latin typeface="Lucida Sans Unicode"/>
                <a:cs typeface="Lucida Sans Unicode"/>
              </a:rPr>
              <a:t>INTERNATIONAL </a:t>
            </a: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CONFERENCE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09749" y="8399660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244475" rIns="0" bIns="0" rtlCol="0" vert="horz">
            <a:spAutoFit/>
          </a:bodyPr>
          <a:lstStyle/>
          <a:p>
            <a:pPr algn="ctr" marR="42545">
              <a:lnSpc>
                <a:spcPct val="100000"/>
              </a:lnSpc>
              <a:spcBef>
                <a:spcPts val="1925"/>
              </a:spcBef>
            </a:pPr>
            <a:r>
              <a:rPr dirty="0" sz="3450" spc="-50">
                <a:solidFill>
                  <a:srgbClr val="221E1F"/>
                </a:solidFill>
                <a:latin typeface="Lucida Sans Unicode"/>
                <a:cs typeface="Lucida Sans Unicode"/>
              </a:rPr>
              <a:t>0</a:t>
            </a:r>
            <a:endParaRPr sz="3450">
              <a:latin typeface="Lucida Sans Unicode"/>
              <a:cs typeface="Lucida Sans Unicode"/>
            </a:endParaRPr>
          </a:p>
          <a:p>
            <a:pPr marL="651510">
              <a:lnSpc>
                <a:spcPct val="100000"/>
              </a:lnSpc>
              <a:spcBef>
                <a:spcPts val="1055"/>
              </a:spcBef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PUBLICATIONS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28499" y="8399660"/>
            <a:ext cx="2793365" cy="11830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450">
              <a:latin typeface="Times New Roman"/>
              <a:cs typeface="Times New Roman"/>
            </a:endParaRPr>
          </a:p>
          <a:p>
            <a:pPr marL="953769">
              <a:lnSpc>
                <a:spcPct val="100000"/>
              </a:lnSpc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CITATIONS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676756" y="239996"/>
            <a:ext cx="7966709" cy="650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75" b="0">
                <a:solidFill>
                  <a:srgbClr val="000000"/>
                </a:solidFill>
                <a:latin typeface="Verdana"/>
                <a:cs typeface="Verdana"/>
              </a:rPr>
              <a:t>OVERALL</a:t>
            </a:r>
            <a:r>
              <a:rPr dirty="0" sz="4100" spc="-21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100" b="0">
                <a:solidFill>
                  <a:srgbClr val="000000"/>
                </a:solidFill>
                <a:latin typeface="Verdana"/>
                <a:cs typeface="Verdana"/>
              </a:rPr>
              <a:t>ACADEMIC</a:t>
            </a:r>
            <a:r>
              <a:rPr dirty="0" sz="4100" spc="-21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100" spc="65" b="0">
                <a:solidFill>
                  <a:srgbClr val="000000"/>
                </a:solidFill>
                <a:latin typeface="Verdana"/>
                <a:cs typeface="Verdana"/>
              </a:rPr>
              <a:t>PROFILE</a:t>
            </a:r>
            <a:endParaRPr sz="410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070824" y="1446582"/>
            <a:ext cx="1098804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05270" algn="l"/>
                <a:tab pos="8511540" algn="l"/>
              </a:tabLst>
            </a:pPr>
            <a:r>
              <a:rPr dirty="0" sz="3500" spc="-35">
                <a:latin typeface="Calibri"/>
                <a:cs typeface="Calibri"/>
              </a:rPr>
              <a:t>PASSION</a:t>
            </a:r>
            <a:r>
              <a:rPr dirty="0" sz="3500" spc="-8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I</a:t>
            </a:r>
            <a:r>
              <a:rPr dirty="0" sz="3500" spc="-8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PERFECTION</a:t>
            </a:r>
            <a:r>
              <a:rPr dirty="0" sz="3500">
                <a:latin typeface="Calibri"/>
                <a:cs typeface="Calibri"/>
              </a:rPr>
              <a:t>	</a:t>
            </a:r>
            <a:r>
              <a:rPr dirty="0" sz="3500" spc="-10">
                <a:latin typeface="Calibri"/>
                <a:cs typeface="Calibri"/>
              </a:rPr>
              <a:t>PATIENCE</a:t>
            </a:r>
            <a:r>
              <a:rPr dirty="0" sz="3500">
                <a:latin typeface="Calibri"/>
                <a:cs typeface="Calibri"/>
              </a:rPr>
              <a:t>	I</a:t>
            </a:r>
            <a:r>
              <a:rPr dirty="0" sz="3500" spc="-1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PERFECTION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5600" y="752834"/>
            <a:ext cx="1681802" cy="1736225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7556500" y="2870424"/>
            <a:ext cx="0" cy="6828155"/>
          </a:xfrm>
          <a:custGeom>
            <a:avLst/>
            <a:gdLst/>
            <a:ahLst/>
            <a:cxnLst/>
            <a:rect l="l" t="t" r="r" b="b"/>
            <a:pathLst>
              <a:path w="0" h="6828155">
                <a:moveTo>
                  <a:pt x="0" y="0"/>
                </a:moveTo>
                <a:lnTo>
                  <a:pt x="0" y="6827699"/>
                </a:lnTo>
              </a:path>
            </a:pathLst>
          </a:custGeom>
          <a:ln w="76199">
            <a:solidFill>
              <a:srgbClr val="8888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0815887" y="2790115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215900" rIns="0" bIns="0" rtlCol="0" vert="horz">
            <a:spAutoFit/>
          </a:bodyPr>
          <a:lstStyle/>
          <a:p>
            <a:pPr algn="ctr" marL="33655">
              <a:lnSpc>
                <a:spcPct val="100000"/>
              </a:lnSpc>
              <a:spcBef>
                <a:spcPts val="1700"/>
              </a:spcBef>
            </a:pPr>
            <a:r>
              <a:rPr dirty="0" sz="3300" spc="-50">
                <a:latin typeface="Arial Black"/>
                <a:cs typeface="Arial Black"/>
              </a:rPr>
              <a:t>0</a:t>
            </a:r>
            <a:endParaRPr sz="3300">
              <a:latin typeface="Arial Black"/>
              <a:cs typeface="Arial Black"/>
            </a:endParaRPr>
          </a:p>
          <a:p>
            <a:pPr marL="67437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PRESENTATIONS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815887" y="4191528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262255" rIns="0" bIns="0" rtlCol="0" vert="horz">
            <a:spAutoFit/>
          </a:bodyPr>
          <a:lstStyle/>
          <a:p>
            <a:pPr algn="ctr" marL="33655">
              <a:lnSpc>
                <a:spcPct val="100000"/>
              </a:lnSpc>
              <a:spcBef>
                <a:spcPts val="2065"/>
              </a:spcBef>
            </a:pPr>
            <a:r>
              <a:rPr dirty="0" sz="3300" spc="-50">
                <a:latin typeface="Arial Black"/>
                <a:cs typeface="Arial Black"/>
              </a:rPr>
              <a:t>0</a:t>
            </a:r>
            <a:endParaRPr sz="3300">
              <a:latin typeface="Arial Black"/>
              <a:cs typeface="Arial Black"/>
            </a:endParaRPr>
          </a:p>
          <a:p>
            <a:pPr marL="67437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PRESENTATIONS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815887" y="5592941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232410" rIns="0" bIns="0" rtlCol="0" vert="horz">
            <a:spAutoFit/>
          </a:bodyPr>
          <a:lstStyle/>
          <a:p>
            <a:pPr algn="ctr" marL="33655">
              <a:lnSpc>
                <a:spcPct val="100000"/>
              </a:lnSpc>
              <a:spcBef>
                <a:spcPts val="1830"/>
              </a:spcBef>
            </a:pPr>
            <a:r>
              <a:rPr dirty="0" sz="3300" spc="-50">
                <a:latin typeface="Arial Black"/>
                <a:cs typeface="Arial Black"/>
              </a:rPr>
              <a:t>0</a:t>
            </a:r>
            <a:endParaRPr sz="3300">
              <a:latin typeface="Arial Black"/>
              <a:cs typeface="Arial Black"/>
            </a:endParaRPr>
          </a:p>
          <a:p>
            <a:pPr marL="67437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PRESENTATIONS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815887" y="6994352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255270" rIns="0" bIns="0" rtlCol="0" vert="horz">
            <a:spAutoFit/>
          </a:bodyPr>
          <a:lstStyle/>
          <a:p>
            <a:pPr algn="ctr" marL="69850">
              <a:lnSpc>
                <a:spcPct val="100000"/>
              </a:lnSpc>
              <a:spcBef>
                <a:spcPts val="2010"/>
              </a:spcBef>
            </a:pPr>
            <a:r>
              <a:rPr dirty="0" sz="3300" spc="-50">
                <a:latin typeface="Arial Black"/>
                <a:cs typeface="Arial Black"/>
              </a:rPr>
              <a:t>0</a:t>
            </a:r>
            <a:endParaRPr sz="3300">
              <a:latin typeface="Arial Black"/>
              <a:cs typeface="Arial Black"/>
            </a:endParaRPr>
          </a:p>
          <a:p>
            <a:pPr marL="69215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PRESENTATIONS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815887" y="8395765"/>
            <a:ext cx="2793365" cy="1183005"/>
          </a:xfrm>
          <a:prstGeom prst="rect">
            <a:avLst/>
          </a:prstGeom>
          <a:ln w="9524">
            <a:solidFill>
              <a:srgbClr val="888888"/>
            </a:solidFill>
          </a:ln>
        </p:spPr>
        <p:txBody>
          <a:bodyPr wrap="square" lIns="0" tIns="149225" rIns="0" bIns="0" rtlCol="0" vert="horz">
            <a:spAutoFit/>
          </a:bodyPr>
          <a:lstStyle/>
          <a:p>
            <a:pPr algn="ctr" marL="69850">
              <a:lnSpc>
                <a:spcPct val="100000"/>
              </a:lnSpc>
              <a:spcBef>
                <a:spcPts val="1175"/>
              </a:spcBef>
            </a:pPr>
            <a:r>
              <a:rPr dirty="0" sz="3300" spc="-50">
                <a:latin typeface="Arial Black"/>
                <a:cs typeface="Arial Black"/>
              </a:rPr>
              <a:t>0</a:t>
            </a:r>
            <a:endParaRPr sz="3300">
              <a:latin typeface="Arial Black"/>
              <a:cs typeface="Arial Black"/>
            </a:endParaRPr>
          </a:p>
          <a:p>
            <a:pPr marL="1041400">
              <a:lnSpc>
                <a:spcPct val="100000"/>
              </a:lnSpc>
              <a:spcBef>
                <a:spcPts val="35"/>
              </a:spcBef>
            </a:pPr>
            <a:r>
              <a:rPr dirty="0" sz="1450" spc="-10">
                <a:solidFill>
                  <a:srgbClr val="221E1F"/>
                </a:solidFill>
                <a:latin typeface="Lucida Sans Unicode"/>
                <a:cs typeface="Lucida Sans Unicode"/>
              </a:rPr>
              <a:t>CITATIONS</a:t>
            </a:r>
            <a:endParaRPr sz="1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113000" cy="106807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0"/>
            <a:ext cx="15113635" cy="10680700"/>
          </a:xfrm>
          <a:custGeom>
            <a:avLst/>
            <a:gdLst/>
            <a:ahLst/>
            <a:cxnLst/>
            <a:rect l="l" t="t" r="r" b="b"/>
            <a:pathLst>
              <a:path w="15113635" h="10680700">
                <a:moveTo>
                  <a:pt x="15113099" y="10680599"/>
                </a:moveTo>
                <a:lnTo>
                  <a:pt x="0" y="10680599"/>
                </a:lnTo>
                <a:lnTo>
                  <a:pt x="0" y="0"/>
                </a:lnTo>
                <a:lnTo>
                  <a:pt x="15113099" y="0"/>
                </a:lnTo>
                <a:lnTo>
                  <a:pt x="15113099" y="10680599"/>
                </a:lnTo>
                <a:close/>
              </a:path>
            </a:pathLst>
          </a:custGeom>
          <a:solidFill>
            <a:srgbClr val="353768">
              <a:alpha val="6163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4762" y="-4762"/>
            <a:ext cx="15123160" cy="10690225"/>
            <a:chOff x="-4762" y="-4762"/>
            <a:chExt cx="15123160" cy="10690225"/>
          </a:xfrm>
        </p:grpSpPr>
        <p:sp>
          <p:nvSpPr>
            <p:cNvPr id="5" name="object 5" descr=""/>
            <p:cNvSpPr/>
            <p:nvPr/>
          </p:nvSpPr>
          <p:spPr>
            <a:xfrm>
              <a:off x="0" y="0"/>
              <a:ext cx="15113635" cy="10680700"/>
            </a:xfrm>
            <a:custGeom>
              <a:avLst/>
              <a:gdLst/>
              <a:ahLst/>
              <a:cxnLst/>
              <a:rect l="l" t="t" r="r" b="b"/>
              <a:pathLst>
                <a:path w="15113635" h="10680700">
                  <a:moveTo>
                    <a:pt x="0" y="0"/>
                  </a:moveTo>
                  <a:lnTo>
                    <a:pt x="15113099" y="0"/>
                  </a:lnTo>
                  <a:lnTo>
                    <a:pt x="15113099" y="10680599"/>
                  </a:lnTo>
                  <a:lnTo>
                    <a:pt x="0" y="1068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12050" y="6394749"/>
              <a:ext cx="7447280" cy="3896995"/>
            </a:xfrm>
            <a:custGeom>
              <a:avLst/>
              <a:gdLst/>
              <a:ahLst/>
              <a:cxnLst/>
              <a:rect l="l" t="t" r="r" b="b"/>
              <a:pathLst>
                <a:path w="7447280" h="3896995">
                  <a:moveTo>
                    <a:pt x="7446899" y="3896699"/>
                  </a:moveTo>
                  <a:lnTo>
                    <a:pt x="0" y="3896699"/>
                  </a:lnTo>
                  <a:lnTo>
                    <a:pt x="0" y="0"/>
                  </a:lnTo>
                  <a:lnTo>
                    <a:pt x="7446899" y="0"/>
                  </a:lnTo>
                  <a:lnTo>
                    <a:pt x="7446899" y="3896699"/>
                  </a:lnTo>
                  <a:close/>
                </a:path>
              </a:pathLst>
            </a:custGeom>
            <a:solidFill>
              <a:srgbClr val="35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412050" y="6394749"/>
              <a:ext cx="7447280" cy="3896995"/>
            </a:xfrm>
            <a:custGeom>
              <a:avLst/>
              <a:gdLst/>
              <a:ahLst/>
              <a:cxnLst/>
              <a:rect l="l" t="t" r="r" b="b"/>
              <a:pathLst>
                <a:path w="7447280" h="3896995">
                  <a:moveTo>
                    <a:pt x="0" y="0"/>
                  </a:moveTo>
                  <a:lnTo>
                    <a:pt x="7446899" y="0"/>
                  </a:lnTo>
                  <a:lnTo>
                    <a:pt x="7446899" y="3896699"/>
                  </a:lnTo>
                  <a:lnTo>
                    <a:pt x="0" y="3896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744579" y="6835292"/>
            <a:ext cx="410591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600" spc="65">
                <a:solidFill>
                  <a:srgbClr val="FFFFFF"/>
                </a:solidFill>
                <a:latin typeface="Lucida Sans Unicode"/>
                <a:cs typeface="Lucida Sans Unicode"/>
              </a:rPr>
              <a:t>Clinical</a:t>
            </a:r>
            <a:r>
              <a:rPr dirty="0" sz="26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70">
                <a:solidFill>
                  <a:srgbClr val="FFFFFF"/>
                </a:solidFill>
                <a:latin typeface="Lucida Sans Unicode"/>
                <a:cs typeface="Lucida Sans Unicode"/>
              </a:rPr>
              <a:t>Documentation</a:t>
            </a:r>
            <a:r>
              <a:rPr dirty="0" sz="26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0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929579" y="7896938"/>
            <a:ext cx="2247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600" spc="-5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929579" y="8887990"/>
            <a:ext cx="2247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600" spc="-5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44579" y="7714254"/>
            <a:ext cx="3281045" cy="20948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91820">
              <a:lnSpc>
                <a:spcPct val="118900"/>
              </a:lnSpc>
              <a:spcBef>
                <a:spcPts val="100"/>
              </a:spcBef>
            </a:pPr>
            <a:r>
              <a:rPr dirty="0" sz="2600" spc="-10">
                <a:solidFill>
                  <a:srgbClr val="FFFFFF"/>
                </a:solidFill>
                <a:latin typeface="Lucida Sans Unicode"/>
                <a:cs typeface="Lucida Sans Unicode"/>
              </a:rPr>
              <a:t>Digital </a:t>
            </a:r>
            <a:r>
              <a:rPr dirty="0" sz="2600" spc="45">
                <a:solidFill>
                  <a:srgbClr val="FFFFFF"/>
                </a:solidFill>
                <a:latin typeface="Lucida Sans Unicode"/>
                <a:cs typeface="Lucida Sans Unicode"/>
              </a:rPr>
              <a:t>Documentation:</a:t>
            </a:r>
            <a:endParaRPr sz="2600">
              <a:latin typeface="Lucida Sans Unicode"/>
              <a:cs typeface="Lucida Sans Unicode"/>
            </a:endParaRPr>
          </a:p>
          <a:p>
            <a:pPr marR="5080">
              <a:lnSpc>
                <a:spcPct val="118900"/>
              </a:lnSpc>
              <a:spcBef>
                <a:spcPts val="1455"/>
              </a:spcBef>
            </a:pPr>
            <a:r>
              <a:rPr dirty="0" sz="2600" spc="95">
                <a:solidFill>
                  <a:srgbClr val="FFFFFF"/>
                </a:solidFill>
                <a:latin typeface="Lucida Sans Unicode"/>
                <a:cs typeface="Lucida Sans Unicode"/>
              </a:rPr>
              <a:t>Cumulative</a:t>
            </a:r>
            <a:r>
              <a:rPr dirty="0" sz="26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5">
                <a:solidFill>
                  <a:srgbClr val="FFFFFF"/>
                </a:solidFill>
                <a:latin typeface="Lucida Sans Unicode"/>
                <a:cs typeface="Lucida Sans Unicode"/>
              </a:rPr>
              <a:t>Clinical </a:t>
            </a:r>
            <a:r>
              <a:rPr dirty="0" sz="2600" spc="105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dirty="0" sz="26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0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929579" y="6905887"/>
            <a:ext cx="2247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600" spc="-5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endParaRPr sz="2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9224" y="3801554"/>
            <a:ext cx="1039368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6055" algn="l"/>
              </a:tabLst>
            </a:pPr>
            <a:r>
              <a:rPr dirty="0" spc="-10"/>
              <a:t>GENERAL</a:t>
            </a:r>
            <a:r>
              <a:rPr dirty="0"/>
              <a:t>	</a:t>
            </a:r>
            <a:r>
              <a:rPr dirty="0" spc="-10"/>
              <a:t>MEDICINE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0857" rIns="0" bIns="0" rtlCol="0" vert="horz">
            <a:spAutoFit/>
          </a:bodyPr>
          <a:lstStyle/>
          <a:p>
            <a:pPr marL="139827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</a:t>
            </a:r>
            <a:r>
              <a:rPr dirty="0" spc="-70"/>
              <a:t> </a:t>
            </a:r>
            <a:r>
              <a:rPr dirty="0" spc="-10"/>
              <a:t>SURGERY</a:t>
            </a:r>
          </a:p>
          <a:p>
            <a:pPr marL="1398270">
              <a:lnSpc>
                <a:spcPct val="100000"/>
              </a:lnSpc>
              <a:spcBef>
                <a:spcPts val="120"/>
              </a:spcBef>
            </a:pPr>
            <a:r>
              <a:rPr dirty="0" sz="6600"/>
              <a:t>5</a:t>
            </a:r>
            <a:r>
              <a:rPr dirty="0" sz="6600" spc="75"/>
              <a:t> </a:t>
            </a:r>
            <a:r>
              <a:rPr dirty="0" sz="6600" spc="-70"/>
              <a:t>WEEKS(xx/xx/2x-</a:t>
            </a:r>
            <a:r>
              <a:rPr dirty="0" sz="6600" spc="-10"/>
              <a:t>xx/xx/2x)</a:t>
            </a:r>
            <a:endParaRPr sz="6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0857" rIns="0" bIns="0" rtlCol="0" vert="horz">
            <a:spAutoFit/>
          </a:bodyPr>
          <a:lstStyle/>
          <a:p>
            <a:pPr marL="139827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</a:t>
            </a:r>
            <a:r>
              <a:rPr dirty="0" spc="-70"/>
              <a:t> </a:t>
            </a:r>
            <a:r>
              <a:rPr dirty="0" spc="-40"/>
              <a:t>SURGERY</a:t>
            </a:r>
          </a:p>
          <a:p>
            <a:pPr marL="1398270">
              <a:lnSpc>
                <a:spcPct val="100000"/>
              </a:lnSpc>
              <a:spcBef>
                <a:spcPts val="120"/>
              </a:spcBef>
            </a:pPr>
            <a:r>
              <a:rPr dirty="0" sz="6600"/>
              <a:t>1</a:t>
            </a:r>
            <a:r>
              <a:rPr dirty="0" sz="6600" spc="35"/>
              <a:t> </a:t>
            </a:r>
            <a:r>
              <a:rPr dirty="0" sz="6600" spc="-65"/>
              <a:t>WEEK(xx/xx/2x-</a:t>
            </a:r>
            <a:r>
              <a:rPr dirty="0" sz="6600" spc="-10"/>
              <a:t>xx/xx/2x)</a:t>
            </a:r>
            <a:endParaRPr sz="6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0857" rIns="0" bIns="0" rtlCol="0" vert="horz">
            <a:spAutoFit/>
          </a:bodyPr>
          <a:lstStyle/>
          <a:p>
            <a:pPr marL="3093085" marR="5080" indent="-87503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OBSTETRICS</a:t>
            </a:r>
            <a:r>
              <a:rPr dirty="0" spc="-470"/>
              <a:t> </a:t>
            </a:r>
            <a:r>
              <a:rPr dirty="0" spc="-25"/>
              <a:t>AND </a:t>
            </a:r>
            <a:r>
              <a:rPr dirty="0" spc="-10"/>
              <a:t>GYNECOLOGY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140" rIns="0" bIns="0" rtlCol="0" vert="horz">
            <a:spAutoFit/>
          </a:bodyPr>
          <a:lstStyle/>
          <a:p>
            <a:pPr marL="3310890">
              <a:lnSpc>
                <a:spcPct val="100000"/>
              </a:lnSpc>
              <a:spcBef>
                <a:spcPts val="100"/>
              </a:spcBef>
            </a:pPr>
            <a:r>
              <a:rPr dirty="0" spc="-655"/>
              <a:t>P</a:t>
            </a:r>
            <a:r>
              <a:rPr dirty="0" spc="-5"/>
              <a:t>A</a:t>
            </a:r>
            <a:r>
              <a:rPr dirty="0" spc="-10"/>
              <a:t>EDI</a:t>
            </a:r>
            <a:r>
              <a:rPr dirty="0" spc="-755"/>
              <a:t>A</a:t>
            </a:r>
            <a:r>
              <a:rPr dirty="0" spc="-5"/>
              <a:t>T</a:t>
            </a:r>
            <a:r>
              <a:rPr dirty="0" spc="-10"/>
              <a:t>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92082" rIns="0" bIns="0" rtlCol="0" vert="horz">
            <a:spAutoFit/>
          </a:bodyPr>
          <a:lstStyle/>
          <a:p>
            <a:pPr marL="516255">
              <a:lnSpc>
                <a:spcPct val="100000"/>
              </a:lnSpc>
              <a:spcBef>
                <a:spcPts val="100"/>
              </a:spcBef>
            </a:pPr>
            <a:r>
              <a:rPr dirty="0"/>
              <a:t>COMMUNITY</a:t>
            </a:r>
            <a:r>
              <a:rPr dirty="0" spc="-204"/>
              <a:t> </a:t>
            </a:r>
            <a:r>
              <a:rPr dirty="0" spc="-10"/>
              <a:t>MEDICINE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48065" rIns="0" bIns="0" rtlCol="0" vert="horz">
            <a:spAutoFit/>
          </a:bodyPr>
          <a:lstStyle/>
          <a:p>
            <a:pPr marL="804545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EMERGENCY</a:t>
            </a:r>
            <a:r>
              <a:rPr dirty="0" spc="-484"/>
              <a:t> </a:t>
            </a:r>
            <a:r>
              <a:rPr dirty="0" spc="-10"/>
              <a:t>MEDICINE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6057" rIns="0" bIns="0" rtlCol="0" vert="horz">
            <a:spAutoFit/>
          </a:bodyPr>
          <a:lstStyle/>
          <a:p>
            <a:pPr marL="264096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DERM</a:t>
            </a:r>
            <a:r>
              <a:rPr dirty="0" spc="-760"/>
              <a:t>A</a:t>
            </a:r>
            <a:r>
              <a:rPr dirty="0" spc="-254"/>
              <a:t>T</a:t>
            </a:r>
            <a:r>
              <a:rPr dirty="0" spc="-10"/>
              <a:t>O</a:t>
            </a:r>
            <a:r>
              <a:rPr dirty="0" spc="-180"/>
              <a:t>L</a:t>
            </a:r>
            <a:r>
              <a:rPr dirty="0" spc="-5"/>
              <a:t>O</a:t>
            </a:r>
            <a:r>
              <a:rPr dirty="0" spc="-140"/>
              <a:t>G</a:t>
            </a:r>
            <a:r>
              <a:rPr dirty="0"/>
              <a:t>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48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OTORHINOLARYNGOLOGY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48065" rIns="0" bIns="0" rtlCol="0" vert="horz">
            <a:spAutoFit/>
          </a:bodyPr>
          <a:lstStyle/>
          <a:p>
            <a:pPr marL="2550795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O</a:t>
            </a:r>
            <a:r>
              <a:rPr dirty="0" spc="-95"/>
              <a:t>R</a:t>
            </a:r>
            <a:r>
              <a:rPr dirty="0"/>
              <a:t>THO</a:t>
            </a:r>
            <a:r>
              <a:rPr dirty="0" spc="-655"/>
              <a:t>P</a:t>
            </a:r>
            <a:r>
              <a:rPr dirty="0" spc="-5"/>
              <a:t>A</a:t>
            </a:r>
            <a:r>
              <a:rPr dirty="0" spc="-10"/>
              <a:t>EDICS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7296" y="4126753"/>
            <a:ext cx="948690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OPHTHALMOLOGY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6057" rIns="0" bIns="0" rtlCol="0" vert="horz">
            <a:spAutoFit/>
          </a:bodyPr>
          <a:lstStyle/>
          <a:p>
            <a:pPr marL="2640965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PULMONOLOGY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6057" rIns="0" bIns="0" rtlCol="0" vert="horz">
            <a:spAutoFit/>
          </a:bodyPr>
          <a:lstStyle/>
          <a:p>
            <a:pPr marL="312674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P</a:t>
            </a:r>
            <a:r>
              <a:rPr dirty="0" spc="-190"/>
              <a:t>S</a:t>
            </a:r>
            <a:r>
              <a:rPr dirty="0" spc="-380"/>
              <a:t>Y</a:t>
            </a:r>
            <a:r>
              <a:rPr dirty="0" spc="-15"/>
              <a:t>CHI</a:t>
            </a:r>
            <a:r>
              <a:rPr dirty="0" spc="-760"/>
              <a:t>A</a:t>
            </a:r>
            <a:r>
              <a:rPr dirty="0" spc="-10"/>
              <a:t>T</a:t>
            </a:r>
            <a:r>
              <a:rPr dirty="0" spc="-185"/>
              <a:t>R</a:t>
            </a:r>
            <a:r>
              <a:rPr dirty="0"/>
              <a:t>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7176" y="2363396"/>
            <a:ext cx="11076940" cy="4389755"/>
          </a:xfrm>
          <a:prstGeom prst="rect"/>
        </p:spPr>
        <p:txBody>
          <a:bodyPr wrap="square" lIns="0" tIns="25400" rIns="0" bIns="0" rtlCol="0" vert="horz">
            <a:spAutoFit/>
          </a:bodyPr>
          <a:lstStyle/>
          <a:p>
            <a:pPr marL="12700" marR="5080" indent="1871980">
              <a:lnSpc>
                <a:spcPct val="99100"/>
              </a:lnSpc>
              <a:spcBef>
                <a:spcPts val="200"/>
              </a:spcBef>
            </a:pPr>
            <a:r>
              <a:rPr dirty="0" spc="-45"/>
              <a:t>ANNEXURE-</a:t>
            </a:r>
            <a:r>
              <a:rPr dirty="0" spc="-50"/>
              <a:t>1 </a:t>
            </a:r>
            <a:r>
              <a:rPr dirty="0"/>
              <a:t>FIELD</a:t>
            </a:r>
            <a:r>
              <a:rPr dirty="0" spc="-355"/>
              <a:t> </a:t>
            </a:r>
            <a:r>
              <a:rPr dirty="0" spc="-10"/>
              <a:t>ACTIVITIES</a:t>
            </a:r>
            <a:r>
              <a:rPr dirty="0" spc="-360"/>
              <a:t> </a:t>
            </a:r>
            <a:r>
              <a:rPr dirty="0" spc="-25"/>
              <a:t>AND </a:t>
            </a:r>
            <a:r>
              <a:rPr dirty="0" spc="20"/>
              <a:t>H</a:t>
            </a:r>
            <a:r>
              <a:rPr dirty="0" spc="-95"/>
              <a:t>E</a:t>
            </a:r>
            <a:r>
              <a:rPr dirty="0" spc="25"/>
              <a:t>A</a:t>
            </a:r>
            <a:r>
              <a:rPr dirty="0" spc="-685"/>
              <a:t>L</a:t>
            </a:r>
            <a:r>
              <a:rPr dirty="0" spc="25"/>
              <a:t>T</a:t>
            </a:r>
            <a:r>
              <a:rPr dirty="0" spc="35"/>
              <a:t>H</a:t>
            </a:r>
            <a:r>
              <a:rPr dirty="0" spc="-409"/>
              <a:t> </a:t>
            </a:r>
            <a:r>
              <a:rPr dirty="0" spc="70"/>
              <a:t>EDUC</a:t>
            </a:r>
            <a:r>
              <a:rPr dirty="0" spc="-675"/>
              <a:t>A</a:t>
            </a:r>
            <a:r>
              <a:rPr dirty="0" spc="75"/>
              <a:t>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0794" rIns="0" bIns="0" rtlCol="0" vert="horz">
            <a:spAutoFit/>
          </a:bodyPr>
          <a:lstStyle/>
          <a:p>
            <a:pPr marL="2892425" marR="5080" indent="215900">
              <a:lnSpc>
                <a:spcPts val="11630"/>
              </a:lnSpc>
              <a:spcBef>
                <a:spcPts val="195"/>
              </a:spcBef>
            </a:pPr>
            <a:r>
              <a:rPr dirty="0" spc="-45"/>
              <a:t>ANNEXURE-</a:t>
            </a:r>
            <a:r>
              <a:rPr dirty="0" spc="-50"/>
              <a:t>2 </a:t>
            </a:r>
            <a:r>
              <a:rPr dirty="0" spc="-20"/>
              <a:t>PUBLIC</a:t>
            </a:r>
            <a:r>
              <a:rPr dirty="0" spc="-765"/>
              <a:t>A</a:t>
            </a:r>
            <a:r>
              <a:rPr dirty="0" spc="-15"/>
              <a:t>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5031" rIns="0" bIns="0" rtlCol="0" vert="horz">
            <a:spAutoFit/>
          </a:bodyPr>
          <a:lstStyle/>
          <a:p>
            <a:pPr marL="217804" marR="5080" indent="2890520">
              <a:lnSpc>
                <a:spcPts val="11500"/>
              </a:lnSpc>
              <a:spcBef>
                <a:spcPts val="300"/>
              </a:spcBef>
            </a:pPr>
            <a:r>
              <a:rPr dirty="0" spc="-45"/>
              <a:t>ANNEXURE-</a:t>
            </a:r>
            <a:r>
              <a:rPr dirty="0" spc="-50"/>
              <a:t>3 </a:t>
            </a:r>
            <a:r>
              <a:rPr dirty="0"/>
              <a:t>POSTER</a:t>
            </a:r>
            <a:r>
              <a:rPr dirty="0" spc="-150"/>
              <a:t> </a:t>
            </a:r>
            <a:r>
              <a:rPr dirty="0" spc="-20"/>
              <a:t>PR</a:t>
            </a:r>
            <a:r>
              <a:rPr dirty="0" spc="-105"/>
              <a:t>E</a:t>
            </a:r>
            <a:r>
              <a:rPr dirty="0" spc="-15"/>
              <a:t>SEN</a:t>
            </a:r>
            <a:r>
              <a:rPr dirty="0" spc="-755"/>
              <a:t>T</a:t>
            </a:r>
            <a:r>
              <a:rPr dirty="0" spc="-765"/>
              <a:t>A</a:t>
            </a:r>
            <a:r>
              <a:rPr dirty="0" spc="-15"/>
              <a:t>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8244" rIns="0" bIns="0" rtlCol="0" vert="horz">
            <a:spAutoFit/>
          </a:bodyPr>
          <a:lstStyle/>
          <a:p>
            <a:pPr marL="2854325" marR="5080" indent="-635">
              <a:lnSpc>
                <a:spcPts val="10730"/>
              </a:lnSpc>
              <a:spcBef>
                <a:spcPts val="990"/>
              </a:spcBef>
            </a:pPr>
            <a:r>
              <a:rPr dirty="0" spc="-45"/>
              <a:t>ANNEXURE-</a:t>
            </a:r>
            <a:r>
              <a:rPr dirty="0" spc="-50"/>
              <a:t>4 </a:t>
            </a:r>
            <a:r>
              <a:rPr dirty="0" spc="-35"/>
              <a:t>CONFERENCES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279" rIns="0" bIns="0" rtlCol="0" vert="horz">
            <a:spAutoFit/>
          </a:bodyPr>
          <a:lstStyle/>
          <a:p>
            <a:pPr marL="1236345" marR="5080" indent="1617345">
              <a:lnSpc>
                <a:spcPts val="11630"/>
              </a:lnSpc>
              <a:spcBef>
                <a:spcPts val="195"/>
              </a:spcBef>
            </a:pPr>
            <a:r>
              <a:rPr dirty="0" spc="-45"/>
              <a:t>ANNEXURE-</a:t>
            </a:r>
            <a:r>
              <a:rPr dirty="0" spc="-50"/>
              <a:t>5 </a:t>
            </a:r>
            <a:r>
              <a:rPr dirty="0"/>
              <a:t>ACADEMIC</a:t>
            </a:r>
            <a:r>
              <a:rPr dirty="0" spc="-530"/>
              <a:t> </a:t>
            </a:r>
            <a:r>
              <a:rPr dirty="0" spc="-90"/>
              <a:t>AWARDS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20073" rIns="0" bIns="0" rtlCol="0" vert="horz">
            <a:spAutoFit/>
          </a:bodyPr>
          <a:lstStyle/>
          <a:p>
            <a:pPr marL="23888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N</a:t>
            </a:r>
            <a:r>
              <a:rPr dirty="0" spc="-175"/>
              <a:t>E</a:t>
            </a:r>
            <a:r>
              <a:rPr dirty="0" spc="-5"/>
              <a:t>O</a:t>
            </a:r>
            <a:r>
              <a:rPr dirty="0" spc="-10"/>
              <a:t>N</a:t>
            </a:r>
            <a:r>
              <a:rPr dirty="0" spc="-755"/>
              <a:t>A</a:t>
            </a:r>
            <a:r>
              <a:rPr dirty="0" spc="-250"/>
              <a:t>T</a:t>
            </a:r>
            <a:r>
              <a:rPr dirty="0" spc="-5"/>
              <a:t>O</a:t>
            </a:r>
            <a:r>
              <a:rPr dirty="0" spc="-175"/>
              <a:t>L</a:t>
            </a:r>
            <a:r>
              <a:rPr dirty="0"/>
              <a:t>O</a:t>
            </a:r>
            <a:r>
              <a:rPr dirty="0" spc="-135"/>
              <a:t>G</a:t>
            </a:r>
            <a:r>
              <a:rPr dirty="0" spc="5"/>
              <a:t>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48065" rIns="0" bIns="0" rtlCol="0" vert="horz">
            <a:spAutoFit/>
          </a:bodyPr>
          <a:lstStyle/>
          <a:p>
            <a:pPr marL="3324860">
              <a:lnSpc>
                <a:spcPct val="100000"/>
              </a:lnSpc>
              <a:spcBef>
                <a:spcPts val="100"/>
              </a:spcBef>
            </a:pPr>
            <a:r>
              <a:rPr dirty="0"/>
              <a:t>EVENING</a:t>
            </a:r>
            <a:r>
              <a:rPr dirty="0" spc="-400"/>
              <a:t> </a:t>
            </a:r>
            <a:r>
              <a:rPr dirty="0" spc="-25"/>
              <a:t>IC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32041" rIns="0" bIns="0" rtlCol="0" vert="horz">
            <a:spAutoFit/>
          </a:bodyPr>
          <a:lstStyle/>
          <a:p>
            <a:pPr marL="2460625">
              <a:lnSpc>
                <a:spcPct val="100000"/>
              </a:lnSpc>
              <a:spcBef>
                <a:spcPts val="100"/>
              </a:spcBef>
            </a:pPr>
            <a:r>
              <a:rPr dirty="0"/>
              <a:t>CRITICAL</a:t>
            </a:r>
            <a:r>
              <a:rPr dirty="0" spc="-434"/>
              <a:t> </a:t>
            </a:r>
            <a:r>
              <a:rPr dirty="0" spc="-20"/>
              <a:t>CARE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0857" rIns="0" bIns="0" rtlCol="0" vert="horz">
            <a:spAutoFit/>
          </a:bodyPr>
          <a:lstStyle/>
          <a:p>
            <a:pPr marL="1070610" marR="5080" indent="31673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MEDICAL </a:t>
            </a:r>
            <a:r>
              <a:rPr dirty="0" spc="-50"/>
              <a:t>GASTROENTEROLOGY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04049" rIns="0" bIns="0" rtlCol="0" vert="horz">
            <a:spAutoFit/>
          </a:bodyPr>
          <a:lstStyle/>
          <a:p>
            <a:pPr marL="2244725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NEUROSURGERY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32041" rIns="0" bIns="0" rtlCol="0" vert="horz">
            <a:spAutoFit/>
          </a:bodyPr>
          <a:lstStyle/>
          <a:p>
            <a:pPr marL="1020444">
              <a:lnSpc>
                <a:spcPct val="100000"/>
              </a:lnSpc>
              <a:spcBef>
                <a:spcPts val="100"/>
              </a:spcBef>
            </a:pPr>
            <a:r>
              <a:rPr dirty="0"/>
              <a:t>SURGICAL</a:t>
            </a:r>
            <a:r>
              <a:rPr dirty="0" spc="-390"/>
              <a:t> </a:t>
            </a:r>
            <a:r>
              <a:rPr dirty="0" spc="-20"/>
              <a:t>ONCOLOGY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0857" rIns="0" bIns="0" rtlCol="0" vert="horz">
            <a:spAutoFit/>
          </a:bodyPr>
          <a:lstStyle/>
          <a:p>
            <a:pPr marL="1299210" marR="5080" indent="29686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SURGICAL </a:t>
            </a:r>
            <a:r>
              <a:rPr dirty="0" spc="-50"/>
              <a:t>GASTROENTEROLOGY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0857" rIns="0" bIns="0" rtlCol="0" vert="horz">
            <a:spAutoFit/>
          </a:bodyPr>
          <a:lstStyle/>
          <a:p>
            <a:pPr marL="282067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CARDIOLOGY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48065" rIns="0" bIns="0" rtlCol="0" vert="horz">
            <a:spAutoFit/>
          </a:bodyPr>
          <a:lstStyle/>
          <a:p>
            <a:pPr marL="325247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NEUROLOGY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20073" rIns="0" bIns="0" rtlCol="0" vert="horz">
            <a:spAutoFit/>
          </a:bodyPr>
          <a:lstStyle/>
          <a:p>
            <a:pPr marL="1020444">
              <a:lnSpc>
                <a:spcPct val="100000"/>
              </a:lnSpc>
              <a:spcBef>
                <a:spcPts val="100"/>
              </a:spcBef>
            </a:pPr>
            <a:r>
              <a:rPr dirty="0"/>
              <a:t>MEDICAL</a:t>
            </a:r>
            <a:r>
              <a:rPr dirty="0" spc="-440"/>
              <a:t> </a:t>
            </a:r>
            <a:r>
              <a:rPr dirty="0" spc="-10"/>
              <a:t>ONCOLOGY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0857" rIns="0" bIns="0" rtlCol="0" vert="horz">
            <a:spAutoFit/>
          </a:bodyPr>
          <a:lstStyle/>
          <a:p>
            <a:pPr marL="1391920">
              <a:lnSpc>
                <a:spcPct val="100000"/>
              </a:lnSpc>
              <a:spcBef>
                <a:spcPts val="100"/>
              </a:spcBef>
            </a:pPr>
            <a:r>
              <a:rPr dirty="0" spc="-455"/>
              <a:t>V</a:t>
            </a:r>
            <a:r>
              <a:rPr dirty="0" spc="50"/>
              <a:t>ASCULA</a:t>
            </a:r>
            <a:r>
              <a:rPr dirty="0" spc="60"/>
              <a:t>R</a:t>
            </a:r>
            <a:r>
              <a:rPr dirty="0" spc="-495"/>
              <a:t> </a:t>
            </a:r>
            <a:r>
              <a:rPr dirty="0" spc="-40"/>
              <a:t>SURGERY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6179" rIns="0" bIns="0" rtlCol="0" vert="horz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dirty="0"/>
              <a:t>PLASTIC</a:t>
            </a:r>
            <a:r>
              <a:rPr dirty="0" spc="-459"/>
              <a:t> </a:t>
            </a:r>
            <a:r>
              <a:rPr dirty="0" spc="-10"/>
              <a:t>SURGERY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6179" rIns="0" bIns="0" rtlCol="0" vert="horz">
            <a:spAutoFit/>
          </a:bodyPr>
          <a:lstStyle/>
          <a:p>
            <a:pPr marL="4025900" marR="5080" indent="-22967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CARDIO-</a:t>
            </a:r>
            <a:r>
              <a:rPr dirty="0" spc="-30"/>
              <a:t>THORACIC </a:t>
            </a:r>
            <a:r>
              <a:rPr dirty="0" spc="-10"/>
              <a:t>SURGERY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113000" cy="1068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 GRB MEDICAL 2026 ^M INTERLEAF.pptx</dc:title>
  <dcterms:created xsi:type="dcterms:W3CDTF">2026-04-17T14:34:22Z</dcterms:created>
  <dcterms:modified xsi:type="dcterms:W3CDTF">2026-04-17T14:34:22Z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2026-04-17T00:00:00Z</vt:filetime>
  </property>
</Properties>
</file>