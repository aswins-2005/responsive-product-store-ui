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60" r:id="rId5"/>
    <p:sldId id="261" r:id="rId6"/>
    <p:sldId id="262" r:id="rId7"/>
    <p:sldId id="263" r:id="rId8"/>
    <p:sldId id="264" r:id="rId9"/>
    <p:sldId id="265" r:id="rId10"/>
    <p:sldId id="266" r:id="rId11"/>
    <p:sldId id="269" r:id="rId12"/>
    <p:sldId id="268" r:id="rId13"/>
    <p:sldId id="267" r:id="rId14"/>
    <p:sldId id="270" r:id="rId15"/>
    <p:sldId id="271" r:id="rId16"/>
  </p:sldIdLst>
  <p:sldSz cx="15113000" cy="10693400"/>
  <p:notesSz cx="6858000" cy="9144000"/>
  <p:embeddedFontLst>
    <p:embeddedFont>
      <p:font typeface="IBM Plex Sans Bold" charset="0"/>
      <p:regular r:id="rId18"/>
    </p:embeddedFont>
    <p:embeddedFont>
      <p:font typeface="IBM Plex Sans" charset="0"/>
      <p:regular r:id="rId19"/>
    </p:embeddedFont>
    <p:embeddedFont>
      <p:font typeface="Calibri (MS) Bold" charset="0"/>
      <p:regular r:id="rId20"/>
    </p:embeddedFont>
    <p:embeddedFont>
      <p:font typeface="Calibri (MS)" charset="0"/>
      <p:regular r:id="rId21"/>
    </p:embeddedFont>
    <p:embeddedFont>
      <p:font typeface="Cambria Bold" charset="0"/>
      <p:regular r:id="rId22"/>
    </p:embeddedFont>
    <p:embeddedFont>
      <p:font typeface="Calibri" pitchFamily="34" charset="0"/>
      <p:regular r:id="rId23"/>
      <p:bold r:id="rId24"/>
      <p:italic r:id="rId25"/>
      <p:boldItalic r:id="rId26"/>
    </p:embeddedFont>
    <p:embeddedFont>
      <p:font typeface="Cambria Bold Italics" charset="0"/>
      <p:regular r:id="rId27"/>
    </p:embeddedFont>
    <p:embeddedFont>
      <p:font typeface="Cambria" pitchFamily="18"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94" autoAdjust="0"/>
    <p:restoredTop sz="96953" autoAdjust="0"/>
  </p:normalViewPr>
  <p:slideViewPr>
    <p:cSldViewPr>
      <p:cViewPr>
        <p:scale>
          <a:sx n="70" d="100"/>
          <a:sy n="70" d="100"/>
        </p:scale>
        <p:origin x="-90" y="7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708485-A10A-49F0-BB1D-044E5E21927B}" type="datetimeFigureOut">
              <a:rPr lang="en-US" smtClean="0"/>
              <a:pPr/>
              <a:t>1/19/2025</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4C2F56-6CB4-43F1-B1C7-516A1D503BA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4C2F56-6CB4-43F1-B1C7-516A1D503BAD}"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1.jpeg"/><Relationship Id="rId4" Type="http://schemas.openxmlformats.org/officeDocument/2006/relationships/image" Target="../media/image40.jpe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3" y="-1"/>
            <a:ext cx="15119985" cy="10692127"/>
          </a:xfrm>
          <a:custGeom>
            <a:avLst/>
            <a:gdLst/>
            <a:ahLst/>
            <a:cxnLst/>
            <a:rect l="l" t="t" r="r" b="b"/>
            <a:pathLst>
              <a:path w="15119985" h="10692127">
                <a:moveTo>
                  <a:pt x="0" y="0"/>
                </a:moveTo>
                <a:lnTo>
                  <a:pt x="15119985" y="0"/>
                </a:lnTo>
                <a:lnTo>
                  <a:pt x="15119985" y="10692127"/>
                </a:lnTo>
                <a:lnTo>
                  <a:pt x="0" y="10692127"/>
                </a:lnTo>
                <a:lnTo>
                  <a:pt x="0" y="0"/>
                </a:lnTo>
                <a:close/>
              </a:path>
            </a:pathLst>
          </a:custGeom>
          <a:blipFill>
            <a:blip r:embed="rId2"/>
            <a:stretch>
              <a:fillRect/>
            </a:stretch>
          </a:blipFill>
        </p:spPr>
      </p:sp>
      <p:grpSp>
        <p:nvGrpSpPr>
          <p:cNvPr id="5" name="Group 5"/>
          <p:cNvGrpSpPr>
            <a:grpSpLocks noChangeAspect="1"/>
          </p:cNvGrpSpPr>
          <p:nvPr/>
        </p:nvGrpSpPr>
        <p:grpSpPr>
          <a:xfrm>
            <a:off x="5908672" y="3617595"/>
            <a:ext cx="3310252" cy="3300727"/>
            <a:chOff x="0" y="0"/>
            <a:chExt cx="3310255" cy="3300730"/>
          </a:xfrm>
        </p:grpSpPr>
        <p:sp>
          <p:nvSpPr>
            <p:cNvPr id="6" name="Freeform 6"/>
            <p:cNvSpPr/>
            <p:nvPr/>
          </p:nvSpPr>
          <p:spPr>
            <a:xfrm>
              <a:off x="-147574" y="12700"/>
              <a:ext cx="3605530" cy="3275330"/>
            </a:xfrm>
            <a:custGeom>
              <a:avLst/>
              <a:gdLst/>
              <a:ahLst/>
              <a:cxnLst/>
              <a:rect l="l" t="t" r="r" b="b"/>
              <a:pathLst>
                <a:path w="3605530" h="3275330">
                  <a:moveTo>
                    <a:pt x="1802765" y="25400"/>
                  </a:moveTo>
                  <a:cubicBezTo>
                    <a:pt x="2216658" y="25400"/>
                    <a:pt x="2630424" y="182753"/>
                    <a:pt x="2946146" y="497586"/>
                  </a:cubicBezTo>
                  <a:lnTo>
                    <a:pt x="2946146" y="497586"/>
                  </a:lnTo>
                  <a:cubicBezTo>
                    <a:pt x="3576447" y="1126109"/>
                    <a:pt x="3577590" y="2144395"/>
                    <a:pt x="2949575" y="2774188"/>
                  </a:cubicBezTo>
                  <a:cubicBezTo>
                    <a:pt x="2948432" y="2775331"/>
                    <a:pt x="2947289" y="2776474"/>
                    <a:pt x="2946146" y="2777617"/>
                  </a:cubicBezTo>
                  <a:lnTo>
                    <a:pt x="2946146" y="2777617"/>
                  </a:lnTo>
                  <a:cubicBezTo>
                    <a:pt x="2630424" y="3092450"/>
                    <a:pt x="2216531" y="3249803"/>
                    <a:pt x="1802765" y="3249803"/>
                  </a:cubicBezTo>
                  <a:cubicBezTo>
                    <a:pt x="1388999" y="3249803"/>
                    <a:pt x="975106" y="3092450"/>
                    <a:pt x="659384" y="2777617"/>
                  </a:cubicBezTo>
                  <a:cubicBezTo>
                    <a:pt x="28956" y="2149221"/>
                    <a:pt x="27813" y="1130935"/>
                    <a:pt x="655828" y="501015"/>
                  </a:cubicBezTo>
                  <a:cubicBezTo>
                    <a:pt x="656971" y="499872"/>
                    <a:pt x="658114" y="498729"/>
                    <a:pt x="659257" y="497586"/>
                  </a:cubicBezTo>
                  <a:cubicBezTo>
                    <a:pt x="974979" y="182753"/>
                    <a:pt x="1388872" y="25400"/>
                    <a:pt x="1802765" y="25400"/>
                  </a:cubicBezTo>
                  <a:close/>
                  <a:moveTo>
                    <a:pt x="1802765" y="0"/>
                  </a:moveTo>
                  <a:cubicBezTo>
                    <a:pt x="1382395" y="0"/>
                    <a:pt x="962025" y="159893"/>
                    <a:pt x="641350" y="479679"/>
                  </a:cubicBezTo>
                  <a:lnTo>
                    <a:pt x="649732" y="488061"/>
                  </a:lnTo>
                  <a:lnTo>
                    <a:pt x="641350" y="479679"/>
                  </a:lnTo>
                  <a:cubicBezTo>
                    <a:pt x="640207" y="480822"/>
                    <a:pt x="639064" y="481965"/>
                    <a:pt x="637921" y="483108"/>
                  </a:cubicBezTo>
                  <a:cubicBezTo>
                    <a:pt x="0" y="1122934"/>
                    <a:pt x="1143" y="2157222"/>
                    <a:pt x="641350" y="2795651"/>
                  </a:cubicBezTo>
                  <a:lnTo>
                    <a:pt x="641350" y="2795651"/>
                  </a:lnTo>
                  <a:cubicBezTo>
                    <a:pt x="962025" y="3115437"/>
                    <a:pt x="1382395" y="3275330"/>
                    <a:pt x="1802765" y="3275330"/>
                  </a:cubicBezTo>
                  <a:cubicBezTo>
                    <a:pt x="2223135" y="3275330"/>
                    <a:pt x="2643378" y="3115437"/>
                    <a:pt x="2964180" y="2795651"/>
                  </a:cubicBezTo>
                  <a:cubicBezTo>
                    <a:pt x="2965323" y="2794508"/>
                    <a:pt x="2966466" y="2793365"/>
                    <a:pt x="2967609" y="2792222"/>
                  </a:cubicBezTo>
                  <a:cubicBezTo>
                    <a:pt x="3605530" y="2152396"/>
                    <a:pt x="3604387" y="1118108"/>
                    <a:pt x="2964180" y="479679"/>
                  </a:cubicBezTo>
                  <a:cubicBezTo>
                    <a:pt x="2643378" y="159893"/>
                    <a:pt x="2223008" y="0"/>
                    <a:pt x="1802765" y="0"/>
                  </a:cubicBezTo>
                  <a:close/>
                </a:path>
              </a:pathLst>
            </a:custGeom>
            <a:solidFill>
              <a:srgbClr val="3A5E8A"/>
            </a:solidFill>
          </p:spPr>
        </p:sp>
      </p:grpSp>
      <p:sp>
        <p:nvSpPr>
          <p:cNvPr id="7" name="TextBox 7"/>
          <p:cNvSpPr txBox="1"/>
          <p:nvPr/>
        </p:nvSpPr>
        <p:spPr>
          <a:xfrm>
            <a:off x="4217784" y="7754407"/>
            <a:ext cx="6887099" cy="1333698"/>
          </a:xfrm>
          <a:prstGeom prst="rect">
            <a:avLst/>
          </a:prstGeom>
        </p:spPr>
        <p:txBody>
          <a:bodyPr lIns="0" tIns="0" rIns="0" bIns="0" rtlCol="0" anchor="t">
            <a:spAutoFit/>
          </a:bodyPr>
          <a:lstStyle/>
          <a:p>
            <a:pPr algn="ctr">
              <a:lnSpc>
                <a:spcPts val="3235"/>
              </a:lnSpc>
            </a:pPr>
            <a:r>
              <a:rPr lang="en-US" sz="2550" b="1" spc="-5" dirty="0">
                <a:solidFill>
                  <a:srgbClr val="FFFFFF"/>
                </a:solidFill>
                <a:latin typeface="IBM Plex Sans Bold"/>
                <a:ea typeface="IBM Plex Sans Bold"/>
                <a:cs typeface="IBM Plex Sans Bold"/>
                <a:sym typeface="IBM Plex Sans Bold"/>
              </a:rPr>
              <a:t>Dr. </a:t>
            </a:r>
            <a:r>
              <a:rPr lang="en-US" sz="2550" b="1" spc="-5" dirty="0" smtClean="0">
                <a:solidFill>
                  <a:srgbClr val="FFFFFF"/>
                </a:solidFill>
                <a:latin typeface="IBM Plex Sans Bold"/>
                <a:ea typeface="IBM Plex Sans Bold"/>
                <a:cs typeface="IBM Plex Sans Bold"/>
                <a:sym typeface="IBM Plex Sans Bold"/>
              </a:rPr>
              <a:t>BALARAM</a:t>
            </a:r>
          </a:p>
          <a:p>
            <a:pPr algn="ctr">
              <a:lnSpc>
                <a:spcPts val="3235"/>
              </a:lnSpc>
            </a:pPr>
            <a:r>
              <a:rPr lang="en-US" sz="2550" b="1" spc="-5" dirty="0" smtClean="0">
                <a:solidFill>
                  <a:srgbClr val="FFFFFF"/>
                </a:solidFill>
                <a:latin typeface="IBM Plex Sans Bold"/>
                <a:ea typeface="IBM Plex Sans Bold"/>
                <a:cs typeface="IBM Plex Sans Bold"/>
                <a:sym typeface="IBM Plex Sans Bold"/>
              </a:rPr>
              <a:t> PROMETHEANS </a:t>
            </a:r>
            <a:r>
              <a:rPr lang="en-US" sz="2550" b="1" spc="-5" dirty="0">
                <a:solidFill>
                  <a:srgbClr val="FFFFFF"/>
                </a:solidFill>
                <a:latin typeface="IBM Plex Sans Bold"/>
                <a:ea typeface="IBM Plex Sans Bold"/>
                <a:cs typeface="IBM Plex Sans Bold"/>
                <a:sym typeface="IBM Plex Sans Bold"/>
              </a:rPr>
              <a:t>[</a:t>
            </a:r>
            <a:r>
              <a:rPr lang="en-US" sz="2550" b="1" spc="-5" dirty="0" smtClean="0">
                <a:solidFill>
                  <a:srgbClr val="FFFFFF"/>
                </a:solidFill>
                <a:latin typeface="IBM Plex Sans Bold"/>
                <a:ea typeface="IBM Plex Sans Bold"/>
                <a:cs typeface="IBM Plex Sans Bold"/>
                <a:sym typeface="IBM Plex Sans Bold"/>
              </a:rPr>
              <a:t>2020 </a:t>
            </a:r>
            <a:r>
              <a:rPr lang="en-US" sz="2550" b="1" spc="-5" dirty="0">
                <a:solidFill>
                  <a:srgbClr val="FFFFFF"/>
                </a:solidFill>
                <a:latin typeface="IBM Plex Sans Bold"/>
                <a:ea typeface="IBM Plex Sans Bold"/>
                <a:cs typeface="IBM Plex Sans Bold"/>
                <a:sym typeface="IBM Plex Sans Bold"/>
              </a:rPr>
              <a:t>– </a:t>
            </a:r>
            <a:r>
              <a:rPr lang="en-US" sz="2550" b="1" spc="-5" dirty="0" smtClean="0">
                <a:solidFill>
                  <a:srgbClr val="FFFFFF"/>
                </a:solidFill>
                <a:latin typeface="IBM Plex Sans Bold"/>
                <a:ea typeface="IBM Plex Sans Bold"/>
                <a:cs typeface="IBM Plex Sans Bold"/>
                <a:sym typeface="IBM Plex Sans Bold"/>
              </a:rPr>
              <a:t>2025]</a:t>
            </a:r>
            <a:endParaRPr lang="en-US" sz="2550" b="1" spc="-5" dirty="0">
              <a:solidFill>
                <a:srgbClr val="FFFFFF"/>
              </a:solidFill>
              <a:latin typeface="IBM Plex Sans Bold"/>
              <a:ea typeface="IBM Plex Sans Bold"/>
              <a:cs typeface="IBM Plex Sans Bold"/>
              <a:sym typeface="IBM Plex Sans Bold"/>
            </a:endParaRPr>
          </a:p>
          <a:p>
            <a:pPr algn="ctr">
              <a:lnSpc>
                <a:spcPts val="1999"/>
              </a:lnSpc>
            </a:pPr>
            <a:r>
              <a:rPr lang="en-US" sz="1700" spc="-3" dirty="0" err="1">
                <a:solidFill>
                  <a:srgbClr val="FFFFFF"/>
                </a:solidFill>
                <a:latin typeface="IBM Plex Sans"/>
                <a:ea typeface="IBM Plex Sans"/>
                <a:cs typeface="IBM Plex Sans"/>
                <a:sym typeface="IBM Plex Sans"/>
              </a:rPr>
              <a:t>Saveetha</a:t>
            </a:r>
            <a:r>
              <a:rPr lang="en-US" sz="1700" spc="-3" dirty="0">
                <a:solidFill>
                  <a:srgbClr val="FFFFFF"/>
                </a:solidFill>
                <a:latin typeface="IBM Plex Sans"/>
                <a:ea typeface="IBM Plex Sans"/>
                <a:cs typeface="IBM Plex Sans"/>
                <a:sym typeface="IBM Plex Sans"/>
              </a:rPr>
              <a:t> Medical College, </a:t>
            </a:r>
            <a:r>
              <a:rPr lang="en-US" sz="1700" spc="-3" dirty="0" err="1">
                <a:solidFill>
                  <a:srgbClr val="FFFFFF"/>
                </a:solidFill>
                <a:latin typeface="IBM Plex Sans"/>
                <a:ea typeface="IBM Plex Sans"/>
                <a:cs typeface="IBM Plex Sans"/>
                <a:sym typeface="IBM Plex Sans"/>
              </a:rPr>
              <a:t>Saveetha</a:t>
            </a:r>
            <a:r>
              <a:rPr lang="en-US" sz="1700" spc="-3" dirty="0">
                <a:solidFill>
                  <a:srgbClr val="FFFFFF"/>
                </a:solidFill>
                <a:latin typeface="IBM Plex Sans"/>
                <a:ea typeface="IBM Plex Sans"/>
                <a:cs typeface="IBM Plex Sans"/>
                <a:sym typeface="IBM Plex Sans"/>
              </a:rPr>
              <a:t> Institute of Medical and Technical Sciences.</a:t>
            </a:r>
          </a:p>
        </p:txBody>
      </p:sp>
      <p:pic>
        <p:nvPicPr>
          <p:cNvPr id="8" name="Picture 7" descr="photo_2025-01-07_21-49-11.jpg"/>
          <p:cNvPicPr>
            <a:picLocks noChangeAspect="1"/>
          </p:cNvPicPr>
          <p:nvPr/>
        </p:nvPicPr>
        <p:blipFill>
          <a:blip r:embed="rId3"/>
          <a:stretch>
            <a:fillRect/>
          </a:stretch>
        </p:blipFill>
        <p:spPr>
          <a:xfrm>
            <a:off x="5913426" y="3632188"/>
            <a:ext cx="3286148" cy="328614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a:grpSpLocks noChangeAspect="1"/>
          </p:cNvGrpSpPr>
          <p:nvPr/>
        </p:nvGrpSpPr>
        <p:grpSpPr>
          <a:xfrm>
            <a:off x="397507" y="417833"/>
            <a:ext cx="6760207" cy="2068192"/>
            <a:chOff x="0" y="0"/>
            <a:chExt cx="6760210" cy="2068195"/>
          </a:xfrm>
        </p:grpSpPr>
        <p:sp>
          <p:nvSpPr>
            <p:cNvPr id="5" name="Freeform 5"/>
            <p:cNvSpPr/>
            <p:nvPr/>
          </p:nvSpPr>
          <p:spPr>
            <a:xfrm>
              <a:off x="63500" y="63500"/>
              <a:ext cx="6633210" cy="1941195"/>
            </a:xfrm>
            <a:custGeom>
              <a:avLst/>
              <a:gdLst/>
              <a:ahLst/>
              <a:cxnLst/>
              <a:rect l="l" t="t" r="r" b="b"/>
              <a:pathLst>
                <a:path w="6633210" h="1941195">
                  <a:moveTo>
                    <a:pt x="0" y="1941195"/>
                  </a:moveTo>
                  <a:lnTo>
                    <a:pt x="6633210" y="1941195"/>
                  </a:lnTo>
                  <a:lnTo>
                    <a:pt x="6633210" y="0"/>
                  </a:lnTo>
                  <a:lnTo>
                    <a:pt x="0" y="0"/>
                  </a:lnTo>
                  <a:lnTo>
                    <a:pt x="0" y="1941195"/>
                  </a:lnTo>
                  <a:close/>
                </a:path>
              </a:pathLst>
            </a:custGeom>
            <a:solidFill>
              <a:srgbClr val="376092"/>
            </a:solidFill>
          </p:spPr>
        </p:sp>
        <p:sp>
          <p:nvSpPr>
            <p:cNvPr id="6" name="Freeform 6"/>
            <p:cNvSpPr/>
            <p:nvPr/>
          </p:nvSpPr>
          <p:spPr>
            <a:xfrm>
              <a:off x="465455" y="519557"/>
              <a:ext cx="5829300" cy="17526"/>
            </a:xfrm>
            <a:custGeom>
              <a:avLst/>
              <a:gdLst/>
              <a:ahLst/>
              <a:cxnLst/>
              <a:rect l="l" t="t" r="r" b="b"/>
              <a:pathLst>
                <a:path w="5829300" h="17526">
                  <a:moveTo>
                    <a:pt x="0" y="0"/>
                  </a:moveTo>
                  <a:lnTo>
                    <a:pt x="5829300" y="0"/>
                  </a:lnTo>
                  <a:lnTo>
                    <a:pt x="5829300" y="17526"/>
                  </a:lnTo>
                  <a:lnTo>
                    <a:pt x="0" y="17526"/>
                  </a:lnTo>
                  <a:close/>
                </a:path>
              </a:pathLst>
            </a:custGeom>
            <a:solidFill>
              <a:srgbClr val="FFFFFF"/>
            </a:solidFill>
          </p:spPr>
        </p:sp>
        <p:sp>
          <p:nvSpPr>
            <p:cNvPr id="7" name="Freeform 7"/>
            <p:cNvSpPr/>
            <p:nvPr/>
          </p:nvSpPr>
          <p:spPr>
            <a:xfrm>
              <a:off x="465455" y="1531112"/>
              <a:ext cx="5829300" cy="17526"/>
            </a:xfrm>
            <a:custGeom>
              <a:avLst/>
              <a:gdLst/>
              <a:ahLst/>
              <a:cxnLst/>
              <a:rect l="l" t="t" r="r" b="b"/>
              <a:pathLst>
                <a:path w="5829300" h="17526">
                  <a:moveTo>
                    <a:pt x="0" y="0"/>
                  </a:moveTo>
                  <a:lnTo>
                    <a:pt x="5829300" y="0"/>
                  </a:lnTo>
                  <a:lnTo>
                    <a:pt x="5829300" y="17526"/>
                  </a:lnTo>
                  <a:lnTo>
                    <a:pt x="0" y="17526"/>
                  </a:lnTo>
                  <a:close/>
                </a:path>
              </a:pathLst>
            </a:custGeom>
            <a:solidFill>
              <a:srgbClr val="FFFFFF"/>
            </a:solidFill>
          </p:spPr>
        </p:sp>
      </p:grpSp>
      <p:grpSp>
        <p:nvGrpSpPr>
          <p:cNvPr id="9" name="Group 9"/>
          <p:cNvGrpSpPr>
            <a:grpSpLocks noChangeAspect="1"/>
          </p:cNvGrpSpPr>
          <p:nvPr/>
        </p:nvGrpSpPr>
        <p:grpSpPr>
          <a:xfrm>
            <a:off x="4560232" y="6815808"/>
            <a:ext cx="2683393" cy="3538644"/>
            <a:chOff x="0" y="0"/>
            <a:chExt cx="2619159" cy="3453955"/>
          </a:xfrm>
        </p:grpSpPr>
        <p:sp>
          <p:nvSpPr>
            <p:cNvPr id="10" name="Freeform 10"/>
            <p:cNvSpPr/>
            <p:nvPr/>
          </p:nvSpPr>
          <p:spPr>
            <a:xfrm>
              <a:off x="63500" y="63500"/>
              <a:ext cx="2486660" cy="2370455"/>
            </a:xfrm>
            <a:custGeom>
              <a:avLst/>
              <a:gdLst/>
              <a:ahLst/>
              <a:cxnLst/>
              <a:rect l="l" t="t" r="r" b="b"/>
              <a:pathLst>
                <a:path w="2486660" h="2370455">
                  <a:moveTo>
                    <a:pt x="0" y="2370455"/>
                  </a:moveTo>
                  <a:lnTo>
                    <a:pt x="2486660" y="2370455"/>
                  </a:lnTo>
                  <a:lnTo>
                    <a:pt x="2486660" y="0"/>
                  </a:lnTo>
                  <a:lnTo>
                    <a:pt x="0" y="0"/>
                  </a:lnTo>
                  <a:lnTo>
                    <a:pt x="0" y="2370455"/>
                  </a:lnTo>
                  <a:close/>
                </a:path>
              </a:pathLst>
            </a:custGeom>
            <a:solidFill>
              <a:srgbClr val="FFAE70"/>
            </a:solidFill>
          </p:spPr>
        </p:sp>
        <p:sp>
          <p:nvSpPr>
            <p:cNvPr id="11" name="Freeform 11"/>
            <p:cNvSpPr/>
            <p:nvPr/>
          </p:nvSpPr>
          <p:spPr>
            <a:xfrm>
              <a:off x="68961" y="783463"/>
              <a:ext cx="2486660" cy="2606929"/>
            </a:xfrm>
            <a:custGeom>
              <a:avLst/>
              <a:gdLst/>
              <a:ahLst/>
              <a:cxnLst/>
              <a:rect l="l" t="t" r="r" b="b"/>
              <a:pathLst>
                <a:path w="2486660" h="2606929">
                  <a:moveTo>
                    <a:pt x="0" y="2606929"/>
                  </a:moveTo>
                  <a:lnTo>
                    <a:pt x="2486660" y="2606929"/>
                  </a:lnTo>
                  <a:lnTo>
                    <a:pt x="2486660" y="0"/>
                  </a:lnTo>
                  <a:lnTo>
                    <a:pt x="0" y="0"/>
                  </a:lnTo>
                  <a:lnTo>
                    <a:pt x="0" y="2606929"/>
                  </a:lnTo>
                  <a:close/>
                </a:path>
              </a:pathLst>
            </a:custGeom>
            <a:solidFill>
              <a:srgbClr val="018391"/>
            </a:solidFill>
          </p:spPr>
        </p:sp>
      </p:grpSp>
      <p:grpSp>
        <p:nvGrpSpPr>
          <p:cNvPr id="12" name="Group 12"/>
          <p:cNvGrpSpPr>
            <a:grpSpLocks noChangeAspect="1"/>
          </p:cNvGrpSpPr>
          <p:nvPr/>
        </p:nvGrpSpPr>
        <p:grpSpPr>
          <a:xfrm>
            <a:off x="4620263" y="3054982"/>
            <a:ext cx="2486663" cy="2370458"/>
            <a:chOff x="0" y="0"/>
            <a:chExt cx="2486660" cy="2370455"/>
          </a:xfrm>
        </p:grpSpPr>
        <p:sp>
          <p:nvSpPr>
            <p:cNvPr id="13" name="Freeform 13"/>
            <p:cNvSpPr/>
            <p:nvPr/>
          </p:nvSpPr>
          <p:spPr>
            <a:xfrm>
              <a:off x="0" y="0"/>
              <a:ext cx="2486660" cy="2370455"/>
            </a:xfrm>
            <a:custGeom>
              <a:avLst/>
              <a:gdLst/>
              <a:ahLst/>
              <a:cxnLst/>
              <a:rect l="l" t="t" r="r" b="b"/>
              <a:pathLst>
                <a:path w="2486660" h="2370455">
                  <a:moveTo>
                    <a:pt x="0" y="2370455"/>
                  </a:moveTo>
                  <a:lnTo>
                    <a:pt x="2486660" y="2370455"/>
                  </a:lnTo>
                  <a:lnTo>
                    <a:pt x="2486660" y="0"/>
                  </a:lnTo>
                  <a:lnTo>
                    <a:pt x="0" y="0"/>
                  </a:lnTo>
                  <a:lnTo>
                    <a:pt x="0" y="2370455"/>
                  </a:lnTo>
                  <a:close/>
                </a:path>
              </a:pathLst>
            </a:custGeom>
            <a:solidFill>
              <a:srgbClr val="F4DBAB"/>
            </a:solidFill>
          </p:spPr>
        </p:sp>
      </p:grpSp>
      <p:grpSp>
        <p:nvGrpSpPr>
          <p:cNvPr id="14" name="Group 14"/>
          <p:cNvGrpSpPr>
            <a:grpSpLocks noChangeAspect="1"/>
          </p:cNvGrpSpPr>
          <p:nvPr/>
        </p:nvGrpSpPr>
        <p:grpSpPr>
          <a:xfrm>
            <a:off x="7569203" y="1772917"/>
            <a:ext cx="7142483" cy="6644002"/>
            <a:chOff x="0" y="0"/>
            <a:chExt cx="7142480" cy="6644005"/>
          </a:xfrm>
        </p:grpSpPr>
        <p:sp>
          <p:nvSpPr>
            <p:cNvPr id="15" name="Freeform 15"/>
            <p:cNvSpPr/>
            <p:nvPr/>
          </p:nvSpPr>
          <p:spPr>
            <a:xfrm>
              <a:off x="0" y="0"/>
              <a:ext cx="7142480" cy="6644005"/>
            </a:xfrm>
            <a:custGeom>
              <a:avLst/>
              <a:gdLst/>
              <a:ahLst/>
              <a:cxnLst/>
              <a:rect l="l" t="t" r="r" b="b"/>
              <a:pathLst>
                <a:path w="7142480" h="6644005">
                  <a:moveTo>
                    <a:pt x="0" y="6644005"/>
                  </a:moveTo>
                  <a:lnTo>
                    <a:pt x="7142480" y="6644005"/>
                  </a:lnTo>
                  <a:lnTo>
                    <a:pt x="7142480" y="0"/>
                  </a:lnTo>
                  <a:lnTo>
                    <a:pt x="0" y="0"/>
                  </a:lnTo>
                  <a:close/>
                </a:path>
              </a:pathLst>
            </a:custGeom>
            <a:solidFill>
              <a:srgbClr val="FFFFFF"/>
            </a:solidFill>
          </p:spPr>
        </p:sp>
      </p:grpSp>
      <p:sp>
        <p:nvSpPr>
          <p:cNvPr id="16" name="TextBox 16"/>
          <p:cNvSpPr txBox="1"/>
          <p:nvPr/>
        </p:nvSpPr>
        <p:spPr>
          <a:xfrm>
            <a:off x="813383" y="603856"/>
            <a:ext cx="1997821" cy="218008"/>
          </a:xfrm>
          <a:prstGeom prst="rect">
            <a:avLst/>
          </a:prstGeom>
        </p:spPr>
        <p:txBody>
          <a:bodyPr lIns="0" tIns="0" rIns="0" bIns="0" rtlCol="0" anchor="t">
            <a:spAutoFit/>
          </a:bodyPr>
          <a:lstStyle/>
          <a:p>
            <a:pPr algn="l">
              <a:lnSpc>
                <a:spcPts val="1679"/>
              </a:lnSpc>
            </a:pPr>
            <a:r>
              <a:rPr lang="en-US" sz="1200" b="1" spc="-2" dirty="0">
                <a:solidFill>
                  <a:srgbClr val="FFFFFF"/>
                </a:solidFill>
                <a:latin typeface="IBM Plex Sans Bold"/>
                <a:ea typeface="IBM Plex Sans Bold"/>
                <a:cs typeface="IBM Plex Sans Bold"/>
                <a:sym typeface="IBM Plex Sans Bold"/>
              </a:rPr>
              <a:t>Dr. </a:t>
            </a:r>
            <a:r>
              <a:rPr lang="en-US" sz="1200" b="1" spc="-2" dirty="0" smtClean="0">
                <a:solidFill>
                  <a:srgbClr val="FFFFFF"/>
                </a:solidFill>
                <a:latin typeface="IBM Plex Sans Bold"/>
                <a:ea typeface="IBM Plex Sans Bold"/>
                <a:cs typeface="IBM Plex Sans Bold"/>
                <a:sym typeface="IBM Plex Sans Bold"/>
              </a:rPr>
              <a:t>BALARAM </a:t>
            </a:r>
            <a:endParaRPr lang="en-US" sz="1200" b="1" spc="-2" dirty="0">
              <a:solidFill>
                <a:srgbClr val="FFFFFF"/>
              </a:solidFill>
              <a:latin typeface="IBM Plex Sans Bold"/>
              <a:ea typeface="IBM Plex Sans Bold"/>
              <a:cs typeface="IBM Plex Sans Bold"/>
              <a:sym typeface="IBM Plex Sans Bold"/>
            </a:endParaRPr>
          </a:p>
        </p:txBody>
      </p:sp>
      <p:sp>
        <p:nvSpPr>
          <p:cNvPr id="17" name="TextBox 17"/>
          <p:cNvSpPr txBox="1"/>
          <p:nvPr/>
        </p:nvSpPr>
        <p:spPr>
          <a:xfrm>
            <a:off x="4489780" y="648148"/>
            <a:ext cx="1951021" cy="123825"/>
          </a:xfrm>
          <a:prstGeom prst="rect">
            <a:avLst/>
          </a:prstGeom>
        </p:spPr>
        <p:txBody>
          <a:bodyPr lIns="0" tIns="0" rIns="0" bIns="0" rtlCol="0" anchor="t">
            <a:spAutoFit/>
          </a:bodyPr>
          <a:lstStyle/>
          <a:p>
            <a:pPr algn="l">
              <a:lnSpc>
                <a:spcPts val="1050"/>
              </a:lnSpc>
            </a:pPr>
            <a:r>
              <a:rPr lang="en-US" sz="750" b="1" spc="-1">
                <a:solidFill>
                  <a:srgbClr val="FFFFFF"/>
                </a:solidFill>
                <a:latin typeface="IBM Plex Sans Bold"/>
                <a:ea typeface="IBM Plex Sans Bold"/>
                <a:cs typeface="IBM Plex Sans Bold"/>
                <a:sym typeface="IBM Plex Sans Bold"/>
              </a:rPr>
              <a:t>Bachelor of Medicine, Bachelor of Surgery</a:t>
            </a:r>
          </a:p>
        </p:txBody>
      </p:sp>
      <p:sp>
        <p:nvSpPr>
          <p:cNvPr id="18" name="TextBox 18"/>
          <p:cNvSpPr txBox="1"/>
          <p:nvPr/>
        </p:nvSpPr>
        <p:spPr>
          <a:xfrm>
            <a:off x="1859461" y="1039466"/>
            <a:ext cx="3836299" cy="795089"/>
          </a:xfrm>
          <a:prstGeom prst="rect">
            <a:avLst/>
          </a:prstGeom>
        </p:spPr>
        <p:txBody>
          <a:bodyPr lIns="0" tIns="0" rIns="0" bIns="0" rtlCol="0" anchor="t">
            <a:spAutoFit/>
          </a:bodyPr>
          <a:lstStyle/>
          <a:p>
            <a:pPr algn="ctr">
              <a:lnSpc>
                <a:spcPts val="4820"/>
              </a:lnSpc>
            </a:pPr>
            <a:r>
              <a:rPr lang="en-US" sz="3443" b="1" spc="-6" dirty="0">
                <a:solidFill>
                  <a:srgbClr val="FFFFFF"/>
                </a:solidFill>
                <a:latin typeface="IBM Plex Sans Bold"/>
                <a:ea typeface="IBM Plex Sans Bold"/>
                <a:cs typeface="IBM Plex Sans Bold"/>
                <a:sym typeface="IBM Plex Sans Bold"/>
              </a:rPr>
              <a:t>PREFACE</a:t>
            </a:r>
          </a:p>
          <a:p>
            <a:pPr algn="ctr">
              <a:lnSpc>
                <a:spcPts val="1355"/>
              </a:lnSpc>
            </a:pPr>
            <a:r>
              <a:rPr lang="en-US" sz="1000" b="1" spc="-5" dirty="0" smtClean="0">
                <a:solidFill>
                  <a:srgbClr val="FFFFFF"/>
                </a:solidFill>
                <a:latin typeface="IBM Plex Sans Bold"/>
                <a:ea typeface="IBM Plex Sans Bold"/>
                <a:cs typeface="IBM Plex Sans Bold"/>
                <a:sym typeface="IBM Plex Sans Bold"/>
              </a:rPr>
              <a:t>PROMETHEANS 2020–2025 </a:t>
            </a:r>
            <a:r>
              <a:rPr lang="en-US" sz="968" b="1" spc="-1" dirty="0" smtClean="0">
                <a:solidFill>
                  <a:srgbClr val="FFFFFF"/>
                </a:solidFill>
                <a:latin typeface="IBM Plex Sans Bold"/>
                <a:ea typeface="IBM Plex Sans Bold"/>
                <a:cs typeface="IBM Plex Sans Bold"/>
                <a:sym typeface="IBM Plex Sans Bold"/>
              </a:rPr>
              <a:t>| </a:t>
            </a:r>
            <a:r>
              <a:rPr lang="en-US" sz="968" b="1" spc="-1" dirty="0" err="1">
                <a:solidFill>
                  <a:srgbClr val="FFFFFF"/>
                </a:solidFill>
                <a:latin typeface="IBM Plex Sans Bold"/>
                <a:ea typeface="IBM Plex Sans Bold"/>
                <a:cs typeface="IBM Plex Sans Bold"/>
                <a:sym typeface="IBM Plex Sans Bold"/>
              </a:rPr>
              <a:t>Saveetha</a:t>
            </a:r>
            <a:r>
              <a:rPr lang="en-US" sz="968" b="1" spc="-1" dirty="0">
                <a:solidFill>
                  <a:srgbClr val="FFFFFF"/>
                </a:solidFill>
                <a:latin typeface="IBM Plex Sans Bold"/>
                <a:ea typeface="IBM Plex Sans Bold"/>
                <a:cs typeface="IBM Plex Sans Bold"/>
                <a:sym typeface="IBM Plex Sans Bold"/>
              </a:rPr>
              <a:t> Medical College Hospital</a:t>
            </a:r>
          </a:p>
        </p:txBody>
      </p:sp>
      <p:sp>
        <p:nvSpPr>
          <p:cNvPr id="19" name="TextBox 19"/>
          <p:cNvSpPr txBox="1"/>
          <p:nvPr/>
        </p:nvSpPr>
        <p:spPr>
          <a:xfrm>
            <a:off x="478041" y="5386216"/>
            <a:ext cx="3939235" cy="2403602"/>
          </a:xfrm>
          <a:prstGeom prst="rect">
            <a:avLst/>
          </a:prstGeom>
        </p:spPr>
        <p:txBody>
          <a:bodyPr lIns="0" tIns="0" rIns="0" bIns="0" rtlCol="0" anchor="t">
            <a:spAutoFit/>
          </a:bodyPr>
          <a:lstStyle/>
          <a:p>
            <a:pPr algn="just">
              <a:lnSpc>
                <a:spcPts val="2240"/>
              </a:lnSpc>
            </a:pPr>
            <a:r>
              <a:rPr lang="en-US" sz="1600" b="1">
                <a:solidFill>
                  <a:srgbClr val="17365D"/>
                </a:solidFill>
                <a:latin typeface="Calibri (MS) Bold"/>
                <a:ea typeface="Calibri (MS) Bold"/>
                <a:cs typeface="Calibri (MS) Bold"/>
                <a:sym typeface="Calibri (MS) Bold"/>
              </a:rPr>
              <a:t>Personal Introduction</a:t>
            </a:r>
            <a:r>
              <a:rPr lang="en-US" sz="1600" b="1">
                <a:solidFill>
                  <a:srgbClr val="000000"/>
                </a:solidFill>
                <a:latin typeface="Calibri (MS) Bold"/>
                <a:ea typeface="Calibri (MS) Bold"/>
                <a:cs typeface="Calibri (MS) Bold"/>
                <a:sym typeface="Calibri (MS) Bold"/>
              </a:rPr>
              <a:t> </a:t>
            </a:r>
          </a:p>
          <a:p>
            <a:pPr algn="just">
              <a:lnSpc>
                <a:spcPts val="2118"/>
              </a:lnSpc>
            </a:pPr>
            <a:r>
              <a:rPr lang="en-US" sz="1200" spc="18">
                <a:solidFill>
                  <a:srgbClr val="000000"/>
                </a:solidFill>
                <a:latin typeface="Calibri (MS)"/>
                <a:ea typeface="Calibri (MS)"/>
                <a:cs typeface="Calibri (MS)"/>
                <a:sym typeface="Calibri (MS)"/>
              </a:rPr>
              <a:t>I wanted a profession that will satisfy me, challenge me and bring me joy. I believe that a job should be like a hobby – where I want to love my work and know that I am making a diﬀerence in this world by helping others. I know it requires a tremendous amount of patience and hard work. The environment at Saveetha Medical College was simply catalytic in nature which motivated me to go extra mile in every sphere in bringing the best out of me. </a:t>
            </a:r>
          </a:p>
        </p:txBody>
      </p:sp>
      <p:sp>
        <p:nvSpPr>
          <p:cNvPr id="20" name="TextBox 20"/>
          <p:cNvSpPr txBox="1"/>
          <p:nvPr/>
        </p:nvSpPr>
        <p:spPr>
          <a:xfrm>
            <a:off x="478041" y="8188938"/>
            <a:ext cx="3939188" cy="1336719"/>
          </a:xfrm>
          <a:prstGeom prst="rect">
            <a:avLst/>
          </a:prstGeom>
        </p:spPr>
        <p:txBody>
          <a:bodyPr lIns="0" tIns="0" rIns="0" bIns="0" rtlCol="0" anchor="t">
            <a:spAutoFit/>
          </a:bodyPr>
          <a:lstStyle/>
          <a:p>
            <a:pPr algn="just">
              <a:lnSpc>
                <a:spcPts val="2118"/>
              </a:lnSpc>
            </a:pPr>
            <a:r>
              <a:rPr lang="en-US" sz="1200">
                <a:solidFill>
                  <a:srgbClr val="000000"/>
                </a:solidFill>
                <a:latin typeface="Calibri (MS)"/>
                <a:ea typeface="Calibri (MS)"/>
                <a:cs typeface="Calibri (MS)"/>
                <a:sym typeface="Calibri (MS)"/>
              </a:rPr>
              <a:t>I am fortunate to have grown in a very compe44ve environment in my medical school which has kindled me to always keep working harder and use this freedom righteously to raise my standards as a professional and as a good human rather than be another conven4onal physician.</a:t>
            </a:r>
          </a:p>
        </p:txBody>
      </p:sp>
      <p:sp>
        <p:nvSpPr>
          <p:cNvPr id="21" name="TextBox 21"/>
          <p:cNvSpPr txBox="1"/>
          <p:nvPr/>
        </p:nvSpPr>
        <p:spPr>
          <a:xfrm>
            <a:off x="4870447" y="3594154"/>
            <a:ext cx="2014538" cy="775335"/>
          </a:xfrm>
          <a:prstGeom prst="rect">
            <a:avLst/>
          </a:prstGeom>
        </p:spPr>
        <p:txBody>
          <a:bodyPr lIns="0" tIns="0" rIns="0" bIns="0" rtlCol="0" anchor="t">
            <a:spAutoFit/>
          </a:bodyPr>
          <a:lstStyle/>
          <a:p>
            <a:pPr algn="just">
              <a:lnSpc>
                <a:spcPts val="1500"/>
              </a:lnSpc>
            </a:pPr>
            <a:r>
              <a:rPr lang="en-US" sz="1200" spc="13">
                <a:solidFill>
                  <a:srgbClr val="000000"/>
                </a:solidFill>
                <a:latin typeface="Calibri (MS)"/>
                <a:ea typeface="Calibri (MS)"/>
                <a:cs typeface="Calibri (MS)"/>
                <a:sym typeface="Calibri (MS)"/>
              </a:rPr>
              <a:t>“The good physician treats the disease; the great physician treats the pa4ent who has the disease” </a:t>
            </a:r>
          </a:p>
        </p:txBody>
      </p:sp>
      <p:sp>
        <p:nvSpPr>
          <p:cNvPr id="22" name="TextBox 22"/>
          <p:cNvSpPr txBox="1"/>
          <p:nvPr/>
        </p:nvSpPr>
        <p:spPr>
          <a:xfrm>
            <a:off x="5766349" y="4546654"/>
            <a:ext cx="1023623" cy="203835"/>
          </a:xfrm>
          <a:prstGeom prst="rect">
            <a:avLst/>
          </a:prstGeom>
        </p:spPr>
        <p:txBody>
          <a:bodyPr lIns="0" tIns="0" rIns="0" bIns="0" rtlCol="0" anchor="t">
            <a:spAutoFit/>
          </a:bodyPr>
          <a:lstStyle/>
          <a:p>
            <a:pPr algn="l">
              <a:lnSpc>
                <a:spcPts val="1500"/>
              </a:lnSpc>
            </a:pPr>
            <a:r>
              <a:rPr lang="en-US" sz="1200">
                <a:solidFill>
                  <a:srgbClr val="000000"/>
                </a:solidFill>
                <a:latin typeface="Calibri (MS)"/>
                <a:ea typeface="Calibri (MS)"/>
                <a:cs typeface="Calibri (MS)"/>
                <a:sym typeface="Calibri (MS)"/>
              </a:rPr>
              <a:t>---William Osler </a:t>
            </a:r>
          </a:p>
        </p:txBody>
      </p:sp>
      <p:sp>
        <p:nvSpPr>
          <p:cNvPr id="23" name="TextBox 23"/>
          <p:cNvSpPr txBox="1"/>
          <p:nvPr/>
        </p:nvSpPr>
        <p:spPr>
          <a:xfrm>
            <a:off x="4824936" y="6949792"/>
            <a:ext cx="2153984" cy="584835"/>
          </a:xfrm>
          <a:prstGeom prst="rect">
            <a:avLst/>
          </a:prstGeom>
        </p:spPr>
        <p:txBody>
          <a:bodyPr lIns="0" tIns="0" rIns="0" bIns="0" rtlCol="0" anchor="t">
            <a:spAutoFit/>
          </a:bodyPr>
          <a:lstStyle/>
          <a:p>
            <a:pPr algn="just">
              <a:lnSpc>
                <a:spcPts val="1500"/>
              </a:lnSpc>
            </a:pPr>
            <a:r>
              <a:rPr lang="en-US" sz="1200" spc="22">
                <a:solidFill>
                  <a:srgbClr val="000000"/>
                </a:solidFill>
                <a:latin typeface="Calibri (MS)"/>
                <a:ea typeface="Calibri (MS)"/>
                <a:cs typeface="Calibri (MS)"/>
                <a:sym typeface="Calibri (MS)"/>
              </a:rPr>
              <a:t>“The best way to ﬁnd yourself is to lose yourself in the service of others.” </a:t>
            </a:r>
          </a:p>
        </p:txBody>
      </p:sp>
      <p:sp>
        <p:nvSpPr>
          <p:cNvPr id="24" name="TextBox 24"/>
          <p:cNvSpPr txBox="1"/>
          <p:nvPr/>
        </p:nvSpPr>
        <p:spPr>
          <a:xfrm>
            <a:off x="5695759" y="7418422"/>
            <a:ext cx="1276931" cy="203835"/>
          </a:xfrm>
          <a:prstGeom prst="rect">
            <a:avLst/>
          </a:prstGeom>
        </p:spPr>
        <p:txBody>
          <a:bodyPr lIns="0" tIns="0" rIns="0" bIns="0" rtlCol="0" anchor="t">
            <a:spAutoFit/>
          </a:bodyPr>
          <a:lstStyle/>
          <a:p>
            <a:pPr algn="l">
              <a:lnSpc>
                <a:spcPts val="1500"/>
              </a:lnSpc>
            </a:pPr>
            <a:r>
              <a:rPr lang="en-US" sz="1200">
                <a:solidFill>
                  <a:srgbClr val="000000"/>
                </a:solidFill>
                <a:latin typeface="Calibri (MS)"/>
                <a:ea typeface="Calibri (MS)"/>
                <a:cs typeface="Calibri (MS)"/>
                <a:sym typeface="Calibri (MS)"/>
              </a:rPr>
              <a:t>— Mahatma Gandhi</a:t>
            </a:r>
          </a:p>
        </p:txBody>
      </p:sp>
      <p:sp>
        <p:nvSpPr>
          <p:cNvPr id="25" name="TextBox 25"/>
          <p:cNvSpPr txBox="1"/>
          <p:nvPr/>
        </p:nvSpPr>
        <p:spPr>
          <a:xfrm>
            <a:off x="4781969" y="7887291"/>
            <a:ext cx="2196951" cy="965835"/>
          </a:xfrm>
          <a:prstGeom prst="rect">
            <a:avLst/>
          </a:prstGeom>
        </p:spPr>
        <p:txBody>
          <a:bodyPr lIns="0" tIns="0" rIns="0" bIns="0" rtlCol="0" anchor="t">
            <a:spAutoFit/>
          </a:bodyPr>
          <a:lstStyle/>
          <a:p>
            <a:pPr algn="just">
              <a:lnSpc>
                <a:spcPts val="1500"/>
              </a:lnSpc>
            </a:pPr>
            <a:r>
              <a:rPr lang="en-US" sz="1200">
                <a:solidFill>
                  <a:srgbClr val="F2F2F2"/>
                </a:solidFill>
                <a:latin typeface="Calibri (MS)"/>
                <a:ea typeface="Calibri (MS)"/>
                <a:cs typeface="Calibri (MS)"/>
                <a:sym typeface="Calibri (MS)"/>
              </a:rPr>
              <a:t>“A physician is obligated to consider more than a diseased organ, more than even the whole man—he must view the man in his world.” </a:t>
            </a:r>
          </a:p>
        </p:txBody>
      </p:sp>
      <p:sp>
        <p:nvSpPr>
          <p:cNvPr id="26" name="TextBox 26"/>
          <p:cNvSpPr txBox="1"/>
          <p:nvPr/>
        </p:nvSpPr>
        <p:spPr>
          <a:xfrm>
            <a:off x="5734031" y="8783955"/>
            <a:ext cx="1150953" cy="203835"/>
          </a:xfrm>
          <a:prstGeom prst="rect">
            <a:avLst/>
          </a:prstGeom>
        </p:spPr>
        <p:txBody>
          <a:bodyPr lIns="0" tIns="0" rIns="0" bIns="0" rtlCol="0" anchor="t">
            <a:spAutoFit/>
          </a:bodyPr>
          <a:lstStyle/>
          <a:p>
            <a:pPr algn="l">
              <a:lnSpc>
                <a:spcPts val="1500"/>
              </a:lnSpc>
            </a:pPr>
            <a:r>
              <a:rPr lang="en-US" sz="1200">
                <a:solidFill>
                  <a:srgbClr val="F2F2F2"/>
                </a:solidFill>
                <a:latin typeface="Calibri (MS)"/>
                <a:ea typeface="Calibri (MS)"/>
                <a:cs typeface="Calibri (MS)"/>
                <a:sym typeface="Calibri (MS)"/>
              </a:rPr>
              <a:t>— Harvey Cushing</a:t>
            </a:r>
          </a:p>
        </p:txBody>
      </p:sp>
      <p:sp>
        <p:nvSpPr>
          <p:cNvPr id="27" name="TextBox 27"/>
          <p:cNvSpPr txBox="1"/>
          <p:nvPr/>
        </p:nvSpPr>
        <p:spPr>
          <a:xfrm>
            <a:off x="8072123" y="3300565"/>
            <a:ext cx="2697823"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education and inculcate refined qualities </a:t>
            </a:r>
          </a:p>
        </p:txBody>
      </p:sp>
      <p:sp>
        <p:nvSpPr>
          <p:cNvPr id="28" name="TextBox 28"/>
          <p:cNvSpPr txBox="1"/>
          <p:nvPr/>
        </p:nvSpPr>
        <p:spPr>
          <a:xfrm>
            <a:off x="8072123" y="4577953"/>
            <a:ext cx="3911889"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such that I hold the position of a professor/ clinical instructor. </a:t>
            </a:r>
          </a:p>
        </p:txBody>
      </p:sp>
      <p:sp>
        <p:nvSpPr>
          <p:cNvPr id="29" name="TextBox 29"/>
          <p:cNvSpPr txBox="1"/>
          <p:nvPr/>
        </p:nvSpPr>
        <p:spPr>
          <a:xfrm>
            <a:off x="8072123" y="6281147"/>
            <a:ext cx="5337115" cy="213360"/>
          </a:xfrm>
          <a:prstGeom prst="rect">
            <a:avLst/>
          </a:prstGeom>
        </p:spPr>
        <p:txBody>
          <a:bodyPr lIns="0" tIns="0" rIns="0" bIns="0" rtlCol="0" anchor="t">
            <a:spAutoFit/>
          </a:bodyPr>
          <a:lstStyle/>
          <a:p>
            <a:pPr algn="l">
              <a:lnSpc>
                <a:spcPts val="1679"/>
              </a:lnSpc>
            </a:pPr>
            <a:r>
              <a:rPr lang="en-US" sz="1200">
                <a:solidFill>
                  <a:srgbClr val="000000"/>
                </a:solidFill>
                <a:latin typeface="Calibri (MS)"/>
                <a:ea typeface="Calibri (MS)"/>
                <a:cs typeface="Calibri (MS)"/>
                <a:sym typeface="Calibri (MS)"/>
              </a:rPr>
              <a:t>compassionate and to have it make some diﬀerence that we had lived and lived well.</a:t>
            </a:r>
          </a:p>
        </p:txBody>
      </p:sp>
      <p:sp>
        <p:nvSpPr>
          <p:cNvPr id="30" name="TextBox 30"/>
          <p:cNvSpPr txBox="1"/>
          <p:nvPr/>
        </p:nvSpPr>
        <p:spPr>
          <a:xfrm>
            <a:off x="8072123" y="2874769"/>
            <a:ext cx="6759550" cy="213360"/>
          </a:xfrm>
          <a:prstGeom prst="rect">
            <a:avLst/>
          </a:prstGeom>
        </p:spPr>
        <p:txBody>
          <a:bodyPr lIns="0" tIns="0" rIns="0" bIns="0" rtlCol="0" anchor="t">
            <a:spAutoFit/>
          </a:bodyPr>
          <a:lstStyle/>
          <a:p>
            <a:pPr algn="l">
              <a:lnSpc>
                <a:spcPts val="1679"/>
              </a:lnSpc>
            </a:pPr>
            <a:r>
              <a:rPr lang="en-US" sz="1200" spc="18">
                <a:solidFill>
                  <a:srgbClr val="231F20"/>
                </a:solidFill>
                <a:latin typeface="Calibri (MS)"/>
                <a:ea typeface="Calibri (MS)"/>
                <a:cs typeface="Calibri (MS)"/>
                <a:sym typeface="Calibri (MS)"/>
              </a:rPr>
              <a:t>Education is a ray of light in darkness. My vision is to become an academician, thereby impart the right </a:t>
            </a:r>
          </a:p>
        </p:txBody>
      </p:sp>
      <p:sp>
        <p:nvSpPr>
          <p:cNvPr id="31" name="TextBox 31"/>
          <p:cNvSpPr txBox="1"/>
          <p:nvPr/>
        </p:nvSpPr>
        <p:spPr>
          <a:xfrm>
            <a:off x="10818304" y="3300565"/>
            <a:ext cx="3959095"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among the next generation students – simply like a candle </a:t>
            </a:r>
          </a:p>
        </p:txBody>
      </p:sp>
      <p:sp>
        <p:nvSpPr>
          <p:cNvPr id="32" name="TextBox 32"/>
          <p:cNvSpPr txBox="1"/>
          <p:nvPr/>
        </p:nvSpPr>
        <p:spPr>
          <a:xfrm>
            <a:off x="8072123" y="5855351"/>
            <a:ext cx="6760816" cy="213360"/>
          </a:xfrm>
          <a:prstGeom prst="rect">
            <a:avLst/>
          </a:prstGeom>
        </p:spPr>
        <p:txBody>
          <a:bodyPr lIns="0" tIns="0" rIns="0" bIns="0" rtlCol="0" anchor="t">
            <a:spAutoFit/>
          </a:bodyPr>
          <a:lstStyle/>
          <a:p>
            <a:pPr algn="l">
              <a:lnSpc>
                <a:spcPts val="1679"/>
              </a:lnSpc>
            </a:pPr>
            <a:r>
              <a:rPr lang="en-US" sz="1200">
                <a:solidFill>
                  <a:srgbClr val="000000"/>
                </a:solidFill>
                <a:latin typeface="Calibri (MS)"/>
                <a:ea typeface="Calibri (MS)"/>
                <a:cs typeface="Calibri (MS)"/>
                <a:sym typeface="Calibri (MS)"/>
              </a:rPr>
              <a:t>their goal. I believe that the purpose of life is just not to be happy. it is to be useful, honorable, </a:t>
            </a:r>
          </a:p>
        </p:txBody>
      </p:sp>
      <p:sp>
        <p:nvSpPr>
          <p:cNvPr id="33" name="TextBox 33"/>
          <p:cNvSpPr txBox="1"/>
          <p:nvPr/>
        </p:nvSpPr>
        <p:spPr>
          <a:xfrm>
            <a:off x="8072123" y="5429555"/>
            <a:ext cx="6760921" cy="213360"/>
          </a:xfrm>
          <a:prstGeom prst="rect">
            <a:avLst/>
          </a:prstGeom>
        </p:spPr>
        <p:txBody>
          <a:bodyPr lIns="0" tIns="0" rIns="0" bIns="0" rtlCol="0" anchor="t">
            <a:spAutoFit/>
          </a:bodyPr>
          <a:lstStyle/>
          <a:p>
            <a:pPr algn="l">
              <a:lnSpc>
                <a:spcPts val="1679"/>
              </a:lnSpc>
            </a:pPr>
            <a:r>
              <a:rPr lang="en-US" sz="1200" spc="6">
                <a:solidFill>
                  <a:srgbClr val="000000"/>
                </a:solidFill>
                <a:latin typeface="Calibri (MS)"/>
                <a:ea typeface="Calibri (MS)"/>
                <a:cs typeface="Calibri (MS)"/>
                <a:sym typeface="Calibri (MS)"/>
              </a:rPr>
              <a:t>I believe that the best way to stay mo4vated, is by visualizing one’s achievement &amp; working hard to reach </a:t>
            </a:r>
          </a:p>
        </p:txBody>
      </p:sp>
      <p:sp>
        <p:nvSpPr>
          <p:cNvPr id="34" name="TextBox 34"/>
          <p:cNvSpPr txBox="1"/>
          <p:nvPr/>
        </p:nvSpPr>
        <p:spPr>
          <a:xfrm>
            <a:off x="8072123" y="3726361"/>
            <a:ext cx="6761493" cy="213360"/>
          </a:xfrm>
          <a:prstGeom prst="rect">
            <a:avLst/>
          </a:prstGeom>
        </p:spPr>
        <p:txBody>
          <a:bodyPr lIns="0" tIns="0" rIns="0" bIns="0" rtlCol="0" anchor="t">
            <a:spAutoFit/>
          </a:bodyPr>
          <a:lstStyle/>
          <a:p>
            <a:pPr algn="l">
              <a:lnSpc>
                <a:spcPts val="1679"/>
              </a:lnSpc>
            </a:pPr>
            <a:r>
              <a:rPr lang="en-US" sz="1200">
                <a:solidFill>
                  <a:srgbClr val="231F20"/>
                </a:solidFill>
                <a:latin typeface="Calibri (MS)"/>
                <a:ea typeface="Calibri (MS)"/>
                <a:cs typeface="Calibri (MS)"/>
                <a:sym typeface="Calibri (MS)"/>
              </a:rPr>
              <a:t>melting itself by providing light to shine. Teaching and demonstration sessions have never failed to amaze </a:t>
            </a:r>
          </a:p>
        </p:txBody>
      </p:sp>
      <p:sp>
        <p:nvSpPr>
          <p:cNvPr id="35" name="TextBox 35"/>
          <p:cNvSpPr txBox="1"/>
          <p:nvPr/>
        </p:nvSpPr>
        <p:spPr>
          <a:xfrm>
            <a:off x="8072123" y="4152157"/>
            <a:ext cx="6762140" cy="213360"/>
          </a:xfrm>
          <a:prstGeom prst="rect">
            <a:avLst/>
          </a:prstGeom>
        </p:spPr>
        <p:txBody>
          <a:bodyPr lIns="0" tIns="0" rIns="0" bIns="0" rtlCol="0" anchor="t">
            <a:spAutoFit/>
          </a:bodyPr>
          <a:lstStyle/>
          <a:p>
            <a:pPr algn="l">
              <a:lnSpc>
                <a:spcPts val="1679"/>
              </a:lnSpc>
            </a:pPr>
            <a:r>
              <a:rPr lang="en-US" sz="1200" spc="6">
                <a:solidFill>
                  <a:srgbClr val="231F20"/>
                </a:solidFill>
                <a:latin typeface="Calibri (MS)"/>
                <a:ea typeface="Calibri (MS)"/>
                <a:cs typeface="Calibri (MS)"/>
                <a:sym typeface="Calibri (MS)"/>
              </a:rPr>
              <a:t>me during my undergraduate program, which encouraged me to work towards becoming an academician </a:t>
            </a:r>
          </a:p>
        </p:txBody>
      </p:sp>
      <p:sp>
        <p:nvSpPr>
          <p:cNvPr id="36" name="TextBox 36"/>
          <p:cNvSpPr txBox="1"/>
          <p:nvPr/>
        </p:nvSpPr>
        <p:spPr>
          <a:xfrm>
            <a:off x="10024424" y="1892637"/>
            <a:ext cx="2276866" cy="427358"/>
          </a:xfrm>
          <a:prstGeom prst="rect">
            <a:avLst/>
          </a:prstGeom>
        </p:spPr>
        <p:txBody>
          <a:bodyPr lIns="0" tIns="0" rIns="0" bIns="0" rtlCol="0" anchor="t">
            <a:spAutoFit/>
          </a:bodyPr>
          <a:lstStyle/>
          <a:p>
            <a:pPr algn="l">
              <a:lnSpc>
                <a:spcPts val="3640"/>
              </a:lnSpc>
            </a:pPr>
            <a:r>
              <a:rPr lang="en-US" sz="2600" b="1" spc="-5">
                <a:solidFill>
                  <a:srgbClr val="25408F"/>
                </a:solidFill>
                <a:latin typeface="IBM Plex Sans Bold"/>
                <a:ea typeface="IBM Plex Sans Bold"/>
                <a:cs typeface="IBM Plex Sans Bold"/>
                <a:sym typeface="IBM Plex Sans Bold"/>
              </a:rPr>
              <a:t>Achievements</a:t>
            </a:r>
          </a:p>
        </p:txBody>
      </p:sp>
      <p:sp>
        <p:nvSpPr>
          <p:cNvPr id="37" name="TextBox 37"/>
          <p:cNvSpPr txBox="1"/>
          <p:nvPr/>
        </p:nvSpPr>
        <p:spPr>
          <a:xfrm>
            <a:off x="7843523" y="2882008"/>
            <a:ext cx="71504" cy="194310"/>
          </a:xfrm>
          <a:prstGeom prst="rect">
            <a:avLst/>
          </a:prstGeom>
        </p:spPr>
        <p:txBody>
          <a:bodyPr lIns="0" tIns="0" rIns="0" bIns="0" rtlCol="0" anchor="t">
            <a:spAutoFit/>
          </a:bodyPr>
          <a:lstStyle/>
          <a:p>
            <a:pPr algn="l">
              <a:lnSpc>
                <a:spcPts val="1679"/>
              </a:lnSpc>
            </a:pPr>
            <a:r>
              <a:rPr lang="en-US" sz="1200" spc="76">
                <a:solidFill>
                  <a:srgbClr val="000000"/>
                </a:solidFill>
                <a:latin typeface="IBM Plex Sans"/>
                <a:ea typeface="IBM Plex Sans"/>
                <a:cs typeface="IBM Plex Sans"/>
                <a:sym typeface="IBM Plex Sans"/>
              </a:rPr>
              <a:t>•</a:t>
            </a:r>
          </a:p>
        </p:txBody>
      </p:sp>
      <p:sp>
        <p:nvSpPr>
          <p:cNvPr id="38" name="TextBox 38"/>
          <p:cNvSpPr txBox="1"/>
          <p:nvPr/>
        </p:nvSpPr>
        <p:spPr>
          <a:xfrm>
            <a:off x="7843523" y="5436794"/>
            <a:ext cx="71504" cy="194310"/>
          </a:xfrm>
          <a:prstGeom prst="rect">
            <a:avLst/>
          </a:prstGeom>
        </p:spPr>
        <p:txBody>
          <a:bodyPr lIns="0" tIns="0" rIns="0" bIns="0" rtlCol="0" anchor="t">
            <a:spAutoFit/>
          </a:bodyPr>
          <a:lstStyle/>
          <a:p>
            <a:pPr algn="l">
              <a:lnSpc>
                <a:spcPts val="1679"/>
              </a:lnSpc>
            </a:pPr>
            <a:r>
              <a:rPr lang="en-US" sz="1200" spc="76">
                <a:solidFill>
                  <a:srgbClr val="000000"/>
                </a:solidFill>
                <a:latin typeface="IBM Plex Sans"/>
                <a:ea typeface="IBM Plex Sans"/>
                <a:cs typeface="IBM Plex Sans"/>
                <a:sym typeface="IBM Plex Sans"/>
              </a:rPr>
              <a:t>•</a:t>
            </a:r>
          </a:p>
        </p:txBody>
      </p:sp>
      <p:pic>
        <p:nvPicPr>
          <p:cNvPr id="40" name="Picture 39" descr="photo_2025-01-07_19-49-21.jpg"/>
          <p:cNvPicPr>
            <a:picLocks noChangeAspect="1"/>
          </p:cNvPicPr>
          <p:nvPr/>
        </p:nvPicPr>
        <p:blipFill>
          <a:blip r:embed="rId2" cstate="print"/>
          <a:stretch>
            <a:fillRect/>
          </a:stretch>
        </p:blipFill>
        <p:spPr>
          <a:xfrm>
            <a:off x="841328" y="2846370"/>
            <a:ext cx="2857520" cy="235745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sp>
        <p:nvSpPr>
          <p:cNvPr id="4" name="TextBox 4"/>
          <p:cNvSpPr txBox="1"/>
          <p:nvPr/>
        </p:nvSpPr>
        <p:spPr>
          <a:xfrm>
            <a:off x="914400" y="1646701"/>
            <a:ext cx="259290" cy="1270635"/>
          </a:xfrm>
          <a:prstGeom prst="rect">
            <a:avLst/>
          </a:prstGeom>
        </p:spPr>
        <p:txBody>
          <a:bodyPr lIns="0" tIns="0" rIns="0" bIns="0" rtlCol="0" anchor="t">
            <a:spAutoFit/>
          </a:bodyPr>
          <a:lstStyle/>
          <a:p>
            <a:pPr algn="l">
              <a:lnSpc>
                <a:spcPts val="10893"/>
              </a:lnSpc>
            </a:pPr>
            <a:r>
              <a:rPr lang="en-US" sz="7200" spc="-14">
                <a:solidFill>
                  <a:srgbClr val="000000"/>
                </a:solidFill>
                <a:latin typeface="IBM Plex Sans"/>
                <a:ea typeface="IBM Plex Sans"/>
                <a:cs typeface="IBM Plex Sans"/>
                <a:sym typeface="IBM Plex Sans"/>
              </a:rPr>
              <a:t> </a:t>
            </a:r>
          </a:p>
        </p:txBody>
      </p:sp>
      <p:sp>
        <p:nvSpPr>
          <p:cNvPr id="5" name="TextBox 5"/>
          <p:cNvSpPr txBox="1"/>
          <p:nvPr/>
        </p:nvSpPr>
        <p:spPr>
          <a:xfrm>
            <a:off x="4980520" y="3818028"/>
            <a:ext cx="5158959" cy="1282723"/>
          </a:xfrm>
          <a:prstGeom prst="rect">
            <a:avLst/>
          </a:prstGeom>
        </p:spPr>
        <p:txBody>
          <a:bodyPr lIns="0" tIns="0" rIns="0" bIns="0" rtlCol="0" anchor="t">
            <a:spAutoFit/>
          </a:bodyPr>
          <a:lstStyle/>
          <a:p>
            <a:pPr algn="l">
              <a:lnSpc>
                <a:spcPts val="10893"/>
              </a:lnSpc>
            </a:pPr>
            <a:r>
              <a:rPr lang="en-US" sz="7200" spc="-14" dirty="0">
                <a:solidFill>
                  <a:srgbClr val="000000"/>
                </a:solidFill>
                <a:latin typeface="IBM Plex Sans"/>
                <a:ea typeface="IBM Plex Sans"/>
                <a:cs typeface="IBM Plex Sans"/>
                <a:sym typeface="IBM Plex Sans"/>
              </a:rPr>
              <a:t>Phase </a:t>
            </a:r>
            <a:r>
              <a:rPr lang="en-US" sz="7200" spc="-14" dirty="0" smtClean="0">
                <a:solidFill>
                  <a:srgbClr val="000000"/>
                </a:solidFill>
                <a:latin typeface="IBM Plex Sans"/>
                <a:ea typeface="IBM Plex Sans"/>
                <a:cs typeface="IBM Plex Sans"/>
                <a:sym typeface="IBM Plex Sans"/>
              </a:rPr>
              <a:t>3B </a:t>
            </a:r>
            <a:endParaRPr lang="en-US" sz="7200" spc="-14" dirty="0">
              <a:solidFill>
                <a:srgbClr val="000000"/>
              </a:solidFill>
              <a:latin typeface="IBM Plex Sans"/>
              <a:ea typeface="IBM Plex Sans"/>
              <a:cs typeface="IBM Plex Sans"/>
              <a:sym typeface="IBM Plex Sans"/>
            </a:endParaRPr>
          </a:p>
        </p:txBody>
      </p:sp>
      <p:sp>
        <p:nvSpPr>
          <p:cNvPr id="6" name="TextBox 6"/>
          <p:cNvSpPr txBox="1"/>
          <p:nvPr/>
        </p:nvSpPr>
        <p:spPr>
          <a:xfrm>
            <a:off x="381000" y="9550946"/>
            <a:ext cx="204340" cy="208283"/>
          </a:xfrm>
          <a:prstGeom prst="rect">
            <a:avLst/>
          </a:prstGeom>
        </p:spPr>
        <p:txBody>
          <a:bodyPr lIns="0" tIns="0" rIns="0" bIns="0" rtlCol="0" anchor="t">
            <a:spAutoFit/>
          </a:bodyPr>
          <a:lstStyle/>
          <a:p>
            <a:pPr algn="l">
              <a:lnSpc>
                <a:spcPts val="1539"/>
              </a:lnSpc>
            </a:pPr>
            <a:r>
              <a:rPr lang="en-US" sz="1100" b="1">
                <a:solidFill>
                  <a:srgbClr val="808080"/>
                </a:solidFill>
                <a:latin typeface="Calibri (MS) Bold"/>
                <a:ea typeface="Calibri (MS) Bold"/>
                <a:cs typeface="Calibri (MS) Bold"/>
                <a:sym typeface="Calibri (MS) Bold"/>
              </a:rPr>
              <a:t>1 | </a:t>
            </a:r>
          </a:p>
        </p:txBody>
      </p:sp>
      <p:sp>
        <p:nvSpPr>
          <p:cNvPr id="7" name="TextBox 7"/>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8" name="TextBox 8"/>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1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240305184464</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Previous LSCS</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Arthi</a:t>
            </a:r>
            <a:r>
              <a:rPr lang="en-US" sz="1600" b="1" dirty="0" smtClean="0">
                <a:solidFill>
                  <a:srgbClr val="000000"/>
                </a:solidFill>
                <a:latin typeface="Cambria Bold"/>
                <a:ea typeface="Cambria Bold"/>
                <a:cs typeface="Cambria Bold"/>
                <a:sym typeface="Cambria Bold"/>
              </a:rPr>
              <a:t> T</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22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4065215"/>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BP-126/86mmHg,RR-16/min,Sp02-97%, pulse=82/min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CNS: NFND, no loss of sensation</a:t>
            </a:r>
          </a:p>
          <a:p>
            <a:pPr>
              <a:buFont typeface="Wingdings" pitchFamily="2" charset="2"/>
              <a:buChar char="Ø"/>
            </a:pPr>
            <a:r>
              <a:rPr lang="en-US" sz="1000" b="1" dirty="0" smtClean="0">
                <a:solidFill>
                  <a:srgbClr val="000000"/>
                </a:solidFill>
                <a:latin typeface="Cambria Bold"/>
                <a:ea typeface="Cambria Bold"/>
                <a:cs typeface="Cambria Bold"/>
                <a:sym typeface="Cambria Bold"/>
              </a:rPr>
              <a:t>Abdomen examination: </a:t>
            </a:r>
            <a:r>
              <a:rPr lang="en-US" sz="1000" b="1" dirty="0" smtClean="0"/>
              <a:t>P/A-INSPECTION: Umbilicus in centre, </a:t>
            </a:r>
            <a:r>
              <a:rPr lang="en-US" sz="1000" b="1" dirty="0" err="1" smtClean="0"/>
              <a:t>linea</a:t>
            </a:r>
            <a:r>
              <a:rPr lang="en-US" sz="1000" b="1" dirty="0" smtClean="0"/>
              <a:t> </a:t>
            </a:r>
            <a:r>
              <a:rPr lang="en-US" sz="1000" b="1" dirty="0" err="1" smtClean="0"/>
              <a:t>nigra</a:t>
            </a:r>
            <a:r>
              <a:rPr lang="en-US" sz="1000" b="1" dirty="0" smtClean="0"/>
              <a:t>+, </a:t>
            </a:r>
            <a:r>
              <a:rPr lang="en-US" sz="1000" b="1" dirty="0" err="1" smtClean="0"/>
              <a:t>lscs</a:t>
            </a:r>
            <a:r>
              <a:rPr lang="en-US" sz="1000" b="1" dirty="0" smtClean="0"/>
              <a:t> scar healthy</a:t>
            </a:r>
            <a:endParaRPr lang="en-US" sz="1000" dirty="0" smtClean="0"/>
          </a:p>
          <a:p>
            <a:pPr>
              <a:buFont typeface="Wingdings" pitchFamily="2" charset="2"/>
              <a:buChar char="Ø"/>
            </a:pPr>
            <a:r>
              <a:rPr lang="en-US" sz="1000" b="1" dirty="0" smtClean="0"/>
              <a:t>P/A-PALPATION: Uterus contracted to 16 weeks</a:t>
            </a:r>
            <a:endParaRPr lang="en-US" sz="1000" dirty="0" smtClean="0"/>
          </a:p>
          <a:p>
            <a:pPr>
              <a:buFont typeface="Wingdings" pitchFamily="2" charset="2"/>
              <a:buChar char="Ø"/>
            </a:pPr>
            <a:r>
              <a:rPr lang="en-US" sz="1000" b="1" dirty="0" smtClean="0"/>
              <a:t>P/A-AUSCULTATION: Bowel sounds normal</a:t>
            </a:r>
            <a:endParaRPr lang="en-US" sz="1000" dirty="0" smtClean="0"/>
          </a:p>
          <a:p>
            <a:pPr>
              <a:buFont typeface="Arial" pitchFamily="34" charset="0"/>
              <a:buChar char="•"/>
            </a:pPr>
            <a:endParaRPr lang="en-US" sz="1000" dirty="0" smtClean="0"/>
          </a:p>
          <a:p>
            <a:endParaRPr lang="en-US" sz="1000" dirty="0" smtClean="0"/>
          </a:p>
          <a:p>
            <a:endParaRPr lang="nn-NO" sz="1000" dirty="0" smtClean="0"/>
          </a:p>
          <a:p>
            <a:endParaRPr lang="en-US" sz="1000" dirty="0" smtClean="0"/>
          </a:p>
          <a:p>
            <a:pPr>
              <a:lnSpc>
                <a:spcPts val="1679"/>
              </a:lnSpc>
              <a:buFont typeface="Wingdings" pitchFamily="2" charset="2"/>
              <a:buChar char="Ø"/>
            </a:pPr>
            <a:endParaRPr lang="en-US"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US"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108543"/>
          </a:xfrm>
          <a:prstGeom prst="rect">
            <a:avLst/>
          </a:prstGeom>
          <a:noFill/>
        </p:spPr>
        <p:txBody>
          <a:bodyPr wrap="square" rtlCol="0">
            <a:spAutoFit/>
          </a:bodyPr>
          <a:lstStyle/>
          <a:p>
            <a:r>
              <a:rPr lang="en-US" sz="1400" b="1" dirty="0" smtClean="0"/>
              <a:t>Chief Complaints </a:t>
            </a:r>
            <a:r>
              <a:rPr lang="en-US" sz="1400" dirty="0" smtClean="0"/>
              <a:t>Patient came  for post op LSCS follow up</a:t>
            </a:r>
          </a:p>
          <a:p>
            <a:r>
              <a:rPr lang="en-US" sz="1400" b="1" dirty="0" smtClean="0"/>
              <a:t>History of Presenting Illness </a:t>
            </a:r>
            <a:r>
              <a:rPr lang="en-US" sz="1400" dirty="0" smtClean="0"/>
              <a:t>The patient came for post op LSCS follow up. No H/O pain abdomen / leaking or bleeding PV.</a:t>
            </a:r>
          </a:p>
          <a:p>
            <a:r>
              <a:rPr lang="en-US" sz="1400" dirty="0" smtClean="0"/>
              <a:t>No h/o headache, blurring of vision, decreased urine output, breathlessness, loose stools.  No h/o burning </a:t>
            </a:r>
            <a:r>
              <a:rPr lang="en-US" sz="1400" dirty="0" err="1" smtClean="0"/>
              <a:t>micturition</a:t>
            </a:r>
            <a:r>
              <a:rPr lang="en-US" sz="1400" dirty="0" smtClean="0"/>
              <a:t>, fever or white discharge </a:t>
            </a:r>
            <a:r>
              <a:rPr lang="en-US" sz="1400" dirty="0" err="1" smtClean="0"/>
              <a:t>pv</a:t>
            </a:r>
            <a:r>
              <a:rPr lang="en-US" sz="1400" dirty="0" smtClean="0"/>
              <a:t>, </a:t>
            </a:r>
            <a:r>
              <a:rPr lang="en-US" sz="1400" dirty="0" err="1" smtClean="0"/>
              <a:t>vomitings</a:t>
            </a:r>
            <a:r>
              <a:rPr lang="en-US" sz="1400" dirty="0" smtClean="0"/>
              <a:t>.</a:t>
            </a:r>
          </a:p>
          <a:p>
            <a:r>
              <a:rPr lang="en-US" sz="1400" b="1" dirty="0" smtClean="0"/>
              <a:t>MENSTRUAL HISTORY : </a:t>
            </a:r>
            <a:r>
              <a:rPr lang="en-US" sz="1400" dirty="0" smtClean="0"/>
              <a:t>RMC , 3/30 days, changes 3 pads per day , no clots or </a:t>
            </a:r>
            <a:r>
              <a:rPr lang="en-US" sz="1400" dirty="0" err="1" smtClean="0"/>
              <a:t>dysmenorrhea</a:t>
            </a:r>
            <a:endParaRPr lang="en-US" sz="1400" dirty="0" smtClean="0"/>
          </a:p>
          <a:p>
            <a:r>
              <a:rPr lang="en-US" sz="1400" b="1" dirty="0" smtClean="0"/>
              <a:t>MARITAL HISTORY :  </a:t>
            </a:r>
            <a:r>
              <a:rPr lang="en-US" sz="1400" dirty="0" smtClean="0"/>
              <a:t>Married for 4 years x NCM</a:t>
            </a:r>
          </a:p>
          <a:p>
            <a:r>
              <a:rPr lang="en-US" sz="1400" dirty="0" smtClean="0"/>
              <a:t> </a:t>
            </a:r>
          </a:p>
          <a:p>
            <a:endParaRPr lang="en-US" sz="1400" dirty="0" smtClean="0"/>
          </a:p>
          <a:p>
            <a:endParaRPr lang="en-US" sz="1400" dirty="0" smtClean="0"/>
          </a:p>
          <a:p>
            <a:endParaRPr lang="en-US" sz="1400" dirty="0" smtClean="0"/>
          </a:p>
          <a:p>
            <a:endParaRPr lang="en-US" sz="1400" b="1" dirty="0"/>
          </a:p>
        </p:txBody>
      </p:sp>
      <p:sp>
        <p:nvSpPr>
          <p:cNvPr id="52" name="TextBox 50"/>
          <p:cNvSpPr txBox="1"/>
          <p:nvPr/>
        </p:nvSpPr>
        <p:spPr>
          <a:xfrm>
            <a:off x="11914218" y="6418270"/>
            <a:ext cx="2428892" cy="198516"/>
          </a:xfrm>
          <a:prstGeom prst="rect">
            <a:avLst/>
          </a:prstGeom>
        </p:spPr>
        <p:txBody>
          <a:bodyPr wrap="square" lIns="0" tIns="0" rIns="0" bIns="0" rtlCol="0" anchor="t">
            <a:spAutoFit/>
          </a:bodyPr>
          <a:lstStyle/>
          <a:p>
            <a:pPr algn="l">
              <a:lnSpc>
                <a:spcPts val="1679"/>
              </a:lnSpc>
            </a:pPr>
            <a:endParaRPr lang="en-US" sz="1200" u="sng" dirty="0">
              <a:solidFill>
                <a:srgbClr val="000000"/>
              </a:solidFill>
              <a:latin typeface="Cambria"/>
              <a:ea typeface="Cambria"/>
              <a:cs typeface="Cambria"/>
              <a:sym typeface="Cambria"/>
            </a:endParaRPr>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Uterine scar dehiscence</a:t>
            </a:r>
          </a:p>
          <a:p>
            <a:pPr>
              <a:lnSpc>
                <a:spcPts val="1679"/>
              </a:lnSpc>
              <a:buFont typeface="Arial" pitchFamily="34" charset="0"/>
              <a:buChar char="•"/>
            </a:pPr>
            <a:r>
              <a:rPr lang="en-US" sz="1200" dirty="0" smtClean="0"/>
              <a:t>Necrotizing fasciitis</a:t>
            </a:r>
          </a:p>
          <a:p>
            <a:pPr>
              <a:lnSpc>
                <a:spcPts val="1679"/>
              </a:lnSpc>
              <a:buFont typeface="Arial" pitchFamily="34" charset="0"/>
              <a:buChar char="•"/>
            </a:pPr>
            <a:r>
              <a:rPr lang="en-US" sz="1200" dirty="0" smtClean="0"/>
              <a:t>Peritonitis</a:t>
            </a:r>
          </a:p>
          <a:p>
            <a:pPr>
              <a:lnSpc>
                <a:spcPts val="1679"/>
              </a:lnSpc>
              <a:buFont typeface="Arial" pitchFamily="34" charset="0"/>
              <a:buChar char="•"/>
            </a:pPr>
            <a:r>
              <a:rPr lang="en-US" sz="1200" dirty="0" smtClean="0"/>
              <a:t>Hemorrhage</a:t>
            </a:r>
          </a:p>
          <a:p>
            <a:pPr>
              <a:lnSpc>
                <a:spcPts val="1679"/>
              </a:lnSpc>
              <a:buFont typeface="Arial" pitchFamily="34" charset="0"/>
              <a:buChar char="•"/>
            </a:pPr>
            <a:r>
              <a:rPr lang="en-US" sz="1200" dirty="0" smtClean="0"/>
              <a:t> sepsis</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199310" y="7847030"/>
            <a:ext cx="7217960" cy="1526059"/>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Wound dressing was done</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a:t>
            </a:r>
            <a:r>
              <a:rPr lang="en-US" sz="1200" dirty="0" smtClean="0">
                <a:solidFill>
                  <a:srgbClr val="000000"/>
                </a:solidFill>
                <a:latin typeface="Cambria"/>
                <a:ea typeface="Cambria"/>
                <a:cs typeface="Cambria"/>
                <a:sym typeface="Cambria"/>
              </a:rPr>
              <a:t>normal diet, plenty of oral fluids</a:t>
            </a:r>
          </a:p>
          <a:p>
            <a:pPr>
              <a:lnSpc>
                <a:spcPts val="1679"/>
              </a:lnSpc>
              <a:buFont typeface="Arial" pitchFamily="34" charset="0"/>
              <a:buChar char="•"/>
            </a:pPr>
            <a:r>
              <a:rPr lang="en-US" sz="1200" dirty="0" smtClean="0"/>
              <a:t> </a:t>
            </a:r>
            <a:r>
              <a:rPr lang="en-US" sz="1200" dirty="0" err="1" smtClean="0"/>
              <a:t>T.livogen</a:t>
            </a:r>
            <a:r>
              <a:rPr lang="en-US" sz="1200" dirty="0" smtClean="0"/>
              <a:t> </a:t>
            </a:r>
            <a:r>
              <a:rPr lang="en-US" sz="1200" dirty="0" err="1" smtClean="0"/>
              <a:t>bd</a:t>
            </a:r>
            <a:r>
              <a:rPr lang="en-US" sz="1200" dirty="0" smtClean="0"/>
              <a:t>,</a:t>
            </a:r>
          </a:p>
          <a:p>
            <a:pPr>
              <a:lnSpc>
                <a:spcPts val="1679"/>
              </a:lnSpc>
              <a:buFont typeface="Arial" pitchFamily="34" charset="0"/>
              <a:buChar char="•"/>
            </a:pPr>
            <a:r>
              <a:rPr lang="en-US" sz="1200" dirty="0" err="1" smtClean="0"/>
              <a:t>T.calcium</a:t>
            </a:r>
            <a:r>
              <a:rPr lang="en-US" sz="1200" dirty="0" smtClean="0"/>
              <a:t> 500mg </a:t>
            </a:r>
            <a:r>
              <a:rPr lang="en-US" sz="1200" dirty="0" err="1" smtClean="0"/>
              <a:t>od</a:t>
            </a:r>
            <a:r>
              <a:rPr lang="en-US" sz="1200" dirty="0" smtClean="0"/>
              <a:t> </a:t>
            </a:r>
          </a:p>
          <a:p>
            <a:pPr>
              <a:lnSpc>
                <a:spcPts val="1679"/>
              </a:lnSpc>
              <a:buFont typeface="Arial" pitchFamily="34" charset="0"/>
              <a:buChar char="•"/>
            </a:pPr>
            <a:r>
              <a:rPr lang="en-US" sz="1200" dirty="0" smtClean="0"/>
              <a:t> </a:t>
            </a:r>
            <a:r>
              <a:rPr lang="en-US" sz="1200" dirty="0" err="1" smtClean="0"/>
              <a:t>T.Vitamin</a:t>
            </a:r>
            <a:r>
              <a:rPr lang="en-US" sz="1200" dirty="0" smtClean="0"/>
              <a:t>-C </a:t>
            </a:r>
            <a:r>
              <a:rPr lang="en-US" sz="1200" dirty="0" err="1" smtClean="0"/>
              <a:t>bd</a:t>
            </a:r>
            <a:endParaRPr lang="en-US" sz="1200" dirty="0" smtClean="0"/>
          </a:p>
          <a:p>
            <a:pPr>
              <a:lnSpc>
                <a:spcPts val="1679"/>
              </a:lnSpc>
              <a:buFont typeface="Arial" pitchFamily="34" charset="0"/>
              <a:buChar char="•"/>
            </a:pPr>
            <a:r>
              <a:rPr lang="en-US" sz="1200" dirty="0" smtClean="0"/>
              <a:t> D4 INJ MAGNEX FORTE BD</a:t>
            </a:r>
          </a:p>
          <a:p>
            <a:pPr>
              <a:lnSpc>
                <a:spcPts val="1679"/>
              </a:lnSpc>
              <a:buFont typeface="Arial" pitchFamily="34" charset="0"/>
              <a:buChar char="•"/>
            </a:pPr>
            <a:r>
              <a:rPr lang="en-US" sz="1200" dirty="0" smtClean="0"/>
              <a:t>NJ GENTAMICIN 80 mg IV BD</a:t>
            </a:r>
            <a:endParaRPr lang="en-US" sz="1200" dirty="0" smtClean="0">
              <a:solidFill>
                <a:srgbClr val="000000"/>
              </a:solidFill>
              <a:latin typeface="Cambria"/>
              <a:ea typeface="Cambria"/>
              <a:cs typeface="Cambria"/>
              <a:sym typeface="Cambria"/>
            </a:endParaRPr>
          </a:p>
        </p:txBody>
      </p:sp>
      <p:pic>
        <p:nvPicPr>
          <p:cNvPr id="56"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sp>
        <p:nvSpPr>
          <p:cNvPr id="57" name="TextBox 49"/>
          <p:cNvSpPr txBox="1"/>
          <p:nvPr/>
        </p:nvSpPr>
        <p:spPr>
          <a:xfrm>
            <a:off x="11056962" y="8418534"/>
            <a:ext cx="7217960" cy="420949"/>
          </a:xfrm>
          <a:prstGeom prst="rect">
            <a:avLst/>
          </a:prstGeom>
        </p:spPr>
        <p:txBody>
          <a:bodyPr lIns="0" tIns="0" rIns="0" bIns="0" rtlCol="0" anchor="t">
            <a:spAutoFit/>
          </a:bodyPr>
          <a:lstStyle/>
          <a:p>
            <a:pPr>
              <a:lnSpc>
                <a:spcPts val="1679"/>
              </a:lnSpc>
            </a:pPr>
            <a:r>
              <a:rPr lang="en-US" sz="1200" dirty="0" smtClean="0"/>
              <a:t>INJ PAN 40 MG IV OD</a:t>
            </a:r>
          </a:p>
          <a:p>
            <a:pPr>
              <a:lnSpc>
                <a:spcPts val="1679"/>
              </a:lnSpc>
            </a:pPr>
            <a:r>
              <a:rPr lang="en-US" sz="1200" dirty="0" smtClean="0"/>
              <a:t>.</a:t>
            </a:r>
            <a:endParaRPr lang="en-US" sz="1200" dirty="0" smtClean="0">
              <a:solidFill>
                <a:srgbClr val="000000"/>
              </a:solidFill>
              <a:latin typeface="Cambria"/>
              <a:ea typeface="Cambria"/>
              <a:cs typeface="Cambria"/>
              <a:sym typeface="Cambria"/>
            </a:endParaRPr>
          </a:p>
        </p:txBody>
      </p:sp>
      <p:pic>
        <p:nvPicPr>
          <p:cNvPr id="1026" name="Picture 2"/>
          <p:cNvPicPr>
            <a:picLocks noChangeAspect="1" noChangeArrowheads="1"/>
          </p:cNvPicPr>
          <p:nvPr/>
        </p:nvPicPr>
        <p:blipFill>
          <a:blip r:embed="rId4"/>
          <a:srcRect/>
          <a:stretch>
            <a:fillRect/>
          </a:stretch>
        </p:blipFill>
        <p:spPr bwMode="auto">
          <a:xfrm>
            <a:off x="412700" y="1489048"/>
            <a:ext cx="6715172" cy="35719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5"/>
          <a:srcRect/>
          <a:stretch>
            <a:fillRect/>
          </a:stretch>
        </p:blipFill>
        <p:spPr bwMode="auto">
          <a:xfrm>
            <a:off x="412700" y="5060948"/>
            <a:ext cx="6643734" cy="3857652"/>
          </a:xfrm>
          <a:prstGeom prst="rect">
            <a:avLst/>
          </a:prstGeom>
          <a:noFill/>
          <a:ln w="9525">
            <a:noFill/>
            <a:miter lim="800000"/>
            <a:headEnd/>
            <a:tailEnd/>
          </a:ln>
          <a:effectLst/>
        </p:spPr>
      </p:pic>
      <p:sp>
        <p:nvSpPr>
          <p:cNvPr id="58" name="TextBox 50"/>
          <p:cNvSpPr txBox="1"/>
          <p:nvPr/>
        </p:nvSpPr>
        <p:spPr>
          <a:xfrm>
            <a:off x="11557028" y="434656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4"/>
              <a:ext cx="7475347" cy="2183799"/>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992721"/>
              <a:ext cx="7475347" cy="1153779"/>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2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241014261206</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Diabetes in pregnancy</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Nisha</a:t>
            </a:r>
            <a:r>
              <a:rPr lang="en-US" sz="1600" b="1" dirty="0" smtClean="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Panchatsharam</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22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199310" y="4132254"/>
            <a:ext cx="7334837" cy="3936975"/>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BP-110/78mmHg,RR-16/min,Sp02-97%,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Pallor present</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r>
              <a:rPr lang="en-US" sz="1000" b="1" dirty="0" smtClean="0"/>
              <a:t> ABDOMEN EXAMINATION-: </a:t>
            </a:r>
          </a:p>
          <a:p>
            <a:pPr>
              <a:buFont typeface="Wingdings" pitchFamily="2" charset="2"/>
              <a:buChar char="Ø"/>
            </a:pPr>
            <a:r>
              <a:rPr lang="en-US" sz="1000" b="1" dirty="0" smtClean="0"/>
              <a:t>INSPECTION SHAPE OF ABDOMEN: Longitudinally enlarged, </a:t>
            </a:r>
            <a:r>
              <a:rPr lang="nn-NO" sz="1000" b="1" dirty="0" smtClean="0"/>
              <a:t>SKIN OVER ABDOMEN: Linea Nigra, </a:t>
            </a:r>
          </a:p>
          <a:p>
            <a:pPr>
              <a:buFont typeface="Wingdings" pitchFamily="2" charset="2"/>
              <a:buChar char="Ø"/>
            </a:pPr>
            <a:r>
              <a:rPr lang="en-US" sz="1000" b="1" dirty="0" smtClean="0"/>
              <a:t>PALPATION: FUNDAL GRIP: BREECH, RIGHT UMBILICAL GRIP: LIMB BUDS, LEFT UMBILICAL GRIP: SPINE, FIRST PELVIC GRIP: CEPHALIC</a:t>
            </a:r>
            <a:endParaRPr lang="en-US" sz="1000" dirty="0" smtClean="0"/>
          </a:p>
          <a:p>
            <a:pPr>
              <a:buFont typeface="Wingdings" pitchFamily="2" charset="2"/>
              <a:buChar char="Ø"/>
            </a:pPr>
            <a:r>
              <a:rPr lang="en-US" sz="1000" b="1" dirty="0" smtClean="0"/>
              <a:t>SECOND PELVIC GRIP: Unengaged</a:t>
            </a:r>
            <a:endParaRPr lang="en-US" sz="1000" dirty="0" smtClean="0"/>
          </a:p>
          <a:p>
            <a:pPr>
              <a:buFont typeface="Wingdings" pitchFamily="2" charset="2"/>
              <a:buChar char="Ø"/>
            </a:pPr>
            <a:r>
              <a:rPr lang="en-US" sz="1000" b="1" dirty="0" smtClean="0"/>
              <a:t>LOCAL EXAMINATION : Uterus- term, relaxed. Cephalic. Fh-145bpm</a:t>
            </a:r>
            <a:endParaRPr lang="en-US" sz="1000" dirty="0" smtClean="0"/>
          </a:p>
          <a:p>
            <a:endParaRPr lang="en-US" sz="1000" dirty="0" smtClean="0"/>
          </a:p>
          <a:p>
            <a:endParaRPr lang="en-US" sz="1000" dirty="0" smtClean="0"/>
          </a:p>
          <a:p>
            <a:endParaRPr lang="en-US" sz="1000" dirty="0" smtClean="0"/>
          </a:p>
          <a:p>
            <a:r>
              <a:rPr lang="en-US" sz="1000" dirty="0" smtClean="0"/>
              <a:t/>
            </a:r>
            <a:br>
              <a:rPr lang="en-US" sz="1000" dirty="0" smtClean="0"/>
            </a:br>
            <a:endParaRPr lang="nn-NO" sz="1000" dirty="0" smtClean="0"/>
          </a:p>
          <a:p>
            <a:pPr>
              <a:lnSpc>
                <a:spcPts val="1679"/>
              </a:lnSpc>
              <a:buFont typeface="Arial" pitchFamily="34" charset="0"/>
              <a:buChar char="•"/>
            </a:pPr>
            <a:endParaRPr lang="en-US" sz="1000" dirty="0" smtClean="0"/>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704154"/>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418270"/>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323987"/>
          </a:xfrm>
          <a:prstGeom prst="rect">
            <a:avLst/>
          </a:prstGeom>
          <a:noFill/>
        </p:spPr>
        <p:txBody>
          <a:bodyPr wrap="square" rtlCol="0">
            <a:spAutoFit/>
          </a:bodyPr>
          <a:lstStyle/>
          <a:p>
            <a:r>
              <a:rPr lang="en-US" sz="1400" b="1" dirty="0" smtClean="0"/>
              <a:t>Chief Complaints : </a:t>
            </a:r>
            <a:r>
              <a:rPr lang="en-US" sz="1400" dirty="0" smtClean="0"/>
              <a:t>22 yr old </a:t>
            </a:r>
            <a:r>
              <a:rPr lang="en-US" sz="1400" dirty="0" err="1" smtClean="0"/>
              <a:t>primigravida</a:t>
            </a:r>
            <a:r>
              <a:rPr lang="en-US" sz="1400" dirty="0" smtClean="0"/>
              <a:t> with 9 months of </a:t>
            </a:r>
            <a:r>
              <a:rPr lang="en-US" sz="1400" dirty="0" err="1" smtClean="0"/>
              <a:t>ammenorhea</a:t>
            </a:r>
            <a:r>
              <a:rPr lang="en-US" sz="1400" dirty="0" smtClean="0"/>
              <a:t> (38 weeks + 4days)  came for regular ANC  and admitted for safe confinement   </a:t>
            </a:r>
          </a:p>
          <a:p>
            <a:r>
              <a:rPr lang="en-US" sz="1400" b="1" dirty="0" smtClean="0"/>
              <a:t>History of Presenting Illness: </a:t>
            </a:r>
            <a:r>
              <a:rPr lang="en-US" sz="1400" dirty="0" smtClean="0"/>
              <a:t>Patient Came for regular ANC , admitted for safe confinement. Perceiving fetal movements well</a:t>
            </a:r>
          </a:p>
          <a:p>
            <a:r>
              <a:rPr lang="en-US" sz="1400" dirty="0" smtClean="0"/>
              <a:t>No h/o abdominal pain, bleeding </a:t>
            </a:r>
            <a:r>
              <a:rPr lang="en-US" sz="1400" dirty="0" err="1" smtClean="0"/>
              <a:t>pv</a:t>
            </a:r>
            <a:r>
              <a:rPr lang="en-US" sz="1400" dirty="0" smtClean="0"/>
              <a:t>, leaking </a:t>
            </a:r>
            <a:r>
              <a:rPr lang="en-US" sz="1400" dirty="0" err="1" smtClean="0"/>
              <a:t>pv</a:t>
            </a:r>
            <a:endParaRPr lang="en-US" sz="1400" dirty="0" smtClean="0"/>
          </a:p>
          <a:p>
            <a:r>
              <a:rPr lang="en-US" sz="1400" b="1" dirty="0" smtClean="0"/>
              <a:t>Past Medical History: </a:t>
            </a:r>
            <a:r>
              <a:rPr lang="en-US" sz="1400" dirty="0" err="1" smtClean="0"/>
              <a:t>Gdm</a:t>
            </a:r>
            <a:r>
              <a:rPr lang="en-US" sz="1400" dirty="0" smtClean="0"/>
              <a:t> on insulin inj. Insulin R 2-2-2.</a:t>
            </a:r>
          </a:p>
          <a:p>
            <a:r>
              <a:rPr lang="en-US" sz="1400" dirty="0" smtClean="0"/>
              <a:t> </a:t>
            </a:r>
            <a:r>
              <a:rPr lang="en-US" sz="1400" b="1" dirty="0" smtClean="0"/>
              <a:t>Personal / Family </a:t>
            </a:r>
            <a:r>
              <a:rPr lang="en-US" sz="1400" b="1" dirty="0" err="1" smtClean="0"/>
              <a:t>History:</a:t>
            </a:r>
            <a:r>
              <a:rPr lang="en-US" sz="1400" dirty="0" err="1" smtClean="0"/>
              <a:t>Personal</a:t>
            </a:r>
            <a:r>
              <a:rPr lang="en-US" sz="1400" dirty="0" smtClean="0"/>
              <a:t> History </a:t>
            </a:r>
          </a:p>
          <a:p>
            <a:r>
              <a:rPr lang="en-US" sz="1400" dirty="0" smtClean="0"/>
              <a:t>consumes mixed diet, normal bowel and bladder habits, adequate sleep pattern.</a:t>
            </a:r>
          </a:p>
          <a:p>
            <a:endParaRPr lang="en-US" sz="1400" dirty="0" smtClean="0"/>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632584"/>
            <a:ext cx="3000396" cy="872034"/>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Gestational diabetes mellitus</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Overt diabetes</a:t>
            </a:r>
          </a:p>
          <a:p>
            <a:pPr>
              <a:lnSpc>
                <a:spcPts val="1679"/>
              </a:lnSpc>
              <a:buFont typeface="Arial" pitchFamily="34" charset="0"/>
              <a:buChar char="•"/>
            </a:pPr>
            <a:r>
              <a:rPr lang="en-US" sz="1200" dirty="0" smtClean="0"/>
              <a:t>Cushing disease</a:t>
            </a:r>
          </a:p>
          <a:p>
            <a:pPr>
              <a:lnSpc>
                <a:spcPts val="1679"/>
              </a:lnSpc>
              <a:buFont typeface="Arial" pitchFamily="34" charset="0"/>
              <a:buChar char="•"/>
            </a:pPr>
            <a:r>
              <a:rPr lang="en-US" sz="1200" dirty="0" err="1" smtClean="0"/>
              <a:t>Pheochromocytoma</a:t>
            </a:r>
            <a:r>
              <a:rPr lang="en-US" sz="1200" dirty="0" smtClean="0"/>
              <a:t>,</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8061344"/>
            <a:ext cx="7217960" cy="1308050"/>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FBS, PPBS, TFT, ultrasound</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FBS: 92 mg/dl; PPBS:  86 mg/dl</a:t>
            </a:r>
          </a:p>
          <a:p>
            <a:pPr>
              <a:lnSpc>
                <a:spcPts val="1679"/>
              </a:lnSpc>
              <a:buFont typeface="Arial" pitchFamily="34" charset="0"/>
              <a:buChar char="•"/>
            </a:pPr>
            <a:r>
              <a:rPr lang="en-US" sz="1200" dirty="0" smtClean="0"/>
              <a:t>Diabetic diet. Adequate hydration </a:t>
            </a:r>
          </a:p>
          <a:p>
            <a:pPr>
              <a:lnSpc>
                <a:spcPts val="1679"/>
              </a:lnSpc>
              <a:buFont typeface="Arial" pitchFamily="34" charset="0"/>
              <a:buChar char="•"/>
            </a:pPr>
            <a:r>
              <a:rPr lang="en-US" sz="1200" dirty="0" smtClean="0"/>
              <a:t>Tab. LIVOGEN PO OD</a:t>
            </a:r>
          </a:p>
          <a:p>
            <a:pPr>
              <a:lnSpc>
                <a:spcPts val="1679"/>
              </a:lnSpc>
              <a:buFont typeface="Arial" pitchFamily="34" charset="0"/>
              <a:buChar char="•"/>
            </a:pPr>
            <a:r>
              <a:rPr lang="en-US" sz="1200" dirty="0" smtClean="0"/>
              <a:t>Tab CALCIUM 500 mg PO </a:t>
            </a:r>
            <a:r>
              <a:rPr lang="en-US" sz="1200" dirty="0" err="1" smtClean="0"/>
              <a:t>od</a:t>
            </a:r>
            <a:endParaRPr lang="en-US" sz="1200" dirty="0" smtClean="0"/>
          </a:p>
          <a:p>
            <a:pPr>
              <a:lnSpc>
                <a:spcPts val="1679"/>
              </a:lnSpc>
              <a:buFont typeface="Arial" pitchFamily="34" charset="0"/>
              <a:buChar char="•"/>
            </a:pPr>
            <a:r>
              <a:rPr lang="en-US" sz="1200" dirty="0" smtClean="0"/>
              <a:t>INJ HA 2U-2U-2U</a:t>
            </a:r>
            <a:endParaRPr lang="en-US" sz="1200" dirty="0" smtClean="0">
              <a:solidFill>
                <a:srgbClr val="000000"/>
              </a:solidFill>
              <a:latin typeface="Cambria"/>
              <a:ea typeface="Cambria"/>
              <a:cs typeface="Cambria"/>
              <a:sym typeface="Cambria"/>
            </a:endParaRPr>
          </a:p>
        </p:txBody>
      </p:sp>
      <p:sp>
        <p:nvSpPr>
          <p:cNvPr id="54" name="TextBox 53"/>
          <p:cNvSpPr txBox="1"/>
          <p:nvPr/>
        </p:nvSpPr>
        <p:spPr>
          <a:xfrm>
            <a:off x="11199838" y="4346568"/>
            <a:ext cx="3357586" cy="246221"/>
          </a:xfrm>
          <a:prstGeom prst="rect">
            <a:avLst/>
          </a:prstGeom>
          <a:noFill/>
        </p:spPr>
        <p:txBody>
          <a:bodyPr wrap="square" rtlCol="0">
            <a:spAutoFit/>
          </a:bodyPr>
          <a:lstStyle/>
          <a:p>
            <a:r>
              <a:rPr lang="en-IN" sz="1000" dirty="0" smtClean="0"/>
              <a:t>=</a:t>
            </a:r>
            <a:endParaRPr lang="en-US" sz="1000" dirty="0"/>
          </a:p>
        </p:txBody>
      </p:sp>
      <p:pic>
        <p:nvPicPr>
          <p:cNvPr id="2050"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sp>
        <p:nvSpPr>
          <p:cNvPr id="56" name="TextBox 50"/>
          <p:cNvSpPr txBox="1"/>
          <p:nvPr/>
        </p:nvSpPr>
        <p:spPr>
          <a:xfrm>
            <a:off x="11557028" y="434656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pic>
        <p:nvPicPr>
          <p:cNvPr id="2051" name="Picture 3"/>
          <p:cNvPicPr>
            <a:picLocks noChangeAspect="1" noChangeArrowheads="1"/>
          </p:cNvPicPr>
          <p:nvPr/>
        </p:nvPicPr>
        <p:blipFill>
          <a:blip r:embed="rId4"/>
          <a:srcRect/>
          <a:stretch>
            <a:fillRect/>
          </a:stretch>
        </p:blipFill>
        <p:spPr bwMode="auto">
          <a:xfrm>
            <a:off x="412700" y="1489048"/>
            <a:ext cx="6643734" cy="4786346"/>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a:srcRect t="13120" b="10349"/>
          <a:stretch>
            <a:fillRect/>
          </a:stretch>
        </p:blipFill>
        <p:spPr bwMode="auto">
          <a:xfrm>
            <a:off x="412700" y="6275394"/>
            <a:ext cx="6572296" cy="2643206"/>
          </a:xfrm>
          <a:prstGeom prst="rect">
            <a:avLst/>
          </a:prstGeom>
          <a:noFill/>
          <a:ln w="9525">
            <a:noFill/>
            <a:miter lim="800000"/>
            <a:headEnd/>
            <a:tailEnd/>
          </a:ln>
          <a:effectLst/>
        </p:spPr>
      </p:pic>
      <p:sp>
        <p:nvSpPr>
          <p:cNvPr id="57" name="TextBox 49"/>
          <p:cNvSpPr txBox="1"/>
          <p:nvPr/>
        </p:nvSpPr>
        <p:spPr>
          <a:xfrm>
            <a:off x="11504020" y="8561410"/>
            <a:ext cx="7217960" cy="204158"/>
          </a:xfrm>
          <a:prstGeom prst="rect">
            <a:avLst/>
          </a:prstGeom>
        </p:spPr>
        <p:txBody>
          <a:bodyPr lIns="0" tIns="0" rIns="0" bIns="0" rtlCol="0" anchor="t">
            <a:spAutoFit/>
          </a:bodyPr>
          <a:lstStyle/>
          <a:p>
            <a:pPr>
              <a:lnSpc>
                <a:spcPts val="1679"/>
              </a:lnSpc>
              <a:buFont typeface="Arial" pitchFamily="34" charset="0"/>
              <a:buChar char="•"/>
            </a:pPr>
            <a:r>
              <a:rPr lang="en-US" sz="1200" dirty="0" smtClean="0"/>
              <a:t>CAP CANSOFT CL H/S × 5DAYS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4"/>
              <a:ext cx="7475347" cy="2112361"/>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921283"/>
              <a:ext cx="7475347" cy="1225217"/>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38335"/>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3</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240424200169</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 normal antenatal checkup</a:t>
            </a: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Gunamani</a:t>
            </a:r>
            <a:r>
              <a:rPr lang="en-US" sz="1600" b="1" dirty="0" smtClean="0">
                <a:solidFill>
                  <a:srgbClr val="000000"/>
                </a:solidFill>
                <a:latin typeface="Cambria Bold"/>
                <a:ea typeface="Cambria Bold"/>
                <a:cs typeface="Cambria Bold"/>
                <a:sym typeface="Cambria Bold"/>
              </a:rPr>
              <a:t> M</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29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199310" y="4203692"/>
            <a:ext cx="7334837" cy="3167534"/>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BP-100/60mmHg,RR-16/min,Sp02-97%,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r>
              <a:rPr lang="en-US" sz="1000" b="1" dirty="0" smtClean="0"/>
              <a:t> ABDOMEN EXAMINATION-: </a:t>
            </a:r>
          </a:p>
          <a:p>
            <a:pPr>
              <a:buFont typeface="Wingdings" pitchFamily="2" charset="2"/>
              <a:buChar char="Ø"/>
            </a:pPr>
            <a:r>
              <a:rPr lang="en-US" sz="1000" b="1" dirty="0" smtClean="0"/>
              <a:t>INSPECTION SHAPE OF ABDOMEN: Longitudinally enlarged, </a:t>
            </a:r>
            <a:r>
              <a:rPr lang="nn-NO" sz="1000" b="1" dirty="0" smtClean="0"/>
              <a:t>SKIN OVER ABDOMEN: Linea Nigra, </a:t>
            </a:r>
          </a:p>
          <a:p>
            <a:pPr>
              <a:buFont typeface="Wingdings" pitchFamily="2" charset="2"/>
              <a:buChar char="Ø"/>
            </a:pPr>
            <a:r>
              <a:rPr lang="en-US" sz="1000" b="1" dirty="0" smtClean="0"/>
              <a:t>PALPATION: FUNDAL GRIP: BREECH, RIGHT UMBILICAL GRIP: LIMB BUDS, LEFT UMBILICAL GRIP: SPINE, FIRST PELVIC GRIP: CEPHALIC</a:t>
            </a:r>
            <a:endParaRPr lang="en-US" sz="1000" dirty="0" smtClean="0"/>
          </a:p>
          <a:p>
            <a:pPr>
              <a:buFont typeface="Wingdings" pitchFamily="2" charset="2"/>
              <a:buChar char="Ø"/>
            </a:pPr>
            <a:r>
              <a:rPr lang="en-US" sz="1000" b="1" dirty="0" smtClean="0"/>
              <a:t>SECOND PELVIC GRIP: Unengaged</a:t>
            </a:r>
            <a:endParaRPr lang="en-US" sz="1000" dirty="0" smtClean="0"/>
          </a:p>
          <a:p>
            <a:pPr>
              <a:buFont typeface="Wingdings" pitchFamily="2" charset="2"/>
              <a:buChar char="Ø"/>
            </a:pPr>
            <a:r>
              <a:rPr lang="en-US" sz="1000" b="1" dirty="0" smtClean="0"/>
              <a:t>LOCAL EXAMINATION : Uterus term, relaxed, cephalic, FH+ 140bpm, </a:t>
            </a:r>
            <a:r>
              <a:rPr lang="en-US" sz="1000" b="1" dirty="0" err="1" smtClean="0"/>
              <a:t>spt</a:t>
            </a:r>
            <a:r>
              <a:rPr lang="en-US" sz="1000" b="1" dirty="0" smtClean="0"/>
              <a:t> scar+, no scar tenderness</a:t>
            </a:r>
            <a:endParaRPr lang="en-US" sz="1000" dirty="0" smtClean="0"/>
          </a:p>
          <a:p>
            <a:pPr>
              <a:lnSpc>
                <a:spcPts val="1679"/>
              </a:lnSpc>
              <a:buFont typeface="Arial" pitchFamily="34" charset="0"/>
              <a:buChar char="•"/>
            </a:pPr>
            <a:endParaRPr lang="en-US" sz="1000" b="1" dirty="0" smtClean="0">
              <a:solidFill>
                <a:srgbClr val="000000"/>
              </a:solidFill>
              <a:latin typeface="Cambria Bold"/>
              <a:ea typeface="Cambria Bold"/>
              <a:cs typeface="Cambria Bold"/>
              <a:sym typeface="Cambria Bold"/>
            </a:endParaRPr>
          </a:p>
          <a:p>
            <a:pPr>
              <a:lnSpc>
                <a:spcPts val="1679"/>
              </a:lnSpc>
              <a:buFont typeface="Arial" pitchFamily="34" charset="0"/>
              <a:buChar char="•"/>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199310" y="6346832"/>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2092881"/>
          </a:xfrm>
          <a:prstGeom prst="rect">
            <a:avLst/>
          </a:prstGeom>
          <a:noFill/>
        </p:spPr>
        <p:txBody>
          <a:bodyPr wrap="square" rtlCol="0">
            <a:spAutoFit/>
          </a:bodyPr>
          <a:lstStyle/>
          <a:p>
            <a:r>
              <a:rPr lang="en-US" sz="1400" b="1" dirty="0" smtClean="0"/>
              <a:t>Chief Complaints </a:t>
            </a:r>
            <a:r>
              <a:rPr lang="en-US" sz="1400" dirty="0" smtClean="0"/>
              <a:t>Patient Came for regular ANC  , admitted for safe confinement  38 weeks  + 1 day,</a:t>
            </a:r>
          </a:p>
          <a:p>
            <a:r>
              <a:rPr lang="en-US" sz="1400" b="1" dirty="0" smtClean="0"/>
              <a:t>History of Presenting Illness: </a:t>
            </a:r>
            <a:r>
              <a:rPr lang="en-US" sz="1400" dirty="0" smtClean="0"/>
              <a:t>Patient Came for regular ANC , admitted for safe confinement. Perceiving fetal movements well</a:t>
            </a:r>
          </a:p>
          <a:p>
            <a:r>
              <a:rPr lang="en-US" sz="1400" dirty="0" smtClean="0"/>
              <a:t>No h/o abdominal pain, bleeding </a:t>
            </a:r>
            <a:r>
              <a:rPr lang="en-US" sz="1400" dirty="0" err="1" smtClean="0"/>
              <a:t>pv</a:t>
            </a:r>
            <a:r>
              <a:rPr lang="en-US" sz="1400" dirty="0" smtClean="0"/>
              <a:t>, leaking </a:t>
            </a:r>
            <a:r>
              <a:rPr lang="en-US" sz="1400" dirty="0" err="1" smtClean="0"/>
              <a:t>pv</a:t>
            </a:r>
            <a:endParaRPr lang="en-US" sz="1400" dirty="0" smtClean="0"/>
          </a:p>
          <a:p>
            <a:r>
              <a:rPr lang="en-US" sz="1400" b="1" dirty="0" smtClean="0"/>
              <a:t>PAST MEDICAL HISTORY</a:t>
            </a:r>
            <a:r>
              <a:rPr lang="en-US" sz="1400" dirty="0" smtClean="0"/>
              <a:t>: Hypothyroidism on T. </a:t>
            </a:r>
            <a:r>
              <a:rPr lang="en-US" sz="1400" dirty="0" err="1" smtClean="0"/>
              <a:t>Thyronorm</a:t>
            </a:r>
            <a:r>
              <a:rPr lang="en-US" sz="1400" dirty="0" smtClean="0"/>
              <a:t> 25mcg OD</a:t>
            </a:r>
          </a:p>
          <a:p>
            <a:r>
              <a:rPr lang="en-US" sz="1400" dirty="0" smtClean="0"/>
              <a:t> </a:t>
            </a:r>
            <a:r>
              <a:rPr lang="en-US" sz="1400" b="1" dirty="0" smtClean="0"/>
              <a:t>Personal / Family History:</a:t>
            </a:r>
            <a:r>
              <a:rPr lang="en-US" sz="1400" dirty="0" smtClean="0"/>
              <a:t> Normal bowel and bladder habits, adequate sleep pattern.</a:t>
            </a:r>
          </a:p>
        </p:txBody>
      </p:sp>
      <p:sp>
        <p:nvSpPr>
          <p:cNvPr id="52" name="TextBox 50"/>
          <p:cNvSpPr txBox="1"/>
          <p:nvPr/>
        </p:nvSpPr>
        <p:spPr>
          <a:xfrm>
            <a:off x="7270748" y="6632584"/>
            <a:ext cx="2428892" cy="872034"/>
          </a:xfrm>
          <a:prstGeom prst="rect">
            <a:avLst/>
          </a:prstGeom>
        </p:spPr>
        <p:txBody>
          <a:bodyPr wrap="square" lIns="0" tIns="0" rIns="0" bIns="0" rtlCol="0" anchor="t">
            <a:spAutoFit/>
          </a:bodyPr>
          <a:lstStyle/>
          <a:p>
            <a:pPr>
              <a:lnSpc>
                <a:spcPts val="1679"/>
              </a:lnSpc>
              <a:buFont typeface="Arial" pitchFamily="34" charset="0"/>
              <a:buChar char="•"/>
            </a:pPr>
            <a:r>
              <a:rPr lang="en-US" sz="1200" dirty="0" err="1" smtClean="0"/>
              <a:t>Pyelonephritis</a:t>
            </a:r>
            <a:endParaRPr lang="en-US" sz="1200" dirty="0" smtClean="0"/>
          </a:p>
          <a:p>
            <a:pPr>
              <a:lnSpc>
                <a:spcPts val="1679"/>
              </a:lnSpc>
              <a:buFont typeface="Arial" pitchFamily="34" charset="0"/>
              <a:buChar char="•"/>
            </a:pPr>
            <a:r>
              <a:rPr lang="en-US" sz="1200" dirty="0" err="1" smtClean="0"/>
              <a:t>Cholecystitis</a:t>
            </a:r>
            <a:r>
              <a:rPr lang="en-US" sz="1200" dirty="0" smtClean="0"/>
              <a:t> </a:t>
            </a:r>
          </a:p>
          <a:p>
            <a:pPr>
              <a:lnSpc>
                <a:spcPts val="1679"/>
              </a:lnSpc>
              <a:buFont typeface="Arial" pitchFamily="34" charset="0"/>
              <a:buChar char="•"/>
            </a:pPr>
            <a:r>
              <a:rPr lang="en-US" sz="1200" dirty="0" smtClean="0"/>
              <a:t>Fibroid degeneration</a:t>
            </a:r>
          </a:p>
          <a:p>
            <a:pPr>
              <a:lnSpc>
                <a:spcPts val="1679"/>
              </a:lnSpc>
              <a:buFont typeface="Arial" pitchFamily="34" charset="0"/>
              <a:buChar char="•"/>
            </a:pPr>
            <a:r>
              <a:rPr lang="en-US" sz="1200" dirty="0" smtClean="0"/>
              <a:t>Concealed </a:t>
            </a:r>
            <a:r>
              <a:rPr lang="en-US" sz="1200" dirty="0" err="1" smtClean="0"/>
              <a:t>haemorrhage</a:t>
            </a:r>
            <a:endParaRPr lang="en-US" sz="1200" u="sng" dirty="0">
              <a:solidFill>
                <a:srgbClr val="000000"/>
              </a:solidFill>
              <a:latin typeface="Cambria"/>
              <a:ea typeface="Cambria"/>
              <a:cs typeface="Cambria"/>
              <a:sym typeface="Cambria"/>
            </a:endParaRPr>
          </a:p>
        </p:txBody>
      </p:sp>
      <p:sp>
        <p:nvSpPr>
          <p:cNvPr id="55" name="TextBox 49"/>
          <p:cNvSpPr txBox="1"/>
          <p:nvPr/>
        </p:nvSpPr>
        <p:spPr>
          <a:xfrm>
            <a:off x="7270748" y="7918468"/>
            <a:ext cx="7217960" cy="1308050"/>
          </a:xfrm>
          <a:prstGeom prst="rect">
            <a:avLst/>
          </a:prstGeom>
        </p:spPr>
        <p:txBody>
          <a:bodyPr lIns="0" tIns="0" rIns="0" bIns="0" rtlCol="0" anchor="t">
            <a:spAutoFit/>
          </a:bodyPr>
          <a:lstStyle/>
          <a:p>
            <a:pPr>
              <a:lnSpc>
                <a:spcPts val="1679"/>
              </a:lnSpc>
            </a:pPr>
            <a:r>
              <a:rPr lang="en-IN" sz="1200" dirty="0" smtClean="0">
                <a:solidFill>
                  <a:srgbClr val="000000"/>
                </a:solidFill>
                <a:latin typeface="Cambria"/>
                <a:ea typeface="Cambria"/>
                <a:cs typeface="Cambria"/>
                <a:sym typeface="Cambria"/>
              </a:rPr>
              <a:t>Patient was advised to take CBC and growth scan was  done</a:t>
            </a:r>
          </a:p>
          <a:p>
            <a:pPr>
              <a:lnSpc>
                <a:spcPts val="1679"/>
              </a:lnSpc>
              <a:buFont typeface="Arial" pitchFamily="34" charset="0"/>
              <a:buChar char="•"/>
            </a:pPr>
            <a:r>
              <a:rPr lang="en-US" sz="1200" dirty="0" smtClean="0"/>
              <a:t> Patient was advised to take normal diet  LLP/FKC/FHR MONITOR, NST MONITORING.</a:t>
            </a:r>
          </a:p>
          <a:p>
            <a:pPr>
              <a:lnSpc>
                <a:spcPts val="1679"/>
              </a:lnSpc>
              <a:buFont typeface="Arial" pitchFamily="34" charset="0"/>
              <a:buChar char="•"/>
            </a:pPr>
            <a:r>
              <a:rPr lang="en-US" sz="1200" dirty="0" smtClean="0"/>
              <a:t> T. LIVOGEN BD</a:t>
            </a:r>
          </a:p>
          <a:p>
            <a:pPr>
              <a:lnSpc>
                <a:spcPts val="1679"/>
              </a:lnSpc>
              <a:buFont typeface="Arial" pitchFamily="34" charset="0"/>
              <a:buChar char="•"/>
            </a:pPr>
            <a:r>
              <a:rPr lang="en-US" sz="1200" dirty="0" smtClean="0"/>
              <a:t>T.CALCIUM 500MG OD</a:t>
            </a:r>
          </a:p>
          <a:p>
            <a:pPr>
              <a:lnSpc>
                <a:spcPts val="1679"/>
              </a:lnSpc>
              <a:buFont typeface="Arial" pitchFamily="34" charset="0"/>
              <a:buChar char="•"/>
            </a:pPr>
            <a:r>
              <a:rPr lang="en-US" sz="1200" dirty="0" smtClean="0"/>
              <a:t> T. THYRONORM 25mcg OD</a:t>
            </a:r>
            <a:endParaRPr lang="en-IN" sz="1200" dirty="0" smtClean="0">
              <a:solidFill>
                <a:srgbClr val="000000"/>
              </a:solidFill>
              <a:latin typeface="Cambria"/>
              <a:ea typeface="Cambria"/>
              <a:cs typeface="Cambria"/>
              <a:sym typeface="Cambria"/>
            </a:endParaRPr>
          </a:p>
          <a:p>
            <a:pPr>
              <a:lnSpc>
                <a:spcPts val="1679"/>
              </a:lnSpc>
            </a:pPr>
            <a:endParaRPr lang="en-US" sz="1200" dirty="0" smtClean="0">
              <a:solidFill>
                <a:srgbClr val="000000"/>
              </a:solidFill>
              <a:latin typeface="Cambria"/>
              <a:ea typeface="Cambria"/>
              <a:cs typeface="Cambria"/>
              <a:sym typeface="Cambria"/>
            </a:endParaRPr>
          </a:p>
        </p:txBody>
      </p:sp>
      <p:pic>
        <p:nvPicPr>
          <p:cNvPr id="3074" name="Picture 2"/>
          <p:cNvPicPr>
            <a:picLocks noChangeAspect="1" noChangeArrowheads="1"/>
          </p:cNvPicPr>
          <p:nvPr/>
        </p:nvPicPr>
        <p:blipFill>
          <a:blip r:embed="rId3"/>
          <a:srcRect/>
          <a:stretch>
            <a:fillRect/>
          </a:stretch>
        </p:blipFill>
        <p:spPr bwMode="auto">
          <a:xfrm>
            <a:off x="12485722" y="1631924"/>
            <a:ext cx="2214578" cy="2500330"/>
          </a:xfrm>
          <a:prstGeom prst="rect">
            <a:avLst/>
          </a:prstGeom>
          <a:noFill/>
          <a:ln w="9525">
            <a:noFill/>
            <a:miter lim="800000"/>
            <a:headEnd/>
            <a:tailEnd/>
          </a:ln>
          <a:effectLst/>
        </p:spPr>
      </p:pic>
      <p:pic>
        <p:nvPicPr>
          <p:cNvPr id="56" name="Picture 55" descr="photo_2025-01-18_22-29-58.jpg"/>
          <p:cNvPicPr>
            <a:picLocks noChangeAspect="1"/>
          </p:cNvPicPr>
          <p:nvPr/>
        </p:nvPicPr>
        <p:blipFill>
          <a:blip r:embed="rId4"/>
          <a:stretch>
            <a:fillRect/>
          </a:stretch>
        </p:blipFill>
        <p:spPr>
          <a:xfrm>
            <a:off x="484138" y="1489048"/>
            <a:ext cx="3429024" cy="7429552"/>
          </a:xfrm>
          <a:prstGeom prst="rect">
            <a:avLst/>
          </a:prstGeom>
        </p:spPr>
      </p:pic>
      <p:pic>
        <p:nvPicPr>
          <p:cNvPr id="57" name="Picture 56" descr="photo_2025-01-18_22-30-01.jpg"/>
          <p:cNvPicPr>
            <a:picLocks noChangeAspect="1"/>
          </p:cNvPicPr>
          <p:nvPr/>
        </p:nvPicPr>
        <p:blipFill>
          <a:blip r:embed="rId5"/>
          <a:stretch>
            <a:fillRect/>
          </a:stretch>
        </p:blipFill>
        <p:spPr>
          <a:xfrm>
            <a:off x="3913163" y="1489048"/>
            <a:ext cx="3071834" cy="7429552"/>
          </a:xfrm>
          <a:prstGeom prst="rect">
            <a:avLst/>
          </a:prstGeom>
        </p:spPr>
      </p:pic>
      <p:sp>
        <p:nvSpPr>
          <p:cNvPr id="58" name="TextBox 50"/>
          <p:cNvSpPr txBox="1"/>
          <p:nvPr/>
        </p:nvSpPr>
        <p:spPr>
          <a:xfrm>
            <a:off x="11557028" y="434656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341262" y="1489048"/>
            <a:ext cx="14251939" cy="8328140"/>
            <a:chOff x="63500" y="63500"/>
            <a:chExt cx="14251939" cy="8328140"/>
          </a:xfrm>
        </p:grpSpPr>
        <p:sp>
          <p:nvSpPr>
            <p:cNvPr id="5" name="Freeform 5"/>
            <p:cNvSpPr/>
            <p:nvPr/>
          </p:nvSpPr>
          <p:spPr>
            <a:xfrm>
              <a:off x="134938" y="63500"/>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4"/>
              <a:ext cx="7475347" cy="2112361"/>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4</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23050985849</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smtClean="0">
                <a:solidFill>
                  <a:srgbClr val="000000"/>
                </a:solidFill>
                <a:latin typeface="Cambria Bold Italics"/>
                <a:ea typeface="Cambria Bold Italics"/>
                <a:cs typeface="Cambria Bold Italics"/>
                <a:sym typeface="Cambria Bold Italics"/>
              </a:rPr>
              <a:t>A case of </a:t>
            </a:r>
            <a:r>
              <a:rPr lang="it-IT" sz="2400" b="1" dirty="0" smtClean="0">
                <a:latin typeface="Cambria Bold Italics" charset="0"/>
              </a:rPr>
              <a:t> antenatal checkup</a:t>
            </a:r>
            <a:r>
              <a:rPr lang="en-US" sz="2199" b="1" i="1" dirty="0" smtClean="0">
                <a:solidFill>
                  <a:srgbClr val="000000"/>
                </a:solidFill>
                <a:latin typeface="Cambria Bold" charset="0"/>
                <a:ea typeface="Cambria Bold Italics"/>
                <a:cs typeface="Cambria Bold Italics"/>
                <a:sym typeface="Cambria Bold Italics"/>
              </a:rPr>
              <a:t> </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Lakshmi</a:t>
            </a:r>
            <a:r>
              <a:rPr lang="en-US" sz="1600" b="1" dirty="0" smtClean="0">
                <a:solidFill>
                  <a:srgbClr val="000000"/>
                </a:solidFill>
                <a:latin typeface="Cambria Bold"/>
                <a:ea typeface="Cambria Bold"/>
                <a:cs typeface="Cambria Bold"/>
                <a:sym typeface="Cambria Bold"/>
              </a:rPr>
              <a:t> G</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23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199310" y="4203692"/>
            <a:ext cx="7334837" cy="2949525"/>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BP-100/60mmHg,RR-16/min,Sp02-97%,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r>
              <a:rPr lang="en-US" sz="1000" b="1" dirty="0" smtClean="0"/>
              <a:t> ABDOMEN EXAMINATION-: </a:t>
            </a:r>
          </a:p>
          <a:p>
            <a:pPr>
              <a:buFont typeface="Wingdings" pitchFamily="2" charset="2"/>
              <a:buChar char="Ø"/>
            </a:pPr>
            <a:r>
              <a:rPr lang="en-US" sz="1000" b="1" dirty="0" smtClean="0"/>
              <a:t>INSPECTION SHAPE OF ABDOMEN: Longitudinally enlarged, </a:t>
            </a:r>
            <a:r>
              <a:rPr lang="nn-NO" sz="1000" b="1" dirty="0" smtClean="0"/>
              <a:t>SKIN OVER ABDOMEN: Linea Nigra, </a:t>
            </a:r>
          </a:p>
          <a:p>
            <a:pPr>
              <a:buFont typeface="Wingdings" pitchFamily="2" charset="2"/>
              <a:buChar char="Ø"/>
            </a:pPr>
            <a:r>
              <a:rPr lang="en-US" sz="1000" b="1" dirty="0" smtClean="0"/>
              <a:t>PALPATION: FUNDAL GRIP: BREECH, RIGHT UMBILICAL GRIP: LIMB BUDS, LEFT UMBILICAL GRIP: SPINE, FIRST PELVIC GRIP: CEPHALIC</a:t>
            </a:r>
            <a:endParaRPr lang="en-US" sz="1000" dirty="0" smtClean="0"/>
          </a:p>
          <a:p>
            <a:pPr>
              <a:buFont typeface="Wingdings" pitchFamily="2" charset="2"/>
              <a:buChar char="Ø"/>
            </a:pPr>
            <a:r>
              <a:rPr lang="en-US" sz="1000" b="1" dirty="0" smtClean="0"/>
              <a:t>SECOND PELVIC GRIP: Unengaged</a:t>
            </a:r>
            <a:endParaRPr lang="en-US" sz="1000" dirty="0" smtClean="0"/>
          </a:p>
          <a:p>
            <a:pPr>
              <a:buFont typeface="Wingdings" pitchFamily="2" charset="2"/>
              <a:buChar char="Ø"/>
            </a:pPr>
            <a:r>
              <a:rPr lang="en-US" sz="1000" b="1" dirty="0" smtClean="0"/>
              <a:t>LOCAL EXAMINATION : Uterus term, relaxed, cephalic, FH+ 140bpm, </a:t>
            </a:r>
            <a:r>
              <a:rPr lang="en-US" sz="1000" b="1" dirty="0" err="1" smtClean="0"/>
              <a:t>spt</a:t>
            </a:r>
            <a:r>
              <a:rPr lang="en-US" sz="1000" b="1" dirty="0" smtClean="0"/>
              <a:t> scar+, no scar tenderness</a:t>
            </a:r>
            <a:endParaRPr lang="en-US" sz="1000" dirty="0" smtClean="0"/>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2893100"/>
          </a:xfrm>
          <a:prstGeom prst="rect">
            <a:avLst/>
          </a:prstGeom>
          <a:noFill/>
        </p:spPr>
        <p:txBody>
          <a:bodyPr wrap="square" rtlCol="0">
            <a:spAutoFit/>
          </a:bodyPr>
          <a:lstStyle/>
          <a:p>
            <a:r>
              <a:rPr lang="en-US" sz="1400" b="1" dirty="0" smtClean="0"/>
              <a:t>Chief Complaint: </a:t>
            </a:r>
            <a:r>
              <a:rPr lang="en-US" sz="1400" dirty="0" smtClean="0"/>
              <a:t>Patient came for antenatal routine checkup</a:t>
            </a:r>
          </a:p>
          <a:p>
            <a:r>
              <a:rPr lang="en-US" sz="1400" b="1" dirty="0" smtClean="0"/>
              <a:t>History of Presenting Illness: </a:t>
            </a:r>
            <a:r>
              <a:rPr lang="en-US" sz="1400" dirty="0" smtClean="0"/>
              <a:t>G2P1L1/</a:t>
            </a:r>
            <a:r>
              <a:rPr lang="en-US" sz="1400" dirty="0" err="1" smtClean="0"/>
              <a:t>prev</a:t>
            </a:r>
            <a:r>
              <a:rPr lang="en-US" sz="1400" dirty="0" smtClean="0"/>
              <a:t> LSCS/ 31 weeks + 6 days/ came for safe confinement . Perceives fetal movements well. No h/o abdominal pain, bleeding </a:t>
            </a:r>
            <a:r>
              <a:rPr lang="en-US" sz="1400" dirty="0" err="1" smtClean="0"/>
              <a:t>pv</a:t>
            </a:r>
            <a:r>
              <a:rPr lang="en-US" sz="1400" dirty="0" smtClean="0"/>
              <a:t>, leaking </a:t>
            </a:r>
            <a:r>
              <a:rPr lang="en-US" sz="1400" dirty="0" err="1" smtClean="0"/>
              <a:t>pv</a:t>
            </a:r>
            <a:r>
              <a:rPr lang="en-US" sz="1400" dirty="0" smtClean="0"/>
              <a:t>. No h/o burning </a:t>
            </a:r>
            <a:r>
              <a:rPr lang="en-US" sz="1400" dirty="0" err="1" smtClean="0"/>
              <a:t>micturition</a:t>
            </a:r>
            <a:r>
              <a:rPr lang="en-US" sz="1400" dirty="0" smtClean="0"/>
              <a:t>, white discharge </a:t>
            </a:r>
            <a:r>
              <a:rPr lang="en-US" sz="1400" dirty="0" err="1" smtClean="0"/>
              <a:t>pv,decreased</a:t>
            </a:r>
            <a:r>
              <a:rPr lang="en-US" sz="1400" dirty="0" smtClean="0"/>
              <a:t> urine output. No h/o fever, cough, breathlessness. No h/o headache, </a:t>
            </a:r>
            <a:r>
              <a:rPr lang="en-US" sz="1400" dirty="0" err="1" smtClean="0"/>
              <a:t>epigastric</a:t>
            </a:r>
            <a:r>
              <a:rPr lang="en-US" sz="1400" dirty="0" smtClean="0"/>
              <a:t> pain or blurring of vision.</a:t>
            </a:r>
          </a:p>
          <a:p>
            <a:r>
              <a:rPr lang="en-US" sz="1400" b="1" dirty="0" smtClean="0"/>
              <a:t>Past Medical History: </a:t>
            </a:r>
            <a:r>
              <a:rPr lang="en-US" sz="1400" dirty="0" smtClean="0"/>
              <a:t>h/o previous LSCS was done. No h/o TB, seizure, GDM,  hypertension</a:t>
            </a:r>
          </a:p>
          <a:p>
            <a:endParaRPr lang="en-US" sz="1400" b="1" dirty="0" smtClean="0"/>
          </a:p>
          <a:p>
            <a:endParaRPr lang="en-US" sz="1400" b="1" dirty="0" smtClean="0"/>
          </a:p>
          <a:p>
            <a:endParaRPr lang="en-US" sz="1400" b="1" dirty="0" smtClean="0"/>
          </a:p>
          <a:p>
            <a:endParaRPr lang="en-US" sz="1400" b="1" dirty="0"/>
          </a:p>
        </p:txBody>
      </p:sp>
      <p:sp>
        <p:nvSpPr>
          <p:cNvPr id="55" name="TextBox 49"/>
          <p:cNvSpPr txBox="1"/>
          <p:nvPr/>
        </p:nvSpPr>
        <p:spPr>
          <a:xfrm>
            <a:off x="7270748" y="7847030"/>
            <a:ext cx="7217960" cy="1744067"/>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growth scan</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CBC was done which shows </a:t>
            </a:r>
            <a:r>
              <a:rPr lang="en-IN" sz="1200" dirty="0" err="1" smtClean="0">
                <a:solidFill>
                  <a:srgbClr val="000000"/>
                </a:solidFill>
                <a:latin typeface="Cambria"/>
                <a:ea typeface="Cambria"/>
                <a:cs typeface="Cambria"/>
                <a:sym typeface="Cambria"/>
              </a:rPr>
              <a:t>hb</a:t>
            </a:r>
            <a:r>
              <a:rPr lang="en-IN" sz="1200" dirty="0" smtClean="0">
                <a:solidFill>
                  <a:srgbClr val="000000"/>
                </a:solidFill>
                <a:latin typeface="Cambria"/>
                <a:ea typeface="Cambria"/>
                <a:cs typeface="Cambria"/>
                <a:sym typeface="Cambria"/>
              </a:rPr>
              <a:t>: 11.5mg/dl</a:t>
            </a:r>
          </a:p>
          <a:p>
            <a:pPr>
              <a:lnSpc>
                <a:spcPts val="1679"/>
              </a:lnSpc>
              <a:buFont typeface="Arial" pitchFamily="34" charset="0"/>
              <a:buChar char="•"/>
            </a:pPr>
            <a:r>
              <a:rPr lang="en-US" sz="1200" dirty="0" err="1" smtClean="0"/>
              <a:t>Tab.Livoden</a:t>
            </a:r>
            <a:r>
              <a:rPr lang="en-US" sz="1200" dirty="0" smtClean="0"/>
              <a:t> OD for 2 weeks</a:t>
            </a:r>
          </a:p>
          <a:p>
            <a:pPr>
              <a:lnSpc>
                <a:spcPts val="1679"/>
              </a:lnSpc>
              <a:buFont typeface="Arial" pitchFamily="34" charset="0"/>
              <a:buChar char="•"/>
            </a:pPr>
            <a:r>
              <a:rPr lang="en-US" sz="1200" dirty="0" smtClean="0"/>
              <a:t> Tab. Calcium OD for 2 weeks </a:t>
            </a:r>
            <a:br>
              <a:rPr lang="en-US" sz="1200" dirty="0" smtClean="0"/>
            </a:br>
            <a:r>
              <a:rPr lang="en-US" sz="1200" dirty="0" smtClean="0"/>
              <a:t>TAB. CEFOTAXIM 200 mg P/O BD</a:t>
            </a:r>
            <a:br>
              <a:rPr lang="en-US" sz="1200" dirty="0" smtClean="0"/>
            </a:br>
            <a:r>
              <a:rPr lang="en-US" sz="1200" dirty="0" smtClean="0"/>
              <a:t>TAB.PANTOPRAZOLE 40 MG P/O OD </a:t>
            </a:r>
            <a:br>
              <a:rPr lang="en-US" sz="1200" dirty="0" smtClean="0"/>
            </a:br>
            <a:r>
              <a:rPr lang="en-US" sz="1200" dirty="0" smtClean="0"/>
              <a:t>TAB. PARACETAMOL 500 MG TDS </a:t>
            </a: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pic>
        <p:nvPicPr>
          <p:cNvPr id="4098" name="Picture 2"/>
          <p:cNvPicPr>
            <a:picLocks noChangeAspect="1" noChangeArrowheads="1"/>
          </p:cNvPicPr>
          <p:nvPr/>
        </p:nvPicPr>
        <p:blipFill>
          <a:blip r:embed="rId3"/>
          <a:srcRect/>
          <a:stretch>
            <a:fillRect/>
          </a:stretch>
        </p:blipFill>
        <p:spPr bwMode="auto">
          <a:xfrm>
            <a:off x="12485722" y="1631924"/>
            <a:ext cx="2214578" cy="2428892"/>
          </a:xfrm>
          <a:prstGeom prst="rect">
            <a:avLst/>
          </a:prstGeom>
          <a:noFill/>
          <a:ln w="9525">
            <a:noFill/>
            <a:miter lim="800000"/>
            <a:headEnd/>
            <a:tailEnd/>
          </a:ln>
          <a:effectLst/>
        </p:spPr>
      </p:pic>
      <p:sp>
        <p:nvSpPr>
          <p:cNvPr id="56" name="TextBox 50"/>
          <p:cNvSpPr txBox="1"/>
          <p:nvPr/>
        </p:nvSpPr>
        <p:spPr>
          <a:xfrm>
            <a:off x="11557028" y="434656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sp>
        <p:nvSpPr>
          <p:cNvPr id="57" name="TextBox 50"/>
          <p:cNvSpPr txBox="1"/>
          <p:nvPr/>
        </p:nvSpPr>
        <p:spPr>
          <a:xfrm>
            <a:off x="7270748" y="6489708"/>
            <a:ext cx="2428892" cy="872034"/>
          </a:xfrm>
          <a:prstGeom prst="rect">
            <a:avLst/>
          </a:prstGeom>
        </p:spPr>
        <p:txBody>
          <a:bodyPr wrap="square" lIns="0" tIns="0" rIns="0" bIns="0" rtlCol="0" anchor="t">
            <a:spAutoFit/>
          </a:bodyPr>
          <a:lstStyle/>
          <a:p>
            <a:pPr>
              <a:lnSpc>
                <a:spcPts val="1679"/>
              </a:lnSpc>
              <a:buFont typeface="Arial" pitchFamily="34" charset="0"/>
              <a:buChar char="•"/>
            </a:pPr>
            <a:r>
              <a:rPr lang="en-US" sz="1200" dirty="0" err="1" smtClean="0"/>
              <a:t>Pyelonephritis</a:t>
            </a:r>
            <a:endParaRPr lang="en-US" sz="1200" dirty="0" smtClean="0"/>
          </a:p>
          <a:p>
            <a:pPr>
              <a:lnSpc>
                <a:spcPts val="1679"/>
              </a:lnSpc>
              <a:buFont typeface="Arial" pitchFamily="34" charset="0"/>
              <a:buChar char="•"/>
            </a:pPr>
            <a:r>
              <a:rPr lang="en-US" sz="1200" dirty="0" err="1" smtClean="0"/>
              <a:t>Cholecystitis</a:t>
            </a:r>
            <a:r>
              <a:rPr lang="en-US" sz="1200" dirty="0" smtClean="0"/>
              <a:t> </a:t>
            </a:r>
          </a:p>
          <a:p>
            <a:pPr>
              <a:lnSpc>
                <a:spcPts val="1679"/>
              </a:lnSpc>
              <a:buFont typeface="Arial" pitchFamily="34" charset="0"/>
              <a:buChar char="•"/>
            </a:pPr>
            <a:r>
              <a:rPr lang="en-US" sz="1200" dirty="0" smtClean="0"/>
              <a:t>Fibroid degeneration</a:t>
            </a:r>
          </a:p>
          <a:p>
            <a:pPr>
              <a:lnSpc>
                <a:spcPts val="1679"/>
              </a:lnSpc>
              <a:buFont typeface="Arial" pitchFamily="34" charset="0"/>
              <a:buChar char="•"/>
            </a:pPr>
            <a:r>
              <a:rPr lang="en-US" sz="1200" dirty="0" smtClean="0"/>
              <a:t>Concealed </a:t>
            </a:r>
            <a:r>
              <a:rPr lang="en-US" sz="1200" dirty="0" err="1" smtClean="0"/>
              <a:t>haemorrhage</a:t>
            </a:r>
            <a:endParaRPr lang="en-US" sz="1200" u="sng" dirty="0">
              <a:solidFill>
                <a:srgbClr val="000000"/>
              </a:solidFill>
              <a:latin typeface="Cambria"/>
              <a:ea typeface="Cambria"/>
              <a:cs typeface="Cambria"/>
              <a:sym typeface="Cambria"/>
            </a:endParaRPr>
          </a:p>
        </p:txBody>
      </p:sp>
      <p:pic>
        <p:nvPicPr>
          <p:cNvPr id="4099" name="Picture 3"/>
          <p:cNvPicPr>
            <a:picLocks noChangeAspect="1" noChangeArrowheads="1"/>
          </p:cNvPicPr>
          <p:nvPr/>
        </p:nvPicPr>
        <p:blipFill>
          <a:blip r:embed="rId4"/>
          <a:srcRect/>
          <a:stretch>
            <a:fillRect/>
          </a:stretch>
        </p:blipFill>
        <p:spPr bwMode="auto">
          <a:xfrm>
            <a:off x="341262" y="5203824"/>
            <a:ext cx="6572296" cy="3643338"/>
          </a:xfrm>
          <a:prstGeom prst="rect">
            <a:avLst/>
          </a:prstGeom>
          <a:noFill/>
          <a:ln w="9525">
            <a:noFill/>
            <a:miter lim="800000"/>
            <a:headEnd/>
            <a:tailEnd/>
          </a:ln>
          <a:effectLst/>
        </p:spPr>
      </p:pic>
      <p:pic>
        <p:nvPicPr>
          <p:cNvPr id="4100" name="Picture 4"/>
          <p:cNvPicPr>
            <a:picLocks noChangeAspect="1" noChangeArrowheads="1"/>
          </p:cNvPicPr>
          <p:nvPr/>
        </p:nvPicPr>
        <p:blipFill>
          <a:blip r:embed="rId5"/>
          <a:srcRect/>
          <a:stretch>
            <a:fillRect/>
          </a:stretch>
        </p:blipFill>
        <p:spPr bwMode="auto">
          <a:xfrm>
            <a:off x="341262" y="1489048"/>
            <a:ext cx="6643734" cy="378621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4"/>
              <a:ext cx="7475347" cy="2183799"/>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smtClean="0">
                <a:solidFill>
                  <a:srgbClr val="000000"/>
                </a:solidFill>
                <a:latin typeface="Cambria Bold"/>
                <a:ea typeface="Cambria Bold"/>
                <a:cs typeface="Cambria Bold"/>
                <a:sym typeface="Cambria Bold"/>
              </a:rPr>
              <a:t>S.no</a:t>
            </a:r>
            <a:r>
              <a:rPr lang="en-US" sz="1399" b="1" dirty="0" smtClean="0">
                <a:solidFill>
                  <a:srgbClr val="000000"/>
                </a:solidFill>
                <a:latin typeface="Cambria Bold"/>
                <a:ea typeface="Cambria Bold"/>
                <a:cs typeface="Cambria Bold"/>
                <a:sym typeface="Cambria Bold"/>
              </a:rPr>
              <a:t>: 5</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230715109270</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743793"/>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i="1" dirty="0" smtClean="0">
                <a:solidFill>
                  <a:srgbClr val="000000"/>
                </a:solidFill>
                <a:latin typeface="Cambria Bold Italics" charset="0"/>
                <a:ea typeface="Cambria Bold Italics"/>
                <a:cs typeface="Cambria Bold Italics"/>
                <a:sym typeface="Cambria Bold Italics"/>
              </a:rPr>
              <a:t>hypothyroidism in pregnancy</a:t>
            </a:r>
            <a:r>
              <a:rPr lang="en-US" sz="2199" b="1" i="1" dirty="0" smtClean="0">
                <a:solidFill>
                  <a:srgbClr val="000000"/>
                </a:solidFill>
                <a:latin typeface="Cambria Bold" charset="0"/>
                <a:ea typeface="Cambria Bold Italics"/>
                <a:cs typeface="Cambria Bold Italics"/>
                <a:sym typeface="Cambria Bold Italics"/>
              </a:rPr>
              <a:t> </a:t>
            </a:r>
          </a:p>
          <a:p>
            <a:pPr algn="ctr">
              <a:lnSpc>
                <a:spcPts val="2921"/>
              </a:lnSpc>
            </a:pP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Munniyappan</a:t>
            </a:r>
            <a:r>
              <a:rPr lang="en-US" sz="1600" b="1" dirty="0" smtClean="0">
                <a:solidFill>
                  <a:srgbClr val="000000"/>
                </a:solidFill>
                <a:latin typeface="Cambria Bold"/>
                <a:ea typeface="Cambria Bold"/>
                <a:cs typeface="Cambria Bold"/>
                <a:sym typeface="Cambria Bold"/>
              </a:rPr>
              <a:t> K</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25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199310" y="4203692"/>
            <a:ext cx="7334837" cy="2949525"/>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BP-100/60mmHg,RR-16/min,Sp02-97%,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r>
              <a:rPr lang="en-US" sz="1000" b="1" dirty="0" smtClean="0"/>
              <a:t> ABDOMEN EXAMINATION-: </a:t>
            </a:r>
          </a:p>
          <a:p>
            <a:pPr>
              <a:buFont typeface="Wingdings" pitchFamily="2" charset="2"/>
              <a:buChar char="Ø"/>
            </a:pPr>
            <a:r>
              <a:rPr lang="en-US" sz="1000" b="1" dirty="0" smtClean="0"/>
              <a:t>INSPECTION SHAPE OF ABDOMEN: Longitudinally enlarged, </a:t>
            </a:r>
            <a:r>
              <a:rPr lang="nn-NO" sz="1000" b="1" dirty="0" smtClean="0"/>
              <a:t>SKIN OVER ABDOMEN: Linea Nigra, </a:t>
            </a:r>
          </a:p>
          <a:p>
            <a:pPr>
              <a:buFont typeface="Wingdings" pitchFamily="2" charset="2"/>
              <a:buChar char="Ø"/>
            </a:pPr>
            <a:r>
              <a:rPr lang="en-US" sz="1000" b="1" dirty="0" smtClean="0"/>
              <a:t>PALPATION: FUNDAL GRIP: BREECH, RIGHT UMBILICAL GRIP: LIMB BUDS, LEFT UMBILICAL GRIP: SPINE, FIRST PELVIC GRIP: CEPHALIC</a:t>
            </a:r>
            <a:endParaRPr lang="en-US" sz="1000" dirty="0" smtClean="0"/>
          </a:p>
          <a:p>
            <a:pPr>
              <a:buFont typeface="Wingdings" pitchFamily="2" charset="2"/>
              <a:buChar char="Ø"/>
            </a:pPr>
            <a:r>
              <a:rPr lang="en-US" sz="1000" b="1" dirty="0" smtClean="0"/>
              <a:t>SECOND PELVIC GRIP: Unengaged</a:t>
            </a:r>
            <a:endParaRPr lang="en-US" sz="1000" dirty="0" smtClean="0"/>
          </a:p>
          <a:p>
            <a:pPr>
              <a:buFont typeface="Wingdings" pitchFamily="2" charset="2"/>
              <a:buChar char="Ø"/>
            </a:pPr>
            <a:r>
              <a:rPr lang="en-US" sz="1000" b="1" dirty="0" smtClean="0"/>
              <a:t>LOCAL EXAMINATION : Uterus corresponding to 28-30 weeks , relaxed , cephalic , FH - 136 </a:t>
            </a:r>
            <a:r>
              <a:rPr lang="en-US" sz="1000" b="1" dirty="0" err="1" smtClean="0"/>
              <a:t>bpm</a:t>
            </a:r>
            <a:endParaRPr lang="en-US" sz="1000" dirty="0" smtClean="0"/>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346832"/>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108543"/>
          </a:xfrm>
          <a:prstGeom prst="rect">
            <a:avLst/>
          </a:prstGeom>
          <a:noFill/>
        </p:spPr>
        <p:txBody>
          <a:bodyPr wrap="square" rtlCol="0">
            <a:spAutoFit/>
          </a:bodyPr>
          <a:lstStyle/>
          <a:p>
            <a:r>
              <a:rPr lang="en-US" sz="1400" b="1" dirty="0" smtClean="0"/>
              <a:t>Chief Complaint: </a:t>
            </a:r>
            <a:r>
              <a:rPr lang="en-US" sz="1400" dirty="0" smtClean="0"/>
              <a:t>Patient came for ANC checkup, G3A2 gestation period =30 weeks 0 days</a:t>
            </a:r>
          </a:p>
          <a:p>
            <a:r>
              <a:rPr lang="en-US" sz="1400" b="1" dirty="0" smtClean="0"/>
              <a:t>History of Presenting Illness</a:t>
            </a:r>
            <a:r>
              <a:rPr lang="en-US" sz="1400" dirty="0" smtClean="0"/>
              <a:t>:  Patient came for ANC checkup, G3A2 gestation period =30 weeks 0 days, LMP= 6/6/24. No h/o bleeding p/v, abdominal pain , h/o burning </a:t>
            </a:r>
            <a:r>
              <a:rPr lang="en-US" sz="1400" dirty="0" err="1" smtClean="0"/>
              <a:t>micturition</a:t>
            </a:r>
            <a:r>
              <a:rPr lang="en-US" sz="1400" dirty="0" smtClean="0"/>
              <a:t>, white discharge </a:t>
            </a:r>
            <a:r>
              <a:rPr lang="en-US" sz="1400" dirty="0" err="1" smtClean="0"/>
              <a:t>pv,decreased</a:t>
            </a:r>
            <a:r>
              <a:rPr lang="en-US" sz="1400" dirty="0" smtClean="0"/>
              <a:t> urine output </a:t>
            </a:r>
          </a:p>
          <a:p>
            <a:r>
              <a:rPr lang="en-US" sz="1400" b="1" dirty="0" smtClean="0"/>
              <a:t>Past Medical History</a:t>
            </a:r>
            <a:r>
              <a:rPr lang="en-US" sz="1400" dirty="0" smtClean="0"/>
              <a:t>: Patient is a known case of hypothyroidism. No h/o hypertension, TB, GDM, seizure.</a:t>
            </a:r>
          </a:p>
          <a:p>
            <a:endParaRPr lang="en-US" sz="1400" dirty="0" smtClean="0"/>
          </a:p>
          <a:p>
            <a:r>
              <a:rPr lang="en-US" sz="1400" dirty="0" smtClean="0"/>
              <a:t/>
            </a:r>
            <a:br>
              <a:rPr lang="en-US" sz="1400" dirty="0" smtClean="0"/>
            </a:br>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070549"/>
          </a:xfrm>
          <a:prstGeom prst="rect">
            <a:avLst/>
          </a:prstGeom>
        </p:spPr>
        <p:txBody>
          <a:bodyPr wrap="square" lIns="0" tIns="0" rIns="0" bIns="0" rtlCol="0" anchor="t">
            <a:spAutoFit/>
          </a:bodyPr>
          <a:lstStyle/>
          <a:p>
            <a:pPr>
              <a:lnSpc>
                <a:spcPts val="1679"/>
              </a:lnSpc>
              <a:buFont typeface="Arial" pitchFamily="34" charset="0"/>
              <a:buChar char="•"/>
            </a:pPr>
            <a:r>
              <a:rPr lang="en-US" sz="1200" dirty="0" err="1" smtClean="0"/>
              <a:t>Pyelonephritis</a:t>
            </a:r>
            <a:endParaRPr lang="en-US" sz="1200" dirty="0" smtClean="0"/>
          </a:p>
          <a:p>
            <a:pPr>
              <a:lnSpc>
                <a:spcPts val="1679"/>
              </a:lnSpc>
              <a:buFont typeface="Arial" pitchFamily="34" charset="0"/>
              <a:buChar char="•"/>
            </a:pPr>
            <a:r>
              <a:rPr lang="en-US" sz="1200" dirty="0" err="1" smtClean="0"/>
              <a:t>Cholecystitis</a:t>
            </a:r>
            <a:r>
              <a:rPr lang="en-US" sz="1200" dirty="0" smtClean="0"/>
              <a:t> </a:t>
            </a:r>
          </a:p>
          <a:p>
            <a:pPr>
              <a:lnSpc>
                <a:spcPts val="1679"/>
              </a:lnSpc>
              <a:buFont typeface="Arial" pitchFamily="34" charset="0"/>
              <a:buChar char="•"/>
            </a:pPr>
            <a:r>
              <a:rPr lang="en-US" sz="1200" dirty="0" smtClean="0"/>
              <a:t>Fibroid degeneration</a:t>
            </a:r>
          </a:p>
          <a:p>
            <a:pPr>
              <a:lnSpc>
                <a:spcPts val="1679"/>
              </a:lnSpc>
              <a:buFont typeface="Arial" pitchFamily="34" charset="0"/>
              <a:buChar char="•"/>
            </a:pPr>
            <a:r>
              <a:rPr lang="en-US" sz="1200" dirty="0" smtClean="0"/>
              <a:t>Concealed </a:t>
            </a:r>
            <a:r>
              <a:rPr lang="en-US" sz="1200" dirty="0" err="1" smtClean="0"/>
              <a:t>haemorrhage</a:t>
            </a:r>
            <a:endParaRPr lang="en-US" sz="1200" u="sng"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775592"/>
            <a:ext cx="7217960" cy="1526059"/>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a:t>
            </a:r>
            <a:r>
              <a:rPr lang="en-US" sz="1200" dirty="0" smtClean="0">
                <a:solidFill>
                  <a:srgbClr val="000000"/>
                </a:solidFill>
                <a:latin typeface="Cambria"/>
                <a:ea typeface="Cambria"/>
                <a:cs typeface="Cambria"/>
                <a:sym typeface="Cambria"/>
              </a:rPr>
              <a:t> USG growth AFI </a:t>
            </a:r>
            <a:r>
              <a:rPr lang="en-US" sz="1200" dirty="0" err="1" smtClean="0">
                <a:solidFill>
                  <a:srgbClr val="000000"/>
                </a:solidFill>
                <a:latin typeface="Cambria"/>
                <a:ea typeface="Cambria"/>
                <a:cs typeface="Cambria"/>
                <a:sym typeface="Cambria"/>
              </a:rPr>
              <a:t>doppler</a:t>
            </a:r>
            <a:r>
              <a:rPr lang="en-US" sz="1200" dirty="0" smtClean="0">
                <a:solidFill>
                  <a:srgbClr val="000000"/>
                </a:solidFill>
                <a:latin typeface="Cambria"/>
                <a:ea typeface="Cambria"/>
                <a:cs typeface="Cambria"/>
                <a:sym typeface="Cambria"/>
              </a:rPr>
              <a:t> , TFT</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USG growth </a:t>
            </a:r>
            <a:r>
              <a:rPr lang="en-IN" sz="1200" dirty="0" err="1" smtClean="0">
                <a:solidFill>
                  <a:srgbClr val="000000"/>
                </a:solidFill>
                <a:latin typeface="Cambria"/>
                <a:ea typeface="Cambria"/>
                <a:cs typeface="Cambria"/>
                <a:sym typeface="Cambria"/>
              </a:rPr>
              <a:t>doppler</a:t>
            </a:r>
            <a:r>
              <a:rPr lang="en-IN" sz="1200" dirty="0" smtClean="0">
                <a:solidFill>
                  <a:srgbClr val="000000"/>
                </a:solidFill>
                <a:latin typeface="Cambria"/>
                <a:ea typeface="Cambria"/>
                <a:cs typeface="Cambria"/>
                <a:sym typeface="Cambria"/>
              </a:rPr>
              <a:t> shows </a:t>
            </a:r>
            <a:r>
              <a:rPr lang="en-US" sz="1200" dirty="0" smtClean="0">
                <a:solidFill>
                  <a:srgbClr val="000000"/>
                </a:solidFill>
                <a:latin typeface="Cambria"/>
                <a:ea typeface="Cambria"/>
                <a:cs typeface="Cambria"/>
                <a:sym typeface="Cambria"/>
              </a:rPr>
              <a:t>SLIUG corresponding to 29w 5d as per fetal biometry. Presentation- cephalic CPR&gt;1 FHR- 146 g Fetal weight- 1452 g Placenta- anterior AFI- 16 cm</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TFT shows low T3, T4 levels</a:t>
            </a:r>
          </a:p>
          <a:p>
            <a:pPr>
              <a:lnSpc>
                <a:spcPts val="1679"/>
              </a:lnSpc>
              <a:buFont typeface="Arial" pitchFamily="34" charset="0"/>
              <a:buChar char="•"/>
            </a:pPr>
            <a:r>
              <a:rPr lang="en-US" sz="1200" dirty="0" smtClean="0"/>
              <a:t>Tab. Iron 100mg  BD for 2 weeks</a:t>
            </a:r>
          </a:p>
          <a:p>
            <a:pPr>
              <a:lnSpc>
                <a:spcPts val="1679"/>
              </a:lnSpc>
              <a:buFont typeface="Arial" pitchFamily="34" charset="0"/>
              <a:buChar char="•"/>
            </a:pPr>
            <a:r>
              <a:rPr lang="en-US" sz="1200" dirty="0" smtClean="0"/>
              <a:t>Tab. Calcium  500mg OD for 2 weeks</a:t>
            </a:r>
            <a:endParaRPr lang="en-US"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pic>
        <p:nvPicPr>
          <p:cNvPr id="5122"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412700" y="1489048"/>
            <a:ext cx="6572296" cy="35719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5"/>
          <a:srcRect/>
          <a:stretch>
            <a:fillRect/>
          </a:stretch>
        </p:blipFill>
        <p:spPr bwMode="auto">
          <a:xfrm>
            <a:off x="555576" y="5203824"/>
            <a:ext cx="6215106" cy="1162050"/>
          </a:xfrm>
          <a:prstGeom prst="rect">
            <a:avLst/>
          </a:prstGeom>
          <a:noFill/>
          <a:ln w="9525">
            <a:noFill/>
            <a:miter lim="800000"/>
            <a:headEnd/>
            <a:tailEnd/>
          </a:ln>
          <a:effectLst/>
        </p:spPr>
      </p:pic>
      <p:pic>
        <p:nvPicPr>
          <p:cNvPr id="5125" name="Picture 5"/>
          <p:cNvPicPr>
            <a:picLocks noChangeAspect="1" noChangeArrowheads="1"/>
          </p:cNvPicPr>
          <p:nvPr/>
        </p:nvPicPr>
        <p:blipFill>
          <a:blip r:embed="rId6"/>
          <a:srcRect/>
          <a:stretch>
            <a:fillRect/>
          </a:stretch>
        </p:blipFill>
        <p:spPr bwMode="auto">
          <a:xfrm>
            <a:off x="627014" y="6632584"/>
            <a:ext cx="6143668" cy="1152525"/>
          </a:xfrm>
          <a:prstGeom prst="rect">
            <a:avLst/>
          </a:prstGeom>
          <a:noFill/>
          <a:ln w="9525">
            <a:noFill/>
            <a:miter lim="800000"/>
            <a:headEnd/>
            <a:tailEnd/>
          </a:ln>
          <a:effectLst/>
        </p:spPr>
      </p:pic>
      <p:pic>
        <p:nvPicPr>
          <p:cNvPr id="5126" name="Picture 6"/>
          <p:cNvPicPr>
            <a:picLocks noChangeAspect="1" noChangeArrowheads="1"/>
          </p:cNvPicPr>
          <p:nvPr/>
        </p:nvPicPr>
        <p:blipFill>
          <a:blip r:embed="rId7"/>
          <a:srcRect/>
          <a:stretch>
            <a:fillRect/>
          </a:stretch>
        </p:blipFill>
        <p:spPr bwMode="auto">
          <a:xfrm>
            <a:off x="1341394" y="7918468"/>
            <a:ext cx="5572164" cy="938211"/>
          </a:xfrm>
          <a:prstGeom prst="rect">
            <a:avLst/>
          </a:prstGeom>
          <a:noFill/>
          <a:ln w="9525">
            <a:noFill/>
            <a:miter lim="800000"/>
            <a:headEnd/>
            <a:tailEnd/>
          </a:ln>
          <a:effectLst/>
        </p:spPr>
      </p:pic>
      <p:sp>
        <p:nvSpPr>
          <p:cNvPr id="57" name="TextBox 50"/>
          <p:cNvSpPr txBox="1"/>
          <p:nvPr/>
        </p:nvSpPr>
        <p:spPr>
          <a:xfrm>
            <a:off x="11557028" y="434656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17610"/>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4"/>
              <a:ext cx="7475347" cy="2112362"/>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921283"/>
              <a:ext cx="7475347" cy="1225217"/>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6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240627219538</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743793"/>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antenatal checkup</a:t>
            </a:r>
            <a:r>
              <a:rPr lang="en-US" sz="2199" b="1" i="1" dirty="0" smtClean="0">
                <a:solidFill>
                  <a:srgbClr val="000000"/>
                </a:solidFill>
                <a:latin typeface="Cambria Bold" charset="0"/>
                <a:ea typeface="Cambria Bold Italics"/>
                <a:cs typeface="Cambria Bold Italics"/>
                <a:sym typeface="Cambria Bold Italics"/>
              </a:rPr>
              <a:t> </a:t>
            </a:r>
          </a:p>
          <a:p>
            <a:pPr algn="ctr">
              <a:lnSpc>
                <a:spcPts val="2921"/>
              </a:lnSpc>
            </a:pP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Joshna</a:t>
            </a:r>
            <a:r>
              <a:rPr lang="en-US" sz="1600" b="1" dirty="0" smtClean="0">
                <a:solidFill>
                  <a:srgbClr val="000000"/>
                </a:solidFill>
                <a:latin typeface="Cambria Bold"/>
                <a:ea typeface="Cambria Bold"/>
                <a:cs typeface="Cambria Bold"/>
                <a:sym typeface="Cambria Bold"/>
              </a:rPr>
              <a:t> K</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21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199310" y="4060816"/>
            <a:ext cx="7334837" cy="2949525"/>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BP-98/82mmHg,RR-16/min,Sp02-97%, pulse=78/min,, </a:t>
            </a:r>
            <a:r>
              <a:rPr lang="en-US" sz="1000" b="1" dirty="0" smtClean="0"/>
              <a:t>Ht= 167cm, Weight= 52kg</a:t>
            </a:r>
            <a:endParaRPr lang="en-US" sz="1000" b="1" dirty="0" smtClean="0">
              <a:solidFill>
                <a:srgbClr val="000000"/>
              </a:solidFill>
              <a:latin typeface="Cambria Bold"/>
              <a:ea typeface="Cambria Bold"/>
              <a:cs typeface="Cambria Bold"/>
              <a:sym typeface="Cambria Bold"/>
            </a:endParaRP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r>
              <a:rPr lang="en-US" sz="1000" b="1" dirty="0" smtClean="0"/>
              <a:t> ABDOMEN EXAMINATION-: </a:t>
            </a:r>
          </a:p>
          <a:p>
            <a:pPr>
              <a:buFont typeface="Wingdings" pitchFamily="2" charset="2"/>
              <a:buChar char="Ø"/>
            </a:pPr>
            <a:r>
              <a:rPr lang="en-US" sz="1000" b="1" dirty="0" smtClean="0"/>
              <a:t>INSPECTION SHAPE OF ABDOMEN: Longitudinally enlarged, </a:t>
            </a:r>
            <a:r>
              <a:rPr lang="nn-NO" sz="1000" b="1" dirty="0" smtClean="0"/>
              <a:t>SKIN OVER ABDOMEN: Linea Nigra, </a:t>
            </a:r>
          </a:p>
          <a:p>
            <a:pPr>
              <a:buFont typeface="Wingdings" pitchFamily="2" charset="2"/>
              <a:buChar char="Ø"/>
            </a:pPr>
            <a:r>
              <a:rPr lang="en-US" sz="1000" b="1" dirty="0" smtClean="0"/>
              <a:t>PALPATION: FUNDAL GRIP: BREECH, RIGHT UMBILICAL GRIP: LIMB BUDS, LEFT UMBILICAL GRIP: SPINE, FIRST PELVIC GRIP: CEPHALIC</a:t>
            </a:r>
            <a:endParaRPr lang="en-US" sz="1000" dirty="0" smtClean="0"/>
          </a:p>
          <a:p>
            <a:pPr>
              <a:buFont typeface="Wingdings" pitchFamily="2" charset="2"/>
              <a:buChar char="Ø"/>
            </a:pPr>
            <a:r>
              <a:rPr lang="en-US" sz="1000" b="1" dirty="0" smtClean="0"/>
              <a:t>SECOND PELVIC GRIP: Unengaged</a:t>
            </a:r>
            <a:endParaRPr lang="en-US" sz="1000" dirty="0" smtClean="0"/>
          </a:p>
          <a:p>
            <a:pPr>
              <a:buFont typeface="Wingdings" pitchFamily="2" charset="2"/>
              <a:buChar char="Ø"/>
            </a:pPr>
            <a:r>
              <a:rPr lang="en-US" sz="1000" b="1" dirty="0" smtClean="0"/>
              <a:t>LOCAL EXAMINATION :Uterus corresponds to 20- 22 weeks, relaxed, FHS 140</a:t>
            </a:r>
            <a:endParaRPr lang="en-US" sz="1000" dirty="0" smtClean="0"/>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560486"/>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199310" y="7561278"/>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108543"/>
          </a:xfrm>
          <a:prstGeom prst="rect">
            <a:avLst/>
          </a:prstGeom>
          <a:noFill/>
        </p:spPr>
        <p:txBody>
          <a:bodyPr wrap="square" rtlCol="0">
            <a:spAutoFit/>
          </a:bodyPr>
          <a:lstStyle/>
          <a:p>
            <a:r>
              <a:rPr lang="en-US" sz="1400" b="1" dirty="0" smtClean="0"/>
              <a:t>Chief complaints: </a:t>
            </a:r>
            <a:r>
              <a:rPr lang="en-US" sz="1400" dirty="0" smtClean="0"/>
              <a:t>21 yr old </a:t>
            </a:r>
            <a:r>
              <a:rPr lang="en-US" sz="1400" dirty="0" err="1" smtClean="0"/>
              <a:t>primigravida</a:t>
            </a:r>
            <a:r>
              <a:rPr lang="en-US" sz="1400" dirty="0" smtClean="0"/>
              <a:t>  with 5 months of </a:t>
            </a:r>
            <a:r>
              <a:rPr lang="en-US" sz="1400" dirty="0" err="1" smtClean="0"/>
              <a:t>amenorhea</a:t>
            </a:r>
            <a:r>
              <a:rPr lang="en-US" sz="1400" dirty="0" smtClean="0"/>
              <a:t>  came for antenatal checkup, LMP= 17/3/24, 21 weeks 1 day, </a:t>
            </a:r>
            <a:r>
              <a:rPr lang="en-US" sz="1400" dirty="0" err="1" smtClean="0"/>
              <a:t>primigravida</a:t>
            </a:r>
            <a:r>
              <a:rPr lang="en-US" sz="1400" dirty="0" smtClean="0"/>
              <a:t>,</a:t>
            </a:r>
          </a:p>
          <a:p>
            <a:r>
              <a:rPr lang="en-US" sz="1400" b="1" dirty="0" smtClean="0"/>
              <a:t>H/O Presenting Illness</a:t>
            </a:r>
            <a:r>
              <a:rPr lang="en-US" sz="1400" dirty="0" smtClean="0"/>
              <a:t>: Patient came for antenatal checkup, LMP= 17/3/24, </a:t>
            </a:r>
            <a:r>
              <a:rPr lang="en-US" sz="1400" dirty="0" err="1" smtClean="0"/>
              <a:t>primigravida</a:t>
            </a:r>
            <a:r>
              <a:rPr lang="en-US" sz="1400" dirty="0" smtClean="0"/>
              <a:t>. No h/o bleeding p/v, abdominal pain , h/o burning </a:t>
            </a:r>
            <a:r>
              <a:rPr lang="en-US" sz="1400" dirty="0" err="1" smtClean="0"/>
              <a:t>micturition</a:t>
            </a:r>
            <a:r>
              <a:rPr lang="en-US" sz="1400" dirty="0" smtClean="0"/>
              <a:t>, white discharge </a:t>
            </a:r>
            <a:r>
              <a:rPr lang="en-US" sz="1400" dirty="0" err="1" smtClean="0"/>
              <a:t>pv,decreased</a:t>
            </a:r>
            <a:r>
              <a:rPr lang="en-US" sz="1400" dirty="0" smtClean="0"/>
              <a:t> urine output.</a:t>
            </a:r>
          </a:p>
          <a:p>
            <a:r>
              <a:rPr lang="en-US" sz="1400" b="1" dirty="0" smtClean="0"/>
              <a:t>Past History: </a:t>
            </a:r>
            <a:r>
              <a:rPr lang="en-US" sz="1400" dirty="0" smtClean="0"/>
              <a:t>No history of GDM, TB, thyroid disorder, hypertension</a:t>
            </a:r>
          </a:p>
          <a:p>
            <a:endParaRPr lang="en-US" sz="1400" dirty="0" smtClean="0"/>
          </a:p>
          <a:p>
            <a:endParaRPr lang="en-US" sz="1400" b="1" dirty="0" smtClean="0"/>
          </a:p>
          <a:p>
            <a:endParaRPr lang="en-US" sz="1400" dirty="0" smtClean="0"/>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288558"/>
          </a:xfrm>
          <a:prstGeom prst="rect">
            <a:avLst/>
          </a:prstGeom>
        </p:spPr>
        <p:txBody>
          <a:bodyPr wrap="square" lIns="0" tIns="0" rIns="0" bIns="0" rtlCol="0" anchor="t">
            <a:spAutoFit/>
          </a:bodyPr>
          <a:lstStyle/>
          <a:p>
            <a:pPr>
              <a:lnSpc>
                <a:spcPts val="1679"/>
              </a:lnSpc>
              <a:buFont typeface="Arial" pitchFamily="34" charset="0"/>
              <a:buChar char="•"/>
            </a:pPr>
            <a:r>
              <a:rPr lang="en-US" sz="1200" dirty="0" err="1" smtClean="0"/>
              <a:t>Pyelonephritis</a:t>
            </a:r>
            <a:endParaRPr lang="en-US" sz="1200" dirty="0" smtClean="0"/>
          </a:p>
          <a:p>
            <a:pPr>
              <a:lnSpc>
                <a:spcPts val="1679"/>
              </a:lnSpc>
              <a:buFont typeface="Arial" pitchFamily="34" charset="0"/>
              <a:buChar char="•"/>
            </a:pPr>
            <a:r>
              <a:rPr lang="en-US" sz="1200" dirty="0" err="1" smtClean="0"/>
              <a:t>Cholecystitis</a:t>
            </a:r>
            <a:r>
              <a:rPr lang="en-US" sz="1200" dirty="0" smtClean="0"/>
              <a:t> </a:t>
            </a:r>
          </a:p>
          <a:p>
            <a:pPr>
              <a:lnSpc>
                <a:spcPts val="1679"/>
              </a:lnSpc>
              <a:buFont typeface="Arial" pitchFamily="34" charset="0"/>
              <a:buChar char="•"/>
            </a:pPr>
            <a:r>
              <a:rPr lang="en-US" sz="1200" dirty="0" smtClean="0"/>
              <a:t>Fibroid degeneration</a:t>
            </a:r>
          </a:p>
          <a:p>
            <a:pPr>
              <a:lnSpc>
                <a:spcPts val="1679"/>
              </a:lnSpc>
              <a:buFont typeface="Arial" pitchFamily="34" charset="0"/>
              <a:buChar char="•"/>
            </a:pPr>
            <a:r>
              <a:rPr lang="en-US" sz="1200" dirty="0" smtClean="0"/>
              <a:t>Concealed </a:t>
            </a:r>
            <a:r>
              <a:rPr lang="en-US" sz="1200" dirty="0" err="1" smtClean="0"/>
              <a:t>haemorrhage</a:t>
            </a:r>
            <a:endParaRPr lang="en-US" sz="1200" u="sng"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775592"/>
            <a:ext cx="7217960" cy="1526059"/>
          </a:xfrm>
          <a:prstGeom prst="rect">
            <a:avLst/>
          </a:prstGeom>
        </p:spPr>
        <p:txBody>
          <a:bodyPr lIns="0" tIns="0" rIns="0" bIns="0" rtlCol="0" anchor="t">
            <a:spAutoFit/>
          </a:bodyPr>
          <a:lstStyle/>
          <a:p>
            <a:pPr>
              <a:lnSpc>
                <a:spcPts val="1679"/>
              </a:lnSpc>
            </a:pPr>
            <a:r>
              <a:rPr lang="en-IN" sz="1200" dirty="0" smtClean="0">
                <a:solidFill>
                  <a:srgbClr val="000000"/>
                </a:solidFill>
                <a:latin typeface="Cambria"/>
                <a:ea typeface="Cambria"/>
                <a:cs typeface="Cambria"/>
                <a:sym typeface="Cambria"/>
              </a:rPr>
              <a:t> Patient was advised to take CBC to check for </a:t>
            </a:r>
            <a:r>
              <a:rPr lang="en-IN" sz="1200" dirty="0" err="1" smtClean="0">
                <a:solidFill>
                  <a:srgbClr val="000000"/>
                </a:solidFill>
                <a:latin typeface="Cambria"/>
                <a:ea typeface="Cambria"/>
                <a:cs typeface="Cambria"/>
                <a:sym typeface="Cambria"/>
              </a:rPr>
              <a:t>Hb</a:t>
            </a:r>
            <a:r>
              <a:rPr lang="en-IN" sz="1200" dirty="0" smtClean="0">
                <a:solidFill>
                  <a:srgbClr val="000000"/>
                </a:solidFill>
                <a:latin typeface="Cambria"/>
                <a:ea typeface="Cambria"/>
                <a:cs typeface="Cambria"/>
                <a:sym typeface="Cambria"/>
              </a:rPr>
              <a:t> and anomaly scan was done</a:t>
            </a:r>
          </a:p>
          <a:p>
            <a:pPr>
              <a:lnSpc>
                <a:spcPts val="1679"/>
              </a:lnSpc>
            </a:pPr>
            <a:r>
              <a:rPr lang="en-IN" sz="1200" dirty="0" err="1" smtClean="0">
                <a:solidFill>
                  <a:srgbClr val="000000"/>
                </a:solidFill>
                <a:latin typeface="Cambria"/>
                <a:ea typeface="Cambria"/>
                <a:cs typeface="Cambria"/>
                <a:sym typeface="Cambria"/>
              </a:rPr>
              <a:t>Hb</a:t>
            </a:r>
            <a:r>
              <a:rPr lang="en-IN" sz="1200" dirty="0" smtClean="0">
                <a:solidFill>
                  <a:srgbClr val="000000"/>
                </a:solidFill>
                <a:latin typeface="Cambria"/>
                <a:ea typeface="Cambria"/>
                <a:cs typeface="Cambria"/>
                <a:sym typeface="Cambria"/>
              </a:rPr>
              <a:t> : 8.2 mg/dl and anomaly scan shows no gross congenital anomalies</a:t>
            </a:r>
          </a:p>
          <a:p>
            <a:pPr>
              <a:lnSpc>
                <a:spcPts val="1679"/>
              </a:lnSpc>
            </a:pPr>
            <a:r>
              <a:rPr lang="en-US" sz="1200" dirty="0" smtClean="0"/>
              <a:t>Tab. LIVOGEN OD</a:t>
            </a:r>
          </a:p>
          <a:p>
            <a:pPr>
              <a:lnSpc>
                <a:spcPts val="1679"/>
              </a:lnSpc>
            </a:pPr>
            <a:r>
              <a:rPr lang="en-IN" sz="1200" dirty="0" smtClean="0">
                <a:solidFill>
                  <a:srgbClr val="000000"/>
                </a:solidFill>
                <a:latin typeface="Cambria"/>
                <a:ea typeface="Cambria"/>
                <a:cs typeface="Cambria"/>
                <a:sym typeface="Cambria"/>
              </a:rPr>
              <a:t>Tab. Calcium 500mg OD</a:t>
            </a:r>
          </a:p>
          <a:p>
            <a:pPr>
              <a:lnSpc>
                <a:spcPts val="1679"/>
              </a:lnSpc>
            </a:pPr>
            <a:r>
              <a:rPr lang="en-IN" sz="1200" dirty="0" smtClean="0">
                <a:solidFill>
                  <a:srgbClr val="000000"/>
                </a:solidFill>
                <a:latin typeface="Cambria"/>
                <a:ea typeface="Cambria"/>
                <a:cs typeface="Cambria"/>
                <a:sym typeface="Cambria"/>
              </a:rPr>
              <a:t>Patient was advised to do OGTT, as well as CBC on next follow up</a:t>
            </a:r>
          </a:p>
          <a:p>
            <a:pPr>
              <a:lnSpc>
                <a:spcPts val="1679"/>
              </a:lnSpc>
            </a:pPr>
            <a:endParaRPr lang="en-IN" sz="1200" dirty="0" smtClean="0">
              <a:solidFill>
                <a:srgbClr val="000000"/>
              </a:solidFill>
              <a:latin typeface="Cambria"/>
              <a:ea typeface="Cambria"/>
              <a:cs typeface="Cambria"/>
              <a:sym typeface="Cambria"/>
            </a:endParaRPr>
          </a:p>
          <a:p>
            <a:pPr>
              <a:lnSpc>
                <a:spcPts val="1679"/>
              </a:lnSpc>
            </a:pPr>
            <a:endParaRPr lang="en-US" sz="1200" dirty="0" smtClean="0">
              <a:solidFill>
                <a:srgbClr val="000000"/>
              </a:solidFill>
              <a:latin typeface="Cambria"/>
              <a:ea typeface="Cambria"/>
              <a:cs typeface="Cambria"/>
              <a:sym typeface="Cambria"/>
            </a:endParaRPr>
          </a:p>
        </p:txBody>
      </p:sp>
      <p:sp>
        <p:nvSpPr>
          <p:cNvPr id="54" name="TextBox 53"/>
          <p:cNvSpPr txBox="1"/>
          <p:nvPr/>
        </p:nvSpPr>
        <p:spPr>
          <a:xfrm>
            <a:off x="11199838" y="4346568"/>
            <a:ext cx="3357586" cy="246221"/>
          </a:xfrm>
          <a:prstGeom prst="rect">
            <a:avLst/>
          </a:prstGeom>
          <a:noFill/>
        </p:spPr>
        <p:txBody>
          <a:bodyPr wrap="square" rtlCol="0">
            <a:spAutoFit/>
          </a:bodyPr>
          <a:lstStyle/>
          <a:p>
            <a:r>
              <a:rPr lang="en-IN" sz="1000" dirty="0" smtClean="0"/>
              <a:t>=</a:t>
            </a:r>
            <a:endParaRPr lang="en-US" sz="1000" dirty="0"/>
          </a:p>
        </p:txBody>
      </p:sp>
      <p:pic>
        <p:nvPicPr>
          <p:cNvPr id="6147" name="Picture 3"/>
          <p:cNvPicPr>
            <a:picLocks noChangeAspect="1" noChangeArrowheads="1"/>
          </p:cNvPicPr>
          <p:nvPr/>
        </p:nvPicPr>
        <p:blipFill>
          <a:blip r:embed="rId3"/>
          <a:srcRect/>
          <a:stretch>
            <a:fillRect/>
          </a:stretch>
        </p:blipFill>
        <p:spPr bwMode="auto">
          <a:xfrm>
            <a:off x="12485722" y="1560486"/>
            <a:ext cx="2214578" cy="2500330"/>
          </a:xfrm>
          <a:prstGeom prst="rect">
            <a:avLst/>
          </a:prstGeom>
          <a:noFill/>
          <a:ln w="9525">
            <a:noFill/>
            <a:miter lim="800000"/>
            <a:headEnd/>
            <a:tailEnd/>
          </a:ln>
          <a:effectLst/>
        </p:spPr>
      </p:pic>
      <p:sp>
        <p:nvSpPr>
          <p:cNvPr id="56" name="TextBox 50"/>
          <p:cNvSpPr txBox="1"/>
          <p:nvPr/>
        </p:nvSpPr>
        <p:spPr>
          <a:xfrm>
            <a:off x="11628466" y="470375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pic>
        <p:nvPicPr>
          <p:cNvPr id="57" name="Picture 56" descr="photo_2025-01-18_23-57-40.jpg"/>
          <p:cNvPicPr>
            <a:picLocks noChangeAspect="1"/>
          </p:cNvPicPr>
          <p:nvPr/>
        </p:nvPicPr>
        <p:blipFill>
          <a:blip r:embed="rId4"/>
          <a:stretch>
            <a:fillRect/>
          </a:stretch>
        </p:blipFill>
        <p:spPr>
          <a:xfrm>
            <a:off x="412700" y="1489048"/>
            <a:ext cx="6572296" cy="4143404"/>
          </a:xfrm>
          <a:prstGeom prst="rect">
            <a:avLst/>
          </a:prstGeom>
        </p:spPr>
      </p:pic>
      <p:pic>
        <p:nvPicPr>
          <p:cNvPr id="6148" name="Picture 4"/>
          <p:cNvPicPr>
            <a:picLocks noChangeAspect="1" noChangeArrowheads="1"/>
          </p:cNvPicPr>
          <p:nvPr/>
        </p:nvPicPr>
        <p:blipFill>
          <a:blip r:embed="rId5"/>
          <a:srcRect/>
          <a:stretch>
            <a:fillRect/>
          </a:stretch>
        </p:blipFill>
        <p:spPr bwMode="auto">
          <a:xfrm>
            <a:off x="555576" y="5846766"/>
            <a:ext cx="6286544" cy="28575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4"/>
              <a:ext cx="7475347" cy="2040923"/>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7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240703221776</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RH negative pregnancy </a:t>
            </a: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Sagira</a:t>
            </a:r>
            <a:r>
              <a:rPr lang="en-US" sz="1600" b="1" dirty="0" smtClean="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Banu</a:t>
            </a:r>
            <a:r>
              <a:rPr lang="en-US" sz="1600"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30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dirty="0">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257302"/>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BP-98/82mmHg,RR-16/min,Sp02-97%, pulse=78/min,, </a:t>
            </a:r>
            <a:r>
              <a:rPr lang="en-US" sz="1000" b="1" dirty="0" smtClean="0"/>
              <a:t>Ht= 167cm, Weight= 52kg</a:t>
            </a:r>
            <a:endParaRPr lang="en-US" sz="1000" b="1" dirty="0" smtClean="0">
              <a:solidFill>
                <a:srgbClr val="000000"/>
              </a:solidFill>
              <a:latin typeface="Cambria Bold"/>
              <a:ea typeface="Cambria Bold"/>
              <a:cs typeface="Cambria Bold"/>
              <a:sym typeface="Cambria Bold"/>
            </a:endParaRP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r>
              <a:rPr lang="en-US" sz="1000" b="1" dirty="0" smtClean="0"/>
              <a:t> ABDOMEN EXAMINATION-: </a:t>
            </a:r>
          </a:p>
          <a:p>
            <a:pPr>
              <a:buFont typeface="Wingdings" pitchFamily="2" charset="2"/>
              <a:buChar char="Ø"/>
            </a:pPr>
            <a:r>
              <a:rPr lang="en-US" sz="1000" b="1" dirty="0" smtClean="0"/>
              <a:t>INSPECTION SHAPE OF ABDOMEN: Longitudinally enlarged, </a:t>
            </a:r>
            <a:r>
              <a:rPr lang="nn-NO" sz="1000" b="1" dirty="0" smtClean="0"/>
              <a:t>SKIN OVER ABDOMEN: Linea Nigra, </a:t>
            </a:r>
          </a:p>
          <a:p>
            <a:pPr>
              <a:buFont typeface="Wingdings" pitchFamily="2" charset="2"/>
              <a:buChar char="Ø"/>
            </a:pPr>
            <a:r>
              <a:rPr lang="en-US" sz="1000" b="1" dirty="0" smtClean="0"/>
              <a:t>PALPATION: FUNDAL GRIP: BREECH, RIGHT UMBILICAL GRIP: SPINE, LEFT UMBILICAL GRIP: LIMB BUDS, FIRST PELVIC GRIP: CEPHALIC</a:t>
            </a:r>
            <a:endParaRPr lang="en-US" sz="1000" dirty="0" smtClean="0"/>
          </a:p>
          <a:p>
            <a:pPr>
              <a:buFont typeface="Wingdings" pitchFamily="2" charset="2"/>
              <a:buChar char="Ø"/>
            </a:pPr>
            <a:r>
              <a:rPr lang="en-US" sz="1000" b="1" dirty="0" smtClean="0"/>
              <a:t>SECOND PELVIC GRIP: Unengaged</a:t>
            </a:r>
          </a:p>
          <a:p>
            <a:r>
              <a:rPr lang="en-US" sz="1000" b="1" dirty="0" smtClean="0"/>
              <a:t>LOCAL EXAMINATION :uterus at term, relaxed ,cephalic FHS + 146 </a:t>
            </a:r>
            <a:r>
              <a:rPr lang="en-US" sz="1000" b="1" dirty="0" err="1" smtClean="0"/>
              <a:t>bpm</a:t>
            </a:r>
            <a:r>
              <a:rPr lang="en-US" sz="1000" b="1" dirty="0" smtClean="0"/>
              <a:t> , head 5/5th palpable</a:t>
            </a:r>
            <a:endParaRPr lang="en-US" sz="1000" dirty="0" smtClean="0"/>
          </a:p>
          <a:p>
            <a:pPr>
              <a:buFont typeface="Wingdings" pitchFamily="2" charset="2"/>
              <a:buChar char="Ø"/>
            </a:pPr>
            <a:endParaRPr lang="en-US" sz="1000" dirty="0" smtClean="0"/>
          </a:p>
          <a:p>
            <a:pPr>
              <a:buFont typeface="Wingdings" pitchFamily="2" charset="2"/>
              <a:buChar char="Ø"/>
            </a:pPr>
            <a:endParaRPr lang="en-US" sz="1000" dirty="0" smtClean="0"/>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917676"/>
            <a:ext cx="5143536" cy="3108543"/>
          </a:xfrm>
          <a:prstGeom prst="rect">
            <a:avLst/>
          </a:prstGeom>
          <a:noFill/>
        </p:spPr>
        <p:txBody>
          <a:bodyPr wrap="square" rtlCol="0">
            <a:spAutoFit/>
          </a:bodyPr>
          <a:lstStyle/>
          <a:p>
            <a:r>
              <a:rPr lang="en-US" sz="1400" b="1" dirty="0" smtClean="0"/>
              <a:t>CHIEF COMPLAINTS</a:t>
            </a:r>
            <a:r>
              <a:rPr lang="en-US" sz="1400" dirty="0" smtClean="0"/>
              <a:t>: 30 yrs  G3P2L2 with 9 months of amenorrhea (37 weeks 5 days) came for safe confinement.</a:t>
            </a:r>
          </a:p>
          <a:p>
            <a:r>
              <a:rPr lang="en-US" sz="1400" b="1" dirty="0" smtClean="0"/>
              <a:t>HISTORY OF PRESENTING COMPLAINTS: </a:t>
            </a:r>
            <a:r>
              <a:rPr lang="en-US" sz="1400" dirty="0" smtClean="0"/>
              <a:t>Patient came for safe confinement. H/o Lower back pain aggravated on walking, slight abdominal pain since 3days. . No h/o bleeding p/v, h/o burning </a:t>
            </a:r>
            <a:r>
              <a:rPr lang="en-US" sz="1400" dirty="0" err="1" smtClean="0"/>
              <a:t>micturition</a:t>
            </a:r>
            <a:r>
              <a:rPr lang="en-US" sz="1400" dirty="0" smtClean="0"/>
              <a:t>, white discharge </a:t>
            </a:r>
            <a:r>
              <a:rPr lang="en-US" sz="1400" dirty="0" err="1" smtClean="0"/>
              <a:t>pv,decreased</a:t>
            </a:r>
            <a:r>
              <a:rPr lang="en-US" sz="1400" dirty="0" smtClean="0"/>
              <a:t> urine output</a:t>
            </a:r>
            <a:r>
              <a:rPr lang="en-US" sz="1400" b="1" dirty="0" smtClean="0"/>
              <a:t>.</a:t>
            </a:r>
          </a:p>
          <a:p>
            <a:r>
              <a:rPr lang="en-US" sz="1400" b="1" dirty="0" smtClean="0"/>
              <a:t>Past History: </a:t>
            </a:r>
            <a:r>
              <a:rPr lang="en-US" sz="1400" dirty="0" smtClean="0"/>
              <a:t>History of thyroid disorder present. No h/o hypertension, TB, GDM.</a:t>
            </a:r>
          </a:p>
          <a:p>
            <a:endParaRPr lang="en-US" sz="1400" b="1" dirty="0" smtClean="0"/>
          </a:p>
          <a:p>
            <a:endParaRPr lang="en-US" sz="1400" dirty="0" smtClean="0"/>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dirty="0" err="1" smtClean="0"/>
              <a:t>Erythroblastosis</a:t>
            </a:r>
            <a:r>
              <a:rPr lang="en-US" sz="1200" dirty="0" smtClean="0"/>
              <a:t> </a:t>
            </a:r>
            <a:r>
              <a:rPr lang="en-US" sz="1200" dirty="0" err="1" smtClean="0"/>
              <a:t>fetalis</a:t>
            </a:r>
            <a:endParaRPr lang="en-US" sz="1200" dirty="0" smtClean="0"/>
          </a:p>
          <a:p>
            <a:pPr>
              <a:lnSpc>
                <a:spcPts val="1679"/>
              </a:lnSpc>
              <a:buFont typeface="Arial" pitchFamily="34" charset="0"/>
              <a:buChar char="•"/>
            </a:pPr>
            <a:r>
              <a:rPr lang="en-US" sz="1200" dirty="0" err="1" smtClean="0"/>
              <a:t>Hydrops</a:t>
            </a:r>
            <a:r>
              <a:rPr lang="en-US" sz="1200" dirty="0" smtClean="0"/>
              <a:t> </a:t>
            </a:r>
            <a:r>
              <a:rPr lang="en-US" sz="1200" dirty="0" err="1" smtClean="0"/>
              <a:t>fetalis</a:t>
            </a:r>
            <a:endParaRPr lang="en-US" sz="1200" dirty="0" smtClean="0"/>
          </a:p>
          <a:p>
            <a:pPr>
              <a:lnSpc>
                <a:spcPts val="1679"/>
              </a:lnSpc>
              <a:buFont typeface="Arial" pitchFamily="34" charset="0"/>
              <a:buChar char="•"/>
            </a:pPr>
            <a:r>
              <a:rPr lang="en-US" sz="1200" dirty="0" err="1" smtClean="0"/>
              <a:t>Microangiopathic</a:t>
            </a:r>
            <a:r>
              <a:rPr lang="en-US" sz="1200" dirty="0" smtClean="0"/>
              <a:t> hemolytic anemia</a:t>
            </a:r>
          </a:p>
          <a:p>
            <a:pPr>
              <a:lnSpc>
                <a:spcPts val="1679"/>
              </a:lnSpc>
              <a:buFont typeface="Arial" pitchFamily="34" charset="0"/>
              <a:buChar char="•"/>
            </a:pPr>
            <a:r>
              <a:rPr lang="en-US" sz="1200" dirty="0" err="1" smtClean="0"/>
              <a:t>Spherocytosis</a:t>
            </a:r>
            <a:endParaRPr lang="en-US" sz="1200" dirty="0" smtClean="0"/>
          </a:p>
          <a:p>
            <a:pPr>
              <a:lnSpc>
                <a:spcPts val="1679"/>
              </a:lnSpc>
              <a:buFont typeface="Arial" pitchFamily="34" charset="0"/>
              <a:buChar char="•"/>
            </a:pPr>
            <a:r>
              <a:rPr lang="en-US" sz="1200" dirty="0" smtClean="0"/>
              <a:t>Alpha </a:t>
            </a:r>
            <a:r>
              <a:rPr lang="en-US" sz="1200" dirty="0" err="1" smtClean="0"/>
              <a:t>thalassemia</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847030"/>
            <a:ext cx="7217960" cy="1962076"/>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admitted and routine investigations were done</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CBC shows </a:t>
            </a:r>
            <a:r>
              <a:rPr lang="en-IN" sz="1200" dirty="0" err="1" smtClean="0">
                <a:solidFill>
                  <a:srgbClr val="000000"/>
                </a:solidFill>
                <a:latin typeface="Cambria"/>
                <a:ea typeface="Cambria"/>
                <a:cs typeface="Cambria"/>
                <a:sym typeface="Cambria"/>
              </a:rPr>
              <a:t>hb</a:t>
            </a:r>
            <a:r>
              <a:rPr lang="en-IN" sz="1200" dirty="0" smtClean="0">
                <a:solidFill>
                  <a:srgbClr val="000000"/>
                </a:solidFill>
                <a:latin typeface="Cambria"/>
                <a:ea typeface="Cambria"/>
                <a:cs typeface="Cambria"/>
                <a:sym typeface="Cambria"/>
              </a:rPr>
              <a:t>: 12.6</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CRP shows 11.5mg/l (HIGH)</a:t>
            </a:r>
          </a:p>
          <a:p>
            <a:pPr>
              <a:lnSpc>
                <a:spcPts val="1679"/>
              </a:lnSpc>
              <a:buFont typeface="Arial" pitchFamily="34" charset="0"/>
              <a:buChar char="•"/>
            </a:pPr>
            <a:r>
              <a:rPr lang="en-US" sz="1200" dirty="0" smtClean="0"/>
              <a:t>LLP/FKC/FHR monitoring, normal </a:t>
            </a:r>
            <a:r>
              <a:rPr lang="en-US" sz="1200" dirty="0" err="1" smtClean="0"/>
              <a:t>diet,plenty</a:t>
            </a:r>
            <a:r>
              <a:rPr lang="en-US" sz="1200" dirty="0" smtClean="0"/>
              <a:t> of oral fluids </a:t>
            </a:r>
          </a:p>
          <a:p>
            <a:pPr>
              <a:lnSpc>
                <a:spcPts val="1679"/>
              </a:lnSpc>
              <a:buFont typeface="Arial" pitchFamily="34" charset="0"/>
              <a:buChar char="•"/>
            </a:pPr>
            <a:r>
              <a:rPr lang="en-US" sz="1200" dirty="0" smtClean="0"/>
              <a:t>Tab. </a:t>
            </a:r>
            <a:r>
              <a:rPr lang="en-US" sz="1200" dirty="0" err="1" smtClean="0"/>
              <a:t>Livogen</a:t>
            </a:r>
            <a:r>
              <a:rPr lang="en-US" sz="1200" dirty="0" smtClean="0"/>
              <a:t> </a:t>
            </a:r>
            <a:r>
              <a:rPr lang="en-US" sz="1200" dirty="0" err="1" smtClean="0"/>
              <a:t>od</a:t>
            </a:r>
            <a:r>
              <a:rPr lang="en-US" sz="1200" dirty="0" smtClean="0"/>
              <a:t> </a:t>
            </a:r>
          </a:p>
          <a:p>
            <a:pPr>
              <a:lnSpc>
                <a:spcPts val="1679"/>
              </a:lnSpc>
              <a:buFont typeface="Arial" pitchFamily="34" charset="0"/>
              <a:buChar char="•"/>
            </a:pPr>
            <a:r>
              <a:rPr lang="en-US" sz="1200" dirty="0" smtClean="0"/>
              <a:t> Tab. Calcium 500mg </a:t>
            </a:r>
            <a:r>
              <a:rPr lang="en-US" sz="1200" dirty="0" err="1" smtClean="0"/>
              <a:t>od</a:t>
            </a:r>
            <a:r>
              <a:rPr lang="en-US" sz="1200" dirty="0" smtClean="0"/>
              <a:t> </a:t>
            </a:r>
          </a:p>
          <a:p>
            <a:pPr>
              <a:lnSpc>
                <a:spcPts val="1679"/>
              </a:lnSpc>
              <a:buFont typeface="Arial" pitchFamily="34" charset="0"/>
              <a:buChar char="•"/>
            </a:pPr>
            <a:r>
              <a:rPr lang="en-US" sz="1200" dirty="0" smtClean="0"/>
              <a:t> Tab. </a:t>
            </a:r>
            <a:r>
              <a:rPr lang="en-US" sz="1200" dirty="0" err="1" smtClean="0"/>
              <a:t>Thyronorm</a:t>
            </a:r>
            <a:r>
              <a:rPr lang="en-US" sz="1200" dirty="0" smtClean="0"/>
              <a:t> 25mcg </a:t>
            </a:r>
            <a:endParaRPr lang="en-IN"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IN"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sp>
        <p:nvSpPr>
          <p:cNvPr id="54" name="TextBox 53"/>
          <p:cNvSpPr txBox="1"/>
          <p:nvPr/>
        </p:nvSpPr>
        <p:spPr>
          <a:xfrm>
            <a:off x="11199838" y="4346568"/>
            <a:ext cx="3357586" cy="246221"/>
          </a:xfrm>
          <a:prstGeom prst="rect">
            <a:avLst/>
          </a:prstGeom>
          <a:noFill/>
        </p:spPr>
        <p:txBody>
          <a:bodyPr wrap="square" rtlCol="0">
            <a:spAutoFit/>
          </a:bodyPr>
          <a:lstStyle/>
          <a:p>
            <a:r>
              <a:rPr lang="en-IN" sz="1000" dirty="0" smtClean="0"/>
              <a:t>=</a:t>
            </a:r>
            <a:endParaRPr lang="en-US" sz="1000" dirty="0"/>
          </a:p>
        </p:txBody>
      </p:sp>
      <p:pic>
        <p:nvPicPr>
          <p:cNvPr id="7170"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pic>
        <p:nvPicPr>
          <p:cNvPr id="7171" name="Picture 3"/>
          <p:cNvPicPr>
            <a:picLocks noChangeAspect="1" noChangeArrowheads="1"/>
          </p:cNvPicPr>
          <p:nvPr/>
        </p:nvPicPr>
        <p:blipFill>
          <a:blip r:embed="rId4"/>
          <a:srcRect/>
          <a:stretch>
            <a:fillRect/>
          </a:stretch>
        </p:blipFill>
        <p:spPr bwMode="auto">
          <a:xfrm>
            <a:off x="555576" y="1489048"/>
            <a:ext cx="6357982" cy="2071702"/>
          </a:xfrm>
          <a:prstGeom prst="rect">
            <a:avLst/>
          </a:prstGeom>
          <a:noFill/>
          <a:ln w="9525">
            <a:noFill/>
            <a:miter lim="800000"/>
            <a:headEnd/>
            <a:tailEnd/>
          </a:ln>
          <a:effectLst/>
        </p:spPr>
      </p:pic>
      <p:pic>
        <p:nvPicPr>
          <p:cNvPr id="7172" name="Picture 4"/>
          <p:cNvPicPr>
            <a:picLocks noChangeAspect="1" noChangeArrowheads="1"/>
          </p:cNvPicPr>
          <p:nvPr/>
        </p:nvPicPr>
        <p:blipFill>
          <a:blip r:embed="rId5"/>
          <a:srcRect/>
          <a:stretch>
            <a:fillRect/>
          </a:stretch>
        </p:blipFill>
        <p:spPr bwMode="auto">
          <a:xfrm>
            <a:off x="412700" y="3703626"/>
            <a:ext cx="6572296" cy="5214974"/>
          </a:xfrm>
          <a:prstGeom prst="rect">
            <a:avLst/>
          </a:prstGeom>
          <a:noFill/>
          <a:ln w="9525">
            <a:noFill/>
            <a:miter lim="800000"/>
            <a:headEnd/>
            <a:tailEnd/>
          </a:ln>
          <a:effectLst/>
        </p:spPr>
      </p:pic>
      <p:sp>
        <p:nvSpPr>
          <p:cNvPr id="56" name="TextBox 50"/>
          <p:cNvSpPr txBox="1"/>
          <p:nvPr/>
        </p:nvSpPr>
        <p:spPr>
          <a:xfrm>
            <a:off x="11628466" y="470375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8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240821236832</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t>
            </a:r>
            <a:r>
              <a:rPr lang="it-IT" sz="2400" b="1" dirty="0" smtClean="0">
                <a:latin typeface="Cambria Bold Italics" charset="0"/>
              </a:rPr>
              <a:t>primary infertility, irregular cycles</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Gayathri</a:t>
            </a:r>
            <a:r>
              <a:rPr lang="en-US" sz="1600" b="1" dirty="0" smtClean="0">
                <a:solidFill>
                  <a:srgbClr val="000000"/>
                </a:solidFill>
                <a:latin typeface="Cambria Bold"/>
                <a:ea typeface="Cambria Bold"/>
                <a:cs typeface="Cambria Bold"/>
                <a:sym typeface="Cambria Bold"/>
              </a:rPr>
              <a:t> K</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25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077766"/>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BP-126/82mmHg,RR-16/min,Sp02-97%,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CNS examination: NFND, no loss of sensation</a:t>
            </a:r>
            <a:endParaRPr lang="en-US" sz="1000" b="1" dirty="0" smtClean="0">
              <a:solidFill>
                <a:srgbClr val="000000"/>
              </a:solidFill>
              <a:latin typeface="Cambria Bold"/>
              <a:ea typeface="Cambria Bold"/>
              <a:cs typeface="Cambria Bold"/>
              <a:sym typeface="Cambria Bold"/>
            </a:endParaRPr>
          </a:p>
          <a:p>
            <a:pPr>
              <a:buFont typeface="Wingdings" pitchFamily="2" charset="2"/>
              <a:buChar char="Ø"/>
            </a:pPr>
            <a:r>
              <a:rPr lang="en-US" sz="1000" b="1" dirty="0" smtClean="0"/>
              <a:t>PER ABDOMEN: </a:t>
            </a:r>
            <a:r>
              <a:rPr lang="en-US" sz="1000" b="1" dirty="0" err="1" smtClean="0"/>
              <a:t>Soft,non</a:t>
            </a:r>
            <a:r>
              <a:rPr lang="en-US" sz="1000" b="1" dirty="0" smtClean="0"/>
              <a:t> tender</a:t>
            </a:r>
            <a:endParaRPr lang="en-US" sz="1000" dirty="0" smtClean="0"/>
          </a:p>
          <a:p>
            <a:pPr>
              <a:buFont typeface="Wingdings" pitchFamily="2" charset="2"/>
              <a:buChar char="Ø"/>
            </a:pPr>
            <a:r>
              <a:rPr lang="en-US" sz="1000" b="1" dirty="0" smtClean="0"/>
              <a:t>PER SPECULUM EXAMINATION: Cervix and vagina healthy, mild bleeding through </a:t>
            </a:r>
            <a:r>
              <a:rPr lang="en-US" sz="1000" b="1" dirty="0" err="1" smtClean="0"/>
              <a:t>os</a:t>
            </a:r>
            <a:r>
              <a:rPr lang="en-US" sz="1000" b="1" dirty="0" smtClean="0"/>
              <a:t> +</a:t>
            </a:r>
            <a:endParaRPr lang="en-US" sz="1000" dirty="0" smtClean="0"/>
          </a:p>
          <a:p>
            <a:pPr>
              <a:buFont typeface="Wingdings" pitchFamily="2" charset="2"/>
              <a:buChar char="Ø"/>
            </a:pPr>
            <a:r>
              <a:rPr lang="en-US" sz="1000" b="1" dirty="0" smtClean="0"/>
              <a:t>PER VAGINAL EXAMINATION: Cervix pointing downwards, uterus </a:t>
            </a:r>
            <a:r>
              <a:rPr lang="en-US" sz="1000" b="1" dirty="0" err="1" smtClean="0"/>
              <a:t>anteverted</a:t>
            </a:r>
            <a:r>
              <a:rPr lang="en-US" sz="1000" b="1" dirty="0" smtClean="0"/>
              <a:t>, normal size, b /l </a:t>
            </a:r>
            <a:r>
              <a:rPr lang="en-US" sz="1000" b="1" dirty="0" err="1" smtClean="0"/>
              <a:t>fornices</a:t>
            </a:r>
            <a:r>
              <a:rPr lang="en-US" sz="1000" b="1" dirty="0" smtClean="0"/>
              <a:t> free, non tender</a:t>
            </a:r>
            <a:endParaRPr lang="en-US" sz="1000" dirty="0" smtClean="0"/>
          </a:p>
          <a:p>
            <a:pPr>
              <a:lnSpc>
                <a:spcPts val="1679"/>
              </a:lnSpc>
              <a:buFont typeface="Arial" pitchFamily="34" charset="0"/>
              <a:buChar char="•"/>
            </a:pPr>
            <a:endParaRPr lang="en-US" sz="1000" b="1" dirty="0" smtClean="0">
              <a:solidFill>
                <a:srgbClr val="000000"/>
              </a:solidFill>
              <a:latin typeface="Cambria Bold"/>
              <a:ea typeface="Cambria Bold"/>
              <a:cs typeface="Cambria Bold"/>
              <a:sym typeface="Cambria Bold"/>
            </a:endParaRPr>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539430"/>
          </a:xfrm>
          <a:prstGeom prst="rect">
            <a:avLst/>
          </a:prstGeom>
          <a:noFill/>
        </p:spPr>
        <p:txBody>
          <a:bodyPr wrap="square" rtlCol="0">
            <a:spAutoFit/>
          </a:bodyPr>
          <a:lstStyle/>
          <a:p>
            <a:r>
              <a:rPr lang="en-US" sz="1400" b="1" dirty="0" smtClean="0"/>
              <a:t>CHIEF COMPLAINTS: </a:t>
            </a:r>
            <a:r>
              <a:rPr lang="en-US" sz="1400" dirty="0" smtClean="0"/>
              <a:t>Patient came for review of irregular menstrual cycle, 3-4 / 2-3 months cycle</a:t>
            </a:r>
            <a:r>
              <a:rPr lang="en-US" sz="1400" b="1" dirty="0" smtClean="0"/>
              <a:t>.</a:t>
            </a:r>
          </a:p>
          <a:p>
            <a:r>
              <a:rPr lang="en-US" sz="1400" b="1" dirty="0" smtClean="0"/>
              <a:t>HISTORY OF PRESENTING COMPLAINTS: </a:t>
            </a:r>
            <a:r>
              <a:rPr lang="en-US" sz="1400" dirty="0" smtClean="0"/>
              <a:t>Patient came for review of irregular menstrual cycle. H/o giddiness, tremor present. No h/o abdomen pain, fever, nausea, vomiting, burning </a:t>
            </a:r>
            <a:r>
              <a:rPr lang="en-US" sz="1400" dirty="0" err="1" smtClean="0"/>
              <a:t>micturition</a:t>
            </a:r>
            <a:r>
              <a:rPr lang="en-US" sz="1400" dirty="0" smtClean="0"/>
              <a:t>, white discharge </a:t>
            </a:r>
            <a:r>
              <a:rPr lang="en-US" sz="1400" dirty="0" err="1" smtClean="0"/>
              <a:t>pv,decreased</a:t>
            </a:r>
            <a:r>
              <a:rPr lang="en-US" sz="1400" dirty="0" smtClean="0"/>
              <a:t> urine output.</a:t>
            </a:r>
          </a:p>
          <a:p>
            <a:r>
              <a:rPr lang="en-US" sz="1400" b="1" dirty="0" smtClean="0"/>
              <a:t>Past History: </a:t>
            </a:r>
            <a:r>
              <a:rPr lang="en-US" sz="1400" dirty="0" smtClean="0"/>
              <a:t>H/o irregular periods for past 2 years. No h/o T2DM, hypertension, TB, TB CONTACT, thyroid disorder</a:t>
            </a:r>
          </a:p>
          <a:p>
            <a:r>
              <a:rPr lang="en-US" sz="1400" b="1" dirty="0" smtClean="0"/>
              <a:t>Personal History:</a:t>
            </a:r>
            <a:r>
              <a:rPr lang="en-US" sz="1400" dirty="0" smtClean="0"/>
              <a:t> Normal sleep, normal bowel and bladder movements, mixed diet .</a:t>
            </a:r>
          </a:p>
          <a:p>
            <a:endParaRPr lang="en-US" sz="1400" dirty="0" smtClean="0"/>
          </a:p>
          <a:p>
            <a:endParaRPr lang="en-US" sz="1400" b="1" dirty="0" smtClean="0"/>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308050"/>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Polycystic ovary syndrome (PCOS)</a:t>
            </a:r>
          </a:p>
          <a:p>
            <a:pPr>
              <a:lnSpc>
                <a:spcPts val="1679"/>
              </a:lnSpc>
              <a:buFont typeface="Arial" pitchFamily="34" charset="0"/>
              <a:buChar char="•"/>
            </a:pPr>
            <a:r>
              <a:rPr lang="en-US" sz="1200" dirty="0" smtClean="0"/>
              <a:t>Thyroid disorders</a:t>
            </a:r>
          </a:p>
          <a:p>
            <a:pPr>
              <a:lnSpc>
                <a:spcPts val="1679"/>
              </a:lnSpc>
              <a:buFont typeface="Arial" pitchFamily="34" charset="0"/>
              <a:buChar char="•"/>
            </a:pPr>
            <a:r>
              <a:rPr lang="en-US" sz="1200" dirty="0" smtClean="0"/>
              <a:t>Premature ovarian failure</a:t>
            </a:r>
          </a:p>
          <a:p>
            <a:pPr>
              <a:lnSpc>
                <a:spcPts val="1679"/>
              </a:lnSpc>
              <a:buFont typeface="Arial" pitchFamily="34" charset="0"/>
              <a:buChar char="•"/>
            </a:pPr>
            <a:r>
              <a:rPr lang="en-US" sz="1200" dirty="0" smtClean="0"/>
              <a:t>Endometriosis</a:t>
            </a:r>
          </a:p>
          <a:p>
            <a:pPr>
              <a:lnSpc>
                <a:spcPts val="1679"/>
              </a:lnSpc>
              <a:buFont typeface="Arial" pitchFamily="34" charset="0"/>
              <a:buChar char="•"/>
            </a:pPr>
            <a:r>
              <a:rPr lang="en-US" sz="1200" dirty="0" smtClean="0"/>
              <a:t>Pelvic inflammatory disease (PID</a:t>
            </a:r>
            <a:r>
              <a:rPr lang="en-US" sz="1200" b="1" dirty="0" smtClean="0"/>
              <a:t>)</a:t>
            </a:r>
          </a:p>
          <a:p>
            <a:pPr>
              <a:lnSpc>
                <a:spcPts val="1679"/>
              </a:lnSpc>
              <a:buFont typeface="Arial" pitchFamily="34" charset="0"/>
              <a:buChar char="•"/>
            </a:pP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918468"/>
            <a:ext cx="7217960" cy="1526059"/>
          </a:xfrm>
          <a:prstGeom prst="rect">
            <a:avLst/>
          </a:prstGeom>
        </p:spPr>
        <p:txBody>
          <a:bodyPr lIns="0" tIns="0" rIns="0" bIns="0" rtlCol="0" anchor="t">
            <a:spAutoFit/>
          </a:bodyPr>
          <a:lstStyle/>
          <a:p>
            <a:pPr>
              <a:lnSpc>
                <a:spcPts val="1679"/>
              </a:lnSpc>
              <a:buFont typeface="Arial" pitchFamily="34" charset="0"/>
              <a:buChar char="•"/>
            </a:pPr>
            <a:r>
              <a:rPr lang="en-US" sz="1200" dirty="0" smtClean="0"/>
              <a:t>Patient was advised to do TFT, FERTILITY HORMONE TEST and review with reports</a:t>
            </a:r>
          </a:p>
          <a:p>
            <a:pPr>
              <a:lnSpc>
                <a:spcPts val="1679"/>
              </a:lnSpc>
              <a:buFont typeface="Arial" pitchFamily="34" charset="0"/>
              <a:buChar char="•"/>
            </a:pPr>
            <a:r>
              <a:rPr lang="en-IN" sz="1200" dirty="0" smtClean="0"/>
              <a:t>TFT shows normal thyroid hormones</a:t>
            </a:r>
          </a:p>
          <a:p>
            <a:pPr>
              <a:lnSpc>
                <a:spcPts val="1679"/>
              </a:lnSpc>
              <a:buFont typeface="Arial" pitchFamily="34" charset="0"/>
              <a:buChar char="•"/>
            </a:pPr>
            <a:r>
              <a:rPr lang="en-IN" sz="1200" dirty="0" smtClean="0"/>
              <a:t>LH, FSH are normal</a:t>
            </a:r>
          </a:p>
          <a:p>
            <a:pPr>
              <a:lnSpc>
                <a:spcPts val="1679"/>
              </a:lnSpc>
              <a:buFont typeface="Arial" pitchFamily="34" charset="0"/>
              <a:buChar char="•"/>
            </a:pPr>
            <a:r>
              <a:rPr lang="en-US" sz="1200" dirty="0" smtClean="0"/>
              <a:t>Tab </a:t>
            </a:r>
            <a:r>
              <a:rPr lang="en-US" sz="1200" dirty="0" err="1" smtClean="0"/>
              <a:t>Meprate</a:t>
            </a:r>
            <a:r>
              <a:rPr lang="en-US" sz="1200" dirty="0" smtClean="0"/>
              <a:t> 10mg </a:t>
            </a:r>
            <a:r>
              <a:rPr lang="en-US" sz="1200" dirty="0" err="1" smtClean="0"/>
              <a:t>bd</a:t>
            </a:r>
            <a:r>
              <a:rPr lang="en-US" sz="1200" dirty="0" smtClean="0"/>
              <a:t> for 5 days</a:t>
            </a:r>
          </a:p>
          <a:p>
            <a:pPr>
              <a:lnSpc>
                <a:spcPts val="1679"/>
              </a:lnSpc>
              <a:buFont typeface="Arial" pitchFamily="34" charset="0"/>
              <a:buChar char="•"/>
            </a:pPr>
            <a:r>
              <a:rPr lang="en-IN" sz="1200" dirty="0" smtClean="0"/>
              <a:t>OVRAL-L</a:t>
            </a:r>
          </a:p>
          <a:p>
            <a:pPr>
              <a:lnSpc>
                <a:spcPts val="1679"/>
              </a:lnSpc>
              <a:buFont typeface="Arial" pitchFamily="34" charset="0"/>
              <a:buChar char="•"/>
            </a:pPr>
            <a:endParaRPr lang="en-US" sz="1200" b="1" dirty="0" smtClean="0"/>
          </a:p>
          <a:p>
            <a:pPr>
              <a:lnSpc>
                <a:spcPts val="1679"/>
              </a:lnSpc>
              <a:buFont typeface="Arial" pitchFamily="34" charset="0"/>
              <a:buChar char="•"/>
            </a:pPr>
            <a:endParaRPr lang="en-US" sz="1200" u="sng" dirty="0" smtClean="0">
              <a:solidFill>
                <a:srgbClr val="000000"/>
              </a:solidFill>
              <a:latin typeface="Cambria"/>
              <a:ea typeface="Cambria"/>
              <a:cs typeface="Cambria"/>
              <a:sym typeface="Cambria"/>
            </a:endParaRPr>
          </a:p>
        </p:txBody>
      </p:sp>
      <p:pic>
        <p:nvPicPr>
          <p:cNvPr id="1026" name="Picture 2"/>
          <p:cNvPicPr>
            <a:picLocks noChangeAspect="1" noChangeArrowheads="1"/>
          </p:cNvPicPr>
          <p:nvPr/>
        </p:nvPicPr>
        <p:blipFill>
          <a:blip r:embed="rId3"/>
          <a:srcRect/>
          <a:stretch>
            <a:fillRect/>
          </a:stretch>
        </p:blipFill>
        <p:spPr bwMode="auto">
          <a:xfrm>
            <a:off x="12485722" y="1631924"/>
            <a:ext cx="2214578" cy="2500330"/>
          </a:xfrm>
          <a:prstGeom prst="rect">
            <a:avLst/>
          </a:prstGeom>
          <a:noFill/>
          <a:ln w="9525">
            <a:noFill/>
            <a:miter lim="800000"/>
            <a:headEnd/>
            <a:tailEnd/>
          </a:ln>
          <a:effectLst/>
        </p:spPr>
      </p:pic>
      <p:sp>
        <p:nvSpPr>
          <p:cNvPr id="56" name="TextBox 50"/>
          <p:cNvSpPr txBox="1"/>
          <p:nvPr/>
        </p:nvSpPr>
        <p:spPr>
          <a:xfrm>
            <a:off x="11628466" y="4703758"/>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pic>
        <p:nvPicPr>
          <p:cNvPr id="1027" name="Picture 3"/>
          <p:cNvPicPr>
            <a:picLocks noChangeAspect="1" noChangeArrowheads="1"/>
          </p:cNvPicPr>
          <p:nvPr/>
        </p:nvPicPr>
        <p:blipFill>
          <a:blip r:embed="rId4"/>
          <a:srcRect/>
          <a:stretch>
            <a:fillRect/>
          </a:stretch>
        </p:blipFill>
        <p:spPr bwMode="auto">
          <a:xfrm>
            <a:off x="484138" y="1489048"/>
            <a:ext cx="6429420" cy="12382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a:stretch>
            <a:fillRect/>
          </a:stretch>
        </p:blipFill>
        <p:spPr bwMode="auto">
          <a:xfrm>
            <a:off x="627014" y="3203560"/>
            <a:ext cx="6215106" cy="11811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6"/>
          <a:srcRect/>
          <a:stretch>
            <a:fillRect/>
          </a:stretch>
        </p:blipFill>
        <p:spPr bwMode="auto">
          <a:xfrm>
            <a:off x="555576" y="4846634"/>
            <a:ext cx="6357982" cy="1247775"/>
          </a:xfrm>
          <a:prstGeom prst="rect">
            <a:avLst/>
          </a:prstGeom>
          <a:noFill/>
          <a:ln w="9525">
            <a:noFill/>
            <a:miter lim="800000"/>
            <a:headEnd/>
            <a:tailEnd/>
          </a:ln>
          <a:effectLst/>
        </p:spPr>
      </p:pic>
      <p:pic>
        <p:nvPicPr>
          <p:cNvPr id="1030" name="Picture 6"/>
          <p:cNvPicPr>
            <a:picLocks noChangeAspect="1" noChangeArrowheads="1"/>
          </p:cNvPicPr>
          <p:nvPr/>
        </p:nvPicPr>
        <p:blipFill>
          <a:blip r:embed="rId7"/>
          <a:srcRect/>
          <a:stretch>
            <a:fillRect/>
          </a:stretch>
        </p:blipFill>
        <p:spPr bwMode="auto">
          <a:xfrm>
            <a:off x="627014" y="6489708"/>
            <a:ext cx="3686175" cy="1209675"/>
          </a:xfrm>
          <a:prstGeom prst="rect">
            <a:avLst/>
          </a:prstGeom>
          <a:noFill/>
          <a:ln w="9525">
            <a:noFill/>
            <a:miter lim="800000"/>
            <a:headEnd/>
            <a:tailEnd/>
          </a:ln>
          <a:effectLst/>
        </p:spPr>
      </p:pic>
      <p:pic>
        <p:nvPicPr>
          <p:cNvPr id="1031" name="Picture 7"/>
          <p:cNvPicPr>
            <a:picLocks noChangeAspect="1" noChangeArrowheads="1"/>
          </p:cNvPicPr>
          <p:nvPr/>
        </p:nvPicPr>
        <p:blipFill>
          <a:blip r:embed="rId8"/>
          <a:srcRect/>
          <a:stretch>
            <a:fillRect/>
          </a:stretch>
        </p:blipFill>
        <p:spPr bwMode="auto">
          <a:xfrm>
            <a:off x="3555972" y="6418270"/>
            <a:ext cx="3162300" cy="1276350"/>
          </a:xfrm>
          <a:prstGeom prst="rect">
            <a:avLst/>
          </a:prstGeom>
          <a:noFill/>
          <a:ln w="9525">
            <a:noFill/>
            <a:miter lim="800000"/>
            <a:headEnd/>
            <a:tailEnd/>
          </a:ln>
          <a:effectLst/>
        </p:spPr>
      </p:pic>
      <p:pic>
        <p:nvPicPr>
          <p:cNvPr id="1032" name="Picture 8"/>
          <p:cNvPicPr>
            <a:picLocks noChangeAspect="1" noChangeArrowheads="1"/>
          </p:cNvPicPr>
          <p:nvPr/>
        </p:nvPicPr>
        <p:blipFill>
          <a:blip r:embed="rId9"/>
          <a:srcRect/>
          <a:stretch>
            <a:fillRect/>
          </a:stretch>
        </p:blipFill>
        <p:spPr bwMode="auto">
          <a:xfrm>
            <a:off x="484138" y="7847030"/>
            <a:ext cx="6286544" cy="8572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9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230912128766</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43043"/>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polycystic ovarian disease</a:t>
            </a:r>
            <a:r>
              <a:rPr lang="en-US" sz="2199" b="1" i="1" dirty="0" smtClean="0">
                <a:solidFill>
                  <a:srgbClr val="000000"/>
                </a:solidFill>
                <a:latin typeface="Cambria Bold" charset="0"/>
                <a:ea typeface="Cambria Bold Italics"/>
                <a:cs typeface="Cambria Bold Italics"/>
                <a:sym typeface="Cambria Bold Italics"/>
              </a:rPr>
              <a:t> </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Rajalakshmi</a:t>
            </a:r>
            <a:r>
              <a:rPr lang="en-US" sz="1600" b="1" dirty="0" smtClean="0">
                <a:solidFill>
                  <a:srgbClr val="000000"/>
                </a:solidFill>
                <a:latin typeface="Cambria Bold"/>
                <a:ea typeface="Cambria Bold"/>
                <a:cs typeface="Cambria Bold"/>
                <a:sym typeface="Cambria Bold"/>
              </a:rPr>
              <a:t> S</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25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231654"/>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BP-126/82mmHg,RR-16/min,Sp02-97%,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CNS examination: NFND, no loss of sensation</a:t>
            </a:r>
          </a:p>
          <a:p>
            <a:pPr>
              <a:buFont typeface="Wingdings" pitchFamily="2" charset="2"/>
              <a:buChar char="Ø"/>
            </a:pPr>
            <a:r>
              <a:rPr lang="en-US" sz="1000" b="1" dirty="0" smtClean="0"/>
              <a:t>PER ABDOMEN- INSPECTION: </a:t>
            </a:r>
            <a:r>
              <a:rPr lang="en-US" sz="1000" b="1" dirty="0" err="1" smtClean="0"/>
              <a:t>sphrrical</a:t>
            </a:r>
            <a:r>
              <a:rPr lang="en-US" sz="1000" b="1" dirty="0" smtClean="0"/>
              <a:t> shape, no scars, sinus. PALPATION: Soft non tender</a:t>
            </a:r>
          </a:p>
          <a:p>
            <a:pPr>
              <a:buFont typeface="Wingdings" pitchFamily="2" charset="2"/>
              <a:buChar char="Ø"/>
            </a:pPr>
            <a:r>
              <a:rPr lang="en-US" sz="1000" b="1" dirty="0" smtClean="0"/>
              <a:t>PER SPECULUM EXAMINATION: Not willing</a:t>
            </a:r>
            <a:endParaRPr lang="en-US" sz="1000" dirty="0" smtClean="0"/>
          </a:p>
          <a:p>
            <a:pPr>
              <a:buFont typeface="Wingdings" pitchFamily="2" charset="2"/>
              <a:buChar char="Ø"/>
            </a:pPr>
            <a:r>
              <a:rPr lang="en-US" sz="1000" b="1" dirty="0" smtClean="0"/>
              <a:t>PER VAGINAL EXAMINATION: Not willing</a:t>
            </a:r>
            <a:endParaRPr lang="en-US" sz="1000" dirty="0" smtClean="0"/>
          </a:p>
          <a:p>
            <a:endParaRPr lang="en-US" sz="1000" dirty="0" smtClean="0"/>
          </a:p>
          <a:p>
            <a:pPr>
              <a:lnSpc>
                <a:spcPts val="1679"/>
              </a:lnSpc>
              <a:buFont typeface="Arial" pitchFamily="34" charset="0"/>
              <a:buChar char="•"/>
            </a:pPr>
            <a:endParaRPr lang="en-US" sz="1000" b="1" dirty="0" smtClean="0">
              <a:solidFill>
                <a:srgbClr val="000000"/>
              </a:solidFill>
              <a:latin typeface="Cambria Bold"/>
              <a:ea typeface="Cambria Bold"/>
              <a:cs typeface="Cambria Bold"/>
              <a:sym typeface="Cambria Bold"/>
            </a:endParaRPr>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539430"/>
          </a:xfrm>
          <a:prstGeom prst="rect">
            <a:avLst/>
          </a:prstGeom>
          <a:noFill/>
        </p:spPr>
        <p:txBody>
          <a:bodyPr wrap="square" rtlCol="0">
            <a:spAutoFit/>
          </a:bodyPr>
          <a:lstStyle/>
          <a:p>
            <a:r>
              <a:rPr lang="en-IN" sz="1400" b="1" dirty="0" smtClean="0"/>
              <a:t>CHIEF </a:t>
            </a:r>
            <a:r>
              <a:rPr lang="en-US" sz="1400" b="1" dirty="0" smtClean="0"/>
              <a:t>COMPLAINTS: </a:t>
            </a:r>
            <a:r>
              <a:rPr lang="en-US" sz="1400" dirty="0" smtClean="0"/>
              <a:t>C/o irregular periods for past 6 months</a:t>
            </a:r>
          </a:p>
          <a:p>
            <a:r>
              <a:rPr lang="en-US" sz="1400" dirty="0" smtClean="0"/>
              <a:t>History of Presenting Illness: C/o irregular periods for past 6 months, periods was earlier seen once in 3 months, h/o back pain is seen, h/o weight gain( is seen , h/o hair fall, fatigue , nausea. No h/o fever, headache, loss of appetite. Irregular cycles LMP 9/6/2024 , complaints of </a:t>
            </a:r>
            <a:r>
              <a:rPr lang="en-US" sz="1400" dirty="0" err="1" smtClean="0"/>
              <a:t>dysmenorhea</a:t>
            </a:r>
            <a:r>
              <a:rPr lang="en-US" sz="1400" dirty="0" smtClean="0"/>
              <a:t> 2 to 3 pads per day, complaints of passage of clots and </a:t>
            </a:r>
            <a:r>
              <a:rPr lang="en-US" sz="1400" dirty="0" err="1" smtClean="0"/>
              <a:t>dysmennorhea</a:t>
            </a:r>
            <a:endParaRPr lang="en-US" sz="1400" dirty="0" smtClean="0"/>
          </a:p>
          <a:p>
            <a:r>
              <a:rPr lang="en-US" sz="1400" b="1" dirty="0" smtClean="0"/>
              <a:t>Past Medical History</a:t>
            </a:r>
            <a:r>
              <a:rPr lang="en-US" sz="1400" dirty="0" smtClean="0"/>
              <a:t>: Hypothyroid for past 1 year. No h/o T2DM, hypertension, TB, seizure.</a:t>
            </a:r>
          </a:p>
          <a:p>
            <a:r>
              <a:rPr lang="en-US" sz="1400" b="1" dirty="0" smtClean="0"/>
              <a:t>Family History: </a:t>
            </a:r>
            <a:r>
              <a:rPr lang="en-US" sz="1400" dirty="0" smtClean="0"/>
              <a:t>Father is a known case of T2DM</a:t>
            </a:r>
          </a:p>
          <a:p>
            <a:endParaRPr lang="en-US" sz="1400" dirty="0" smtClean="0"/>
          </a:p>
          <a:p>
            <a:endParaRPr lang="en-US" sz="1400" dirty="0" smtClean="0"/>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b="1" dirty="0" err="1" smtClean="0"/>
              <a:t>Hyperprolactinemia</a:t>
            </a:r>
            <a:endParaRPr lang="en-US" sz="1200" dirty="0" smtClean="0"/>
          </a:p>
          <a:p>
            <a:pPr>
              <a:lnSpc>
                <a:spcPts val="1679"/>
              </a:lnSpc>
              <a:buFont typeface="Arial" pitchFamily="34" charset="0"/>
              <a:buChar char="•"/>
            </a:pPr>
            <a:r>
              <a:rPr lang="en-US" sz="1200" dirty="0" smtClean="0"/>
              <a:t>Hypothyroidism </a:t>
            </a:r>
          </a:p>
          <a:p>
            <a:pPr>
              <a:lnSpc>
                <a:spcPts val="1679"/>
              </a:lnSpc>
              <a:buFont typeface="Arial" pitchFamily="34" charset="0"/>
              <a:buChar char="•"/>
            </a:pPr>
            <a:r>
              <a:rPr lang="en-US" sz="1200" dirty="0" smtClean="0"/>
              <a:t>Congenital adrenal hyperplasia</a:t>
            </a:r>
          </a:p>
          <a:p>
            <a:pPr>
              <a:lnSpc>
                <a:spcPts val="1679"/>
              </a:lnSpc>
              <a:buFont typeface="Arial" pitchFamily="34" charset="0"/>
              <a:buChar char="•"/>
            </a:pPr>
            <a:r>
              <a:rPr lang="en-US" sz="1200" dirty="0" smtClean="0"/>
              <a:t>Pituitary tumors</a:t>
            </a:r>
          </a:p>
          <a:p>
            <a:pPr>
              <a:lnSpc>
                <a:spcPts val="1679"/>
              </a:lnSpc>
              <a:buFont typeface="Arial" pitchFamily="34" charset="0"/>
              <a:buChar char="•"/>
            </a:pPr>
            <a:r>
              <a:rPr lang="en-US" sz="1200" dirty="0" smtClean="0"/>
              <a:t>Ovarian malignancies</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918468"/>
            <a:ext cx="7217960" cy="1208023"/>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USG</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USG abdomen shows normal ovary</a:t>
            </a:r>
          </a:p>
          <a:p>
            <a:pPr>
              <a:buFont typeface="Arial" pitchFamily="34" charset="0"/>
              <a:buChar char="•"/>
            </a:pPr>
            <a:r>
              <a:rPr lang="en-US" sz="1200" dirty="0" smtClean="0"/>
              <a:t>Lifestyle modifications: low </a:t>
            </a:r>
            <a:r>
              <a:rPr lang="en-US" sz="1200" dirty="0" err="1" smtClean="0"/>
              <a:t>glycemic</a:t>
            </a:r>
            <a:r>
              <a:rPr lang="en-US" sz="1200" dirty="0" smtClean="0"/>
              <a:t> diet (</a:t>
            </a:r>
            <a:r>
              <a:rPr lang="en-US" sz="1200" dirty="0" err="1" smtClean="0"/>
              <a:t>upto</a:t>
            </a:r>
            <a:r>
              <a:rPr lang="en-US" sz="1200" dirty="0" smtClean="0"/>
              <a:t> 1500 Kcal/day), physical activity (&gt;150 minutes)</a:t>
            </a:r>
          </a:p>
          <a:p>
            <a:pPr>
              <a:buFont typeface="Arial" pitchFamily="34" charset="0"/>
              <a:buChar char="•"/>
            </a:pPr>
            <a:r>
              <a:rPr lang="en-US" sz="1200" dirty="0" err="1" smtClean="0"/>
              <a:t>Tab.meprate</a:t>
            </a:r>
            <a:r>
              <a:rPr lang="en-US" sz="1200" dirty="0" smtClean="0"/>
              <a:t> 10mg </a:t>
            </a:r>
            <a:r>
              <a:rPr lang="en-US" sz="1200" dirty="0" err="1" smtClean="0"/>
              <a:t>bd</a:t>
            </a:r>
            <a:endParaRPr lang="en-US" sz="1200" dirty="0" smtClean="0"/>
          </a:p>
          <a:p>
            <a:pPr>
              <a:buFont typeface="Arial" pitchFamily="34" charset="0"/>
              <a:buChar char="•"/>
            </a:pPr>
            <a:r>
              <a:rPr lang="en-US" sz="1200" dirty="0" smtClean="0"/>
              <a:t>Tab. </a:t>
            </a:r>
            <a:r>
              <a:rPr lang="en-US" sz="1200" dirty="0" err="1" smtClean="0"/>
              <a:t>Trapic</a:t>
            </a:r>
            <a:r>
              <a:rPr lang="en-US" sz="1200" dirty="0" smtClean="0"/>
              <a:t> 50mg TDS</a:t>
            </a: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pic>
        <p:nvPicPr>
          <p:cNvPr id="2050" name="Picture 2"/>
          <p:cNvPicPr>
            <a:picLocks noChangeAspect="1" noChangeArrowheads="1"/>
          </p:cNvPicPr>
          <p:nvPr/>
        </p:nvPicPr>
        <p:blipFill>
          <a:blip r:embed="rId3"/>
          <a:srcRect/>
          <a:stretch>
            <a:fillRect/>
          </a:stretch>
        </p:blipFill>
        <p:spPr bwMode="auto">
          <a:xfrm>
            <a:off x="12557160" y="1631924"/>
            <a:ext cx="1862139" cy="2428892"/>
          </a:xfrm>
          <a:prstGeom prst="rect">
            <a:avLst/>
          </a:prstGeom>
          <a:noFill/>
          <a:ln w="9525">
            <a:noFill/>
            <a:miter lim="800000"/>
            <a:headEnd/>
            <a:tailEnd/>
          </a:ln>
          <a:effectLst/>
        </p:spPr>
      </p:pic>
      <p:sp>
        <p:nvSpPr>
          <p:cNvPr id="56" name="TextBox 50"/>
          <p:cNvSpPr txBox="1"/>
          <p:nvPr/>
        </p:nvSpPr>
        <p:spPr>
          <a:xfrm>
            <a:off x="11557028" y="4418006"/>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pic>
        <p:nvPicPr>
          <p:cNvPr id="2051" name="Picture 3"/>
          <p:cNvPicPr>
            <a:picLocks noChangeAspect="1" noChangeArrowheads="1"/>
          </p:cNvPicPr>
          <p:nvPr/>
        </p:nvPicPr>
        <p:blipFill>
          <a:blip r:embed="rId4"/>
          <a:srcRect/>
          <a:stretch>
            <a:fillRect/>
          </a:stretch>
        </p:blipFill>
        <p:spPr bwMode="auto">
          <a:xfrm>
            <a:off x="412700" y="1489048"/>
            <a:ext cx="6643734" cy="74295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10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22120328581</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UTI</a:t>
            </a: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smtClean="0">
                <a:solidFill>
                  <a:srgbClr val="000000"/>
                </a:solidFill>
                <a:latin typeface="Cambria Bold"/>
                <a:ea typeface="Cambria Bold"/>
                <a:cs typeface="Cambria Bold"/>
                <a:sym typeface="Cambria Bold"/>
              </a:rPr>
              <a:t>SHILPA R</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35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385542"/>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BP-116/82mmHg,RR-16/min,Sp02-97%,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CNS examination: NFND, no loss of sensation</a:t>
            </a:r>
          </a:p>
          <a:p>
            <a:r>
              <a:rPr lang="en-US" sz="1000" b="1" dirty="0" smtClean="0"/>
              <a:t>PER ABDOMEN- INSPECTION: </a:t>
            </a:r>
            <a:r>
              <a:rPr lang="en-US" sz="1000" b="1" dirty="0" err="1" smtClean="0"/>
              <a:t>Umblicus</a:t>
            </a:r>
            <a:r>
              <a:rPr lang="en-US" sz="1000" b="1" dirty="0" smtClean="0"/>
              <a:t> midline;  PALPATION: Soft non tender</a:t>
            </a:r>
          </a:p>
          <a:p>
            <a:r>
              <a:rPr lang="en-US" sz="1000" b="1" dirty="0" smtClean="0"/>
              <a:t>PER SPECULUM EXAMINATION: Cervix and Vagina healthy</a:t>
            </a:r>
            <a:endParaRPr lang="en-US" sz="1000" dirty="0" smtClean="0"/>
          </a:p>
          <a:p>
            <a:r>
              <a:rPr lang="en-US" sz="1000" b="1" dirty="0" smtClean="0"/>
              <a:t>PER VAGINAL EXAMINATION: Cervix pointing downwards Uterus normal size </a:t>
            </a:r>
            <a:r>
              <a:rPr lang="en-US" sz="1000" b="1" dirty="0" err="1" smtClean="0"/>
              <a:t>Anteverted</a:t>
            </a:r>
            <a:r>
              <a:rPr lang="en-US" sz="1000" b="1" dirty="0" smtClean="0"/>
              <a:t> B/L </a:t>
            </a:r>
            <a:r>
              <a:rPr lang="en-US" sz="1000" b="1" dirty="0" err="1" smtClean="0"/>
              <a:t>fornices</a:t>
            </a:r>
            <a:r>
              <a:rPr lang="en-US" sz="1000" b="1" dirty="0" smtClean="0"/>
              <a:t> free non tender</a:t>
            </a:r>
            <a:endParaRPr lang="en-US" sz="1000" dirty="0" smtClean="0"/>
          </a:p>
          <a:p>
            <a:endParaRPr lang="en-US" sz="1000" dirty="0" smtClean="0"/>
          </a:p>
          <a:p>
            <a:endParaRPr lang="en-US" sz="1000" dirty="0" smtClean="0"/>
          </a:p>
          <a:p>
            <a:pPr>
              <a:lnSpc>
                <a:spcPts val="1679"/>
              </a:lnSpc>
              <a:buFont typeface="Arial" pitchFamily="34" charset="0"/>
              <a:buChar char="•"/>
            </a:pPr>
            <a:endParaRPr lang="en-IN" sz="1000" b="1" dirty="0" smtClean="0">
              <a:solidFill>
                <a:srgbClr val="000000"/>
              </a:solidFill>
              <a:latin typeface="Cambria Bold"/>
              <a:ea typeface="Cambria Bold"/>
              <a:cs typeface="Cambria Bold"/>
              <a:sym typeface="Cambria Bold"/>
            </a:endParaRPr>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704154"/>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2462213"/>
          </a:xfrm>
          <a:prstGeom prst="rect">
            <a:avLst/>
          </a:prstGeom>
          <a:noFill/>
        </p:spPr>
        <p:txBody>
          <a:bodyPr wrap="square" rtlCol="0">
            <a:spAutoFit/>
          </a:bodyPr>
          <a:lstStyle/>
          <a:p>
            <a:r>
              <a:rPr lang="en-US" sz="1400" b="1" dirty="0" smtClean="0"/>
              <a:t>Chief Complaint</a:t>
            </a:r>
            <a:r>
              <a:rPr lang="en-US" sz="1400" dirty="0" smtClean="0"/>
              <a:t>: Itching on the genital region with white discharge for past 1 month, LMP=5/9/23, P1L1A1</a:t>
            </a:r>
          </a:p>
          <a:p>
            <a:r>
              <a:rPr lang="en-US" sz="1400" b="1" dirty="0" smtClean="0"/>
              <a:t>History of Presenting Illness: </a:t>
            </a:r>
            <a:r>
              <a:rPr lang="en-US" sz="1400" dirty="0" smtClean="0"/>
              <a:t>Itching on the genital region with white discharge for past 1 month, LMP=5/9/23, h/o hip pain , tiredness, weakness is seen. H/o normal menstruation is seen</a:t>
            </a:r>
          </a:p>
          <a:p>
            <a:r>
              <a:rPr lang="en-IN" sz="1400" dirty="0" smtClean="0"/>
              <a:t>No h/o fever, nausea, vomiting.</a:t>
            </a:r>
          </a:p>
          <a:p>
            <a:r>
              <a:rPr lang="en-US" sz="1400" b="1" dirty="0" smtClean="0"/>
              <a:t>Past Medical History</a:t>
            </a:r>
            <a:r>
              <a:rPr lang="en-US" sz="1400" dirty="0" smtClean="0"/>
              <a:t>: Patient came for arthritis in past month</a:t>
            </a:r>
          </a:p>
          <a:p>
            <a:r>
              <a:rPr lang="en-IN" sz="1400" dirty="0" smtClean="0"/>
              <a:t>No h/o T2DM, TB, seizure, hypertension, thyroid disorder</a:t>
            </a:r>
            <a:r>
              <a:rPr lang="en-IN" sz="1400" b="1" dirty="0" smtClean="0"/>
              <a:t>.</a:t>
            </a:r>
          </a:p>
          <a:p>
            <a:endParaRPr lang="en-US" sz="1400" b="1" dirty="0" smtClean="0"/>
          </a:p>
          <a:p>
            <a:endParaRPr lang="en-US" sz="1400" b="1" dirty="0" smtClean="0"/>
          </a:p>
          <a:p>
            <a:endParaRPr lang="en-US" sz="1400" b="1" dirty="0"/>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Sexually transmitted infections </a:t>
            </a:r>
          </a:p>
          <a:p>
            <a:pPr>
              <a:lnSpc>
                <a:spcPts val="1679"/>
              </a:lnSpc>
              <a:buFont typeface="Arial" pitchFamily="34" charset="0"/>
              <a:buChar char="•"/>
            </a:pPr>
            <a:r>
              <a:rPr lang="en-US" sz="1200" dirty="0" err="1" smtClean="0"/>
              <a:t>Candidal</a:t>
            </a:r>
            <a:r>
              <a:rPr lang="en-US" sz="1200" dirty="0" smtClean="0"/>
              <a:t> infection</a:t>
            </a:r>
          </a:p>
          <a:p>
            <a:pPr>
              <a:lnSpc>
                <a:spcPts val="1679"/>
              </a:lnSpc>
              <a:buFont typeface="Arial" pitchFamily="34" charset="0"/>
              <a:buChar char="•"/>
            </a:pPr>
            <a:r>
              <a:rPr lang="en-US" sz="1200" dirty="0" smtClean="0"/>
              <a:t>Genitourinary tuberculosis</a:t>
            </a:r>
          </a:p>
          <a:p>
            <a:pPr>
              <a:lnSpc>
                <a:spcPts val="1679"/>
              </a:lnSpc>
              <a:buFont typeface="Arial" pitchFamily="34" charset="0"/>
              <a:buChar char="•"/>
            </a:pPr>
            <a:r>
              <a:rPr lang="en-US" sz="1200" dirty="0" err="1" smtClean="0"/>
              <a:t>Urethritis</a:t>
            </a:r>
            <a:endParaRPr lang="en-US" sz="1200" dirty="0" smtClean="0"/>
          </a:p>
          <a:p>
            <a:pPr>
              <a:lnSpc>
                <a:spcPts val="1679"/>
              </a:lnSpc>
              <a:buFont typeface="Arial" pitchFamily="34" charset="0"/>
              <a:buChar char="•"/>
            </a:pPr>
            <a:r>
              <a:rPr lang="en-US" sz="1200" dirty="0" err="1" smtClean="0"/>
              <a:t>Urolithiasis</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847030"/>
            <a:ext cx="7217960" cy="1308050"/>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PAP smear, urine complete examination, blood glucose level, USG abdomen </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Pap smear shows </a:t>
            </a:r>
            <a:r>
              <a:rPr lang="en-US" sz="1200" dirty="0" smtClean="0">
                <a:solidFill>
                  <a:srgbClr val="000000"/>
                </a:solidFill>
                <a:latin typeface="Cambria"/>
                <a:ea typeface="Cambria"/>
                <a:cs typeface="Cambria"/>
                <a:sym typeface="Cambria"/>
              </a:rPr>
              <a:t>Non specific inflammatory smear. Negative for intraepithelial lesion or malignancy.</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Blood glucose level shows increased FBS: 102 mg/dl, PPBS: 165mg/dl</a:t>
            </a:r>
          </a:p>
          <a:p>
            <a:pPr>
              <a:lnSpc>
                <a:spcPts val="1679"/>
              </a:lnSpc>
              <a:buFont typeface="Arial" pitchFamily="34" charset="0"/>
              <a:buChar char="•"/>
            </a:pPr>
            <a:r>
              <a:rPr lang="en-US" sz="1200" dirty="0" smtClean="0"/>
              <a:t>Candida cream for 3 days </a:t>
            </a:r>
          </a:p>
          <a:p>
            <a:pPr>
              <a:lnSpc>
                <a:spcPts val="1679"/>
              </a:lnSpc>
              <a:buFont typeface="Arial" pitchFamily="34" charset="0"/>
              <a:buChar char="•"/>
            </a:pPr>
            <a:r>
              <a:rPr lang="en-US" sz="1200" dirty="0" err="1" smtClean="0"/>
              <a:t>Cansoft</a:t>
            </a:r>
            <a:r>
              <a:rPr lang="en-US" sz="1200" dirty="0" smtClean="0"/>
              <a:t> CL</a:t>
            </a:r>
            <a:endParaRPr lang="en-IN"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pic>
        <p:nvPicPr>
          <p:cNvPr id="3074"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sp>
        <p:nvSpPr>
          <p:cNvPr id="56" name="TextBox 50"/>
          <p:cNvSpPr txBox="1"/>
          <p:nvPr/>
        </p:nvSpPr>
        <p:spPr>
          <a:xfrm>
            <a:off x="11557028" y="4418006"/>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pic>
        <p:nvPicPr>
          <p:cNvPr id="3075" name="Picture 3"/>
          <p:cNvPicPr>
            <a:picLocks noChangeAspect="1" noChangeArrowheads="1"/>
          </p:cNvPicPr>
          <p:nvPr/>
        </p:nvPicPr>
        <p:blipFill>
          <a:blip r:embed="rId4"/>
          <a:srcRect/>
          <a:stretch>
            <a:fillRect/>
          </a:stretch>
        </p:blipFill>
        <p:spPr bwMode="auto">
          <a:xfrm>
            <a:off x="555576" y="1560486"/>
            <a:ext cx="6357982" cy="2857520"/>
          </a:xfrm>
          <a:prstGeom prst="rect">
            <a:avLst/>
          </a:prstGeom>
          <a:noFill/>
          <a:ln w="9525">
            <a:noFill/>
            <a:miter lim="800000"/>
            <a:headEnd/>
            <a:tailEnd/>
          </a:ln>
          <a:effectLst/>
        </p:spPr>
      </p:pic>
      <p:pic>
        <p:nvPicPr>
          <p:cNvPr id="3076" name="Picture 4"/>
          <p:cNvPicPr>
            <a:picLocks noChangeAspect="1" noChangeArrowheads="1"/>
          </p:cNvPicPr>
          <p:nvPr/>
        </p:nvPicPr>
        <p:blipFill>
          <a:blip r:embed="rId5"/>
          <a:srcRect/>
          <a:stretch>
            <a:fillRect/>
          </a:stretch>
        </p:blipFill>
        <p:spPr bwMode="auto">
          <a:xfrm>
            <a:off x="412700" y="4703758"/>
            <a:ext cx="6572296" cy="42148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4"/>
              <a:ext cx="7475347" cy="2040923"/>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11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23022059862</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abnormal uterine bleeding</a:t>
            </a:r>
            <a:r>
              <a:rPr lang="en-US" sz="2199" b="1" i="1" dirty="0">
                <a:solidFill>
                  <a:srgbClr val="000000"/>
                </a:solidFill>
                <a:latin typeface="Cambria Bold" charset="0"/>
                <a:ea typeface="Cambria Bold Italics"/>
                <a:cs typeface="Cambria Bold Italics"/>
                <a:sym typeface="Cambria Bold Italics"/>
              </a:rPr>
              <a:t> </a:t>
            </a: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Manimagalai</a:t>
            </a:r>
            <a:r>
              <a:rPr lang="en-US" sz="1600" b="1" dirty="0" smtClean="0">
                <a:solidFill>
                  <a:srgbClr val="000000"/>
                </a:solidFill>
                <a:latin typeface="Cambria Bold"/>
                <a:ea typeface="Cambria Bold"/>
                <a:cs typeface="Cambria Bold"/>
                <a:sym typeface="Cambria Bold"/>
              </a:rPr>
              <a:t> R</a:t>
            </a:r>
            <a:r>
              <a:rPr lang="en-US" sz="1399" b="1" dirty="0" smtClean="0">
                <a:solidFill>
                  <a:srgbClr val="000000"/>
                </a:solidFill>
                <a:latin typeface="Cambria Bold"/>
                <a:ea typeface="Cambria Bold"/>
                <a:cs typeface="Cambria Bold"/>
                <a:sym typeface="Cambria Bold"/>
              </a:rPr>
              <a:t> </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33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2923877"/>
          </a:xfrm>
          <a:prstGeom prst="rect">
            <a:avLst/>
          </a:prstGeom>
        </p:spPr>
        <p:txBody>
          <a:bodyPr lIns="0" tIns="0" rIns="0" bIns="0" rtlCol="0" anchor="t">
            <a:spAutoFit/>
          </a:bodyPr>
          <a:lstStyle/>
          <a:p>
            <a:pPr algn="l">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BP-116/82mmHg,RR-16/min,Sp02-97%,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CNS examination: NFND, no loss of sensation</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Abdomen examination: Soft, non tender, no </a:t>
            </a:r>
            <a:r>
              <a:rPr lang="en-IN" sz="1000" b="1" dirty="0" err="1" smtClean="0">
                <a:solidFill>
                  <a:srgbClr val="000000"/>
                </a:solidFill>
                <a:latin typeface="Cambria Bold"/>
                <a:ea typeface="Cambria Bold"/>
                <a:cs typeface="Cambria Bold"/>
                <a:sym typeface="Cambria Bold"/>
              </a:rPr>
              <a:t>organomegaly</a:t>
            </a:r>
            <a:endParaRPr lang="en-IN" sz="1000" b="1" dirty="0" smtClean="0">
              <a:solidFill>
                <a:srgbClr val="000000"/>
              </a:solidFill>
              <a:latin typeface="Cambria Bold"/>
              <a:ea typeface="Cambria Bold"/>
              <a:cs typeface="Cambria Bold"/>
              <a:sym typeface="Cambria Bold"/>
            </a:endParaRPr>
          </a:p>
          <a:p>
            <a:pPr>
              <a:buFont typeface="Arial" pitchFamily="34" charset="0"/>
              <a:buChar char="•"/>
            </a:pPr>
            <a:r>
              <a:rPr lang="en-US" sz="1000" b="1" dirty="0" smtClean="0"/>
              <a:t>PER SPECULUM EXAMINATION: Cervix and vagina healthy Bleeding through </a:t>
            </a:r>
            <a:r>
              <a:rPr lang="en-US" sz="1000" b="1" dirty="0" err="1" smtClean="0"/>
              <a:t>os</a:t>
            </a:r>
            <a:r>
              <a:rPr lang="en-US" sz="1000" b="1" dirty="0" smtClean="0"/>
              <a:t> present</a:t>
            </a:r>
            <a:endParaRPr lang="en-US" sz="1000" dirty="0" smtClean="0"/>
          </a:p>
          <a:p>
            <a:pPr>
              <a:buFont typeface="Arial" pitchFamily="34" charset="0"/>
              <a:buChar char="•"/>
            </a:pPr>
            <a:r>
              <a:rPr lang="en-US" sz="1000" b="1" dirty="0" smtClean="0"/>
              <a:t>PER VAGINAL </a:t>
            </a:r>
            <a:r>
              <a:rPr lang="en-US" sz="1000" b="1" dirty="0" err="1" smtClean="0"/>
              <a:t>EXAMINATION:Cervix</a:t>
            </a:r>
            <a:r>
              <a:rPr lang="en-US" sz="1000" b="1" dirty="0" smtClean="0"/>
              <a:t> pointing </a:t>
            </a:r>
            <a:r>
              <a:rPr lang="en-US" sz="1000" b="1" dirty="0" err="1" smtClean="0"/>
              <a:t>downwards,uterus</a:t>
            </a:r>
            <a:r>
              <a:rPr lang="en-US" sz="1000" b="1" dirty="0" smtClean="0"/>
              <a:t> </a:t>
            </a:r>
            <a:r>
              <a:rPr lang="en-US" sz="1000" b="1" dirty="0" err="1" smtClean="0"/>
              <a:t>anteverted,mobile,b</a:t>
            </a:r>
            <a:r>
              <a:rPr lang="en-US" sz="1000" b="1" dirty="0" smtClean="0"/>
              <a:t>/l </a:t>
            </a:r>
            <a:r>
              <a:rPr lang="en-US" sz="1000" b="1" dirty="0" err="1" smtClean="0"/>
              <a:t>fornices</a:t>
            </a:r>
            <a:r>
              <a:rPr lang="en-US" sz="1000" b="1" dirty="0" smtClean="0"/>
              <a:t> free</a:t>
            </a:r>
            <a:endParaRPr lang="en-US" sz="1000" dirty="0" smtClean="0"/>
          </a:p>
          <a:p>
            <a:pPr>
              <a:lnSpc>
                <a:spcPts val="1679"/>
              </a:lnSpc>
              <a:buFont typeface="Arial" pitchFamily="34" charset="0"/>
              <a:buChar char="•"/>
            </a:pPr>
            <a:endParaRPr lang="en-IN" sz="1000" b="1" dirty="0" smtClean="0">
              <a:solidFill>
                <a:srgbClr val="000000"/>
              </a:solidFill>
              <a:latin typeface="Cambria Bold"/>
              <a:ea typeface="Cambria Bold"/>
              <a:cs typeface="Cambria Bold"/>
              <a:sym typeface="Cambria Bold"/>
            </a:endParaRPr>
          </a:p>
          <a:p>
            <a:pPr>
              <a:lnSpc>
                <a:spcPts val="1679"/>
              </a:lnSpc>
              <a:buFont typeface="Arial" pitchFamily="34" charset="0"/>
              <a:buChar char="•"/>
            </a:pPr>
            <a:endParaRPr lang="en-IN" sz="1000" b="1" dirty="0" smtClean="0">
              <a:solidFill>
                <a:srgbClr val="000000"/>
              </a:solidFill>
              <a:latin typeface="Cambria Bold"/>
              <a:ea typeface="Cambria Bold"/>
              <a:cs typeface="Cambria Bold"/>
              <a:sym typeface="Cambria Bold"/>
            </a:endParaRPr>
          </a:p>
          <a:p>
            <a:pPr>
              <a:lnSpc>
                <a:spcPts val="1679"/>
              </a:lnSpc>
              <a:buFont typeface="Arial" pitchFamily="34" charset="0"/>
              <a:buChar char="•"/>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108543"/>
          </a:xfrm>
          <a:prstGeom prst="rect">
            <a:avLst/>
          </a:prstGeom>
          <a:noFill/>
        </p:spPr>
        <p:txBody>
          <a:bodyPr wrap="square" rtlCol="0">
            <a:spAutoFit/>
          </a:bodyPr>
          <a:lstStyle/>
          <a:p>
            <a:r>
              <a:rPr lang="en-US" sz="1400" b="1" dirty="0" smtClean="0"/>
              <a:t>Chief Complaint: </a:t>
            </a:r>
            <a:r>
              <a:rPr lang="en-US" sz="1400" dirty="0" smtClean="0"/>
              <a:t>P2L2A1/ </a:t>
            </a:r>
            <a:r>
              <a:rPr lang="en-US" sz="1400" dirty="0" err="1" smtClean="0"/>
              <a:t>prev</a:t>
            </a:r>
            <a:r>
              <a:rPr lang="en-US" sz="1400" dirty="0" smtClean="0"/>
              <a:t> </a:t>
            </a:r>
            <a:r>
              <a:rPr lang="en-US" sz="1400" dirty="0" err="1" smtClean="0"/>
              <a:t>nvd</a:t>
            </a:r>
            <a:r>
              <a:rPr lang="en-US" sz="1400" dirty="0" smtClean="0"/>
              <a:t> /Bleeding for past 1 month</a:t>
            </a:r>
          </a:p>
          <a:p>
            <a:r>
              <a:rPr lang="en-US" sz="1400" b="1" dirty="0" smtClean="0"/>
              <a:t>History of Presenting Illness: </a:t>
            </a:r>
            <a:r>
              <a:rPr lang="en-US" sz="1400" dirty="0" smtClean="0"/>
              <a:t>Bleeding for past 1 month, insidious in onset, aggregating on not taking medicines and relived on taking medicines. History of weakness, tiredness, dizziness, change of 3 pads per day. No h/o </a:t>
            </a:r>
            <a:r>
              <a:rPr lang="en-IN" sz="1400" dirty="0" smtClean="0"/>
              <a:t>fever, nausea, vomiting,</a:t>
            </a:r>
            <a:r>
              <a:rPr lang="en-US" sz="1400" dirty="0" smtClean="0"/>
              <a:t> burning </a:t>
            </a:r>
            <a:r>
              <a:rPr lang="en-US" sz="1400" dirty="0" err="1" smtClean="0"/>
              <a:t>micturition</a:t>
            </a:r>
            <a:r>
              <a:rPr lang="en-US" sz="1400" dirty="0" smtClean="0"/>
              <a:t>, white discharge </a:t>
            </a:r>
            <a:r>
              <a:rPr lang="en-US" sz="1400" dirty="0" err="1" smtClean="0"/>
              <a:t>pv,decreased</a:t>
            </a:r>
            <a:r>
              <a:rPr lang="en-US" sz="1400" dirty="0" smtClean="0"/>
              <a:t> urine output.</a:t>
            </a:r>
          </a:p>
          <a:p>
            <a:r>
              <a:rPr lang="en-US" sz="1400" b="1" dirty="0" smtClean="0"/>
              <a:t>MENSTRUAL HISTORY: </a:t>
            </a:r>
            <a:r>
              <a:rPr lang="en-US" sz="1400" dirty="0" smtClean="0"/>
              <a:t>Irregular, AUB since 1 month (LMP 11/8/24) , from 11/8 to 21/8/24 usage of 1 pad/ day, minimal bleeding, blackish discharge , since 21/8 usage of 3 pads/day, fully soaked, passage of clots +, </a:t>
            </a:r>
            <a:r>
              <a:rPr lang="en-US" sz="1400" dirty="0" err="1" smtClean="0"/>
              <a:t>dysmenorrhea</a:t>
            </a:r>
            <a:r>
              <a:rPr lang="en-US" sz="1400" dirty="0" smtClean="0"/>
              <a:t> +.</a:t>
            </a:r>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929090" cy="1308050"/>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Ectopic pregnancy</a:t>
            </a:r>
          </a:p>
          <a:p>
            <a:pPr>
              <a:lnSpc>
                <a:spcPts val="1679"/>
              </a:lnSpc>
              <a:buFont typeface="Arial" pitchFamily="34" charset="0"/>
              <a:buChar char="•"/>
            </a:pPr>
            <a:r>
              <a:rPr lang="en-US" sz="1200" dirty="0" smtClean="0"/>
              <a:t>Placental polyp</a:t>
            </a:r>
          </a:p>
          <a:p>
            <a:pPr>
              <a:lnSpc>
                <a:spcPts val="1679"/>
              </a:lnSpc>
              <a:buFont typeface="Arial" pitchFamily="34" charset="0"/>
              <a:buChar char="•"/>
            </a:pPr>
            <a:r>
              <a:rPr lang="en-US" sz="1200" dirty="0" smtClean="0"/>
              <a:t>Infection, such as </a:t>
            </a:r>
            <a:r>
              <a:rPr lang="en-US" sz="1200" dirty="0" err="1" smtClean="0"/>
              <a:t>chlamydia</a:t>
            </a:r>
            <a:r>
              <a:rPr lang="en-US" sz="1200" dirty="0" smtClean="0"/>
              <a:t>, gonorrhea, or </a:t>
            </a:r>
            <a:r>
              <a:rPr lang="en-US" sz="1200" dirty="0" err="1" smtClean="0"/>
              <a:t>trichomoniasis</a:t>
            </a:r>
            <a:endParaRPr lang="en-US" sz="1200" dirty="0" smtClean="0"/>
          </a:p>
          <a:p>
            <a:pPr>
              <a:lnSpc>
                <a:spcPts val="1679"/>
              </a:lnSpc>
              <a:buFont typeface="Arial" pitchFamily="34" charset="0"/>
              <a:buChar char="•"/>
            </a:pPr>
            <a:r>
              <a:rPr lang="en-US" sz="1200" dirty="0" smtClean="0"/>
              <a:t>Benign pelvic lesions, such as polyps or fibroids</a:t>
            </a:r>
          </a:p>
          <a:p>
            <a:pPr>
              <a:lnSpc>
                <a:spcPts val="1679"/>
              </a:lnSpc>
              <a:buFont typeface="Arial" pitchFamily="34" charset="0"/>
              <a:buChar char="•"/>
            </a:pPr>
            <a:r>
              <a:rPr lang="en-US" sz="1200" dirty="0" smtClean="0"/>
              <a:t>Endometriosis, </a:t>
            </a:r>
            <a:r>
              <a:rPr lang="en-US" sz="1200" dirty="0" err="1" smtClean="0"/>
              <a:t>adenomyosis</a:t>
            </a:r>
            <a:r>
              <a:rPr lang="en-US" sz="1200" dirty="0" smtClean="0"/>
              <a:t>, or </a:t>
            </a:r>
            <a:r>
              <a:rPr lang="en-US" sz="1200" dirty="0" err="1" smtClean="0"/>
              <a:t>leiomyomas</a:t>
            </a:r>
            <a:endParaRPr lang="en-US" sz="1200" dirty="0" smtClean="0"/>
          </a:p>
          <a:p>
            <a:pPr>
              <a:lnSpc>
                <a:spcPts val="1679"/>
              </a:lnSpc>
              <a:buFont typeface="Arial" pitchFamily="34" charset="0"/>
              <a:buChar char="•"/>
            </a:pP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847030"/>
            <a:ext cx="7217960" cy="1241365"/>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do CBC, USG abdomen and pelvis</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CBC shows </a:t>
            </a:r>
            <a:r>
              <a:rPr lang="en-IN" sz="1200" dirty="0" err="1" smtClean="0">
                <a:solidFill>
                  <a:srgbClr val="000000"/>
                </a:solidFill>
                <a:latin typeface="Cambria"/>
                <a:ea typeface="Cambria"/>
                <a:cs typeface="Cambria"/>
                <a:sym typeface="Cambria"/>
              </a:rPr>
              <a:t>Hb</a:t>
            </a:r>
            <a:r>
              <a:rPr lang="en-IN" sz="1200" dirty="0" smtClean="0">
                <a:solidFill>
                  <a:srgbClr val="000000"/>
                </a:solidFill>
                <a:latin typeface="Cambria"/>
                <a:ea typeface="Cambria"/>
                <a:cs typeface="Cambria"/>
                <a:sym typeface="Cambria"/>
              </a:rPr>
              <a:t>: 10.8mg/dl</a:t>
            </a:r>
          </a:p>
          <a:p>
            <a:pPr>
              <a:buFont typeface="Arial" pitchFamily="34" charset="0"/>
              <a:buChar char="•"/>
            </a:pPr>
            <a:r>
              <a:rPr lang="en-US" sz="1200" dirty="0" smtClean="0"/>
              <a:t>USG abdomen shows b/l polycystic appearing ovaries grade 1 fatty liver</a:t>
            </a:r>
          </a:p>
          <a:p>
            <a:pPr>
              <a:buFont typeface="Arial" pitchFamily="34" charset="0"/>
              <a:buChar char="•"/>
            </a:pPr>
            <a:r>
              <a:rPr lang="en-US" sz="1200" dirty="0" err="1" smtClean="0"/>
              <a:t>Tab.TRANEXAMIC</a:t>
            </a:r>
            <a:r>
              <a:rPr lang="en-US" sz="1200" dirty="0" smtClean="0"/>
              <a:t> ACID TDS for 5 days</a:t>
            </a:r>
          </a:p>
          <a:p>
            <a:pPr>
              <a:lnSpc>
                <a:spcPts val="1679"/>
              </a:lnSpc>
              <a:buFont typeface="Arial" pitchFamily="34" charset="0"/>
              <a:buChar char="•"/>
            </a:pPr>
            <a:endParaRPr lang="en-IN" sz="1200" dirty="0" smtClean="0">
              <a:solidFill>
                <a:srgbClr val="000000"/>
              </a:solidFill>
              <a:latin typeface="Cambria"/>
              <a:ea typeface="Cambria"/>
              <a:cs typeface="Cambria"/>
              <a:sym typeface="Cambria"/>
            </a:endParaRPr>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pic>
        <p:nvPicPr>
          <p:cNvPr id="4098" name="Picture 2"/>
          <p:cNvPicPr>
            <a:picLocks noChangeAspect="1" noChangeArrowheads="1"/>
          </p:cNvPicPr>
          <p:nvPr/>
        </p:nvPicPr>
        <p:blipFill>
          <a:blip r:embed="rId3"/>
          <a:srcRect/>
          <a:stretch>
            <a:fillRect/>
          </a:stretch>
        </p:blipFill>
        <p:spPr bwMode="auto">
          <a:xfrm>
            <a:off x="12485722" y="1631924"/>
            <a:ext cx="2143140" cy="2428892"/>
          </a:xfrm>
          <a:prstGeom prst="rect">
            <a:avLst/>
          </a:prstGeom>
          <a:noFill/>
          <a:ln w="9525">
            <a:noFill/>
            <a:miter lim="800000"/>
            <a:headEnd/>
            <a:tailEnd/>
          </a:ln>
          <a:effectLst/>
        </p:spPr>
      </p:pic>
      <p:sp>
        <p:nvSpPr>
          <p:cNvPr id="56" name="TextBox 50"/>
          <p:cNvSpPr txBox="1"/>
          <p:nvPr/>
        </p:nvSpPr>
        <p:spPr>
          <a:xfrm>
            <a:off x="11557028" y="4418006"/>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pic>
        <p:nvPicPr>
          <p:cNvPr id="57" name="Picture 56" descr="photo_2025-01-19_11-39-51.jpg"/>
          <p:cNvPicPr>
            <a:picLocks noChangeAspect="1"/>
          </p:cNvPicPr>
          <p:nvPr/>
        </p:nvPicPr>
        <p:blipFill>
          <a:blip r:embed="rId4"/>
          <a:stretch>
            <a:fillRect/>
          </a:stretch>
        </p:blipFill>
        <p:spPr>
          <a:xfrm>
            <a:off x="412700" y="1489048"/>
            <a:ext cx="6572296" cy="3643338"/>
          </a:xfrm>
          <a:prstGeom prst="rect">
            <a:avLst/>
          </a:prstGeom>
        </p:spPr>
      </p:pic>
      <p:pic>
        <p:nvPicPr>
          <p:cNvPr id="58" name="Picture 57" descr="photo_2025-01-19_11-39-56.jpg"/>
          <p:cNvPicPr>
            <a:picLocks noChangeAspect="1"/>
          </p:cNvPicPr>
          <p:nvPr/>
        </p:nvPicPr>
        <p:blipFill>
          <a:blip r:embed="rId5"/>
          <a:stretch>
            <a:fillRect/>
          </a:stretch>
        </p:blipFill>
        <p:spPr>
          <a:xfrm>
            <a:off x="412700" y="5203824"/>
            <a:ext cx="6643734" cy="371477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381000" y="9574882"/>
            <a:ext cx="14351003" cy="6353"/>
            <a:chOff x="0" y="0"/>
            <a:chExt cx="14351000" cy="6350"/>
          </a:xfrm>
        </p:grpSpPr>
        <p:sp>
          <p:nvSpPr>
            <p:cNvPr id="3" name="Freeform 3"/>
            <p:cNvSpPr/>
            <p:nvPr/>
          </p:nvSpPr>
          <p:spPr>
            <a:xfrm>
              <a:off x="0" y="0"/>
              <a:ext cx="14351000" cy="6350"/>
            </a:xfrm>
            <a:custGeom>
              <a:avLst/>
              <a:gdLst/>
              <a:ahLst/>
              <a:cxnLst/>
              <a:rect l="l" t="t" r="r" b="b"/>
              <a:pathLst>
                <a:path w="14351000" h="6350">
                  <a:moveTo>
                    <a:pt x="0" y="0"/>
                  </a:moveTo>
                  <a:lnTo>
                    <a:pt x="14351000" y="0"/>
                  </a:lnTo>
                  <a:lnTo>
                    <a:pt x="14351000" y="6350"/>
                  </a:lnTo>
                  <a:lnTo>
                    <a:pt x="0" y="6350"/>
                  </a:lnTo>
                  <a:close/>
                </a:path>
              </a:pathLst>
            </a:custGeom>
            <a:solidFill>
              <a:srgbClr val="D9D9D9"/>
            </a:solidFill>
          </p:spPr>
        </p:sp>
      </p:grpSp>
      <p:grpSp>
        <p:nvGrpSpPr>
          <p:cNvPr id="4" name="Group 4"/>
          <p:cNvGrpSpPr>
            <a:grpSpLocks noChangeAspect="1"/>
          </p:cNvGrpSpPr>
          <p:nvPr/>
        </p:nvGrpSpPr>
        <p:grpSpPr>
          <a:xfrm>
            <a:off x="412700" y="1489048"/>
            <a:ext cx="14251939" cy="8328140"/>
            <a:chOff x="63500" y="63500"/>
            <a:chExt cx="14251939" cy="8328140"/>
          </a:xfrm>
        </p:grpSpPr>
        <p:sp>
          <p:nvSpPr>
            <p:cNvPr id="5" name="Freeform 5"/>
            <p:cNvSpPr/>
            <p:nvPr/>
          </p:nvSpPr>
          <p:spPr>
            <a:xfrm>
              <a:off x="68326" y="68326"/>
              <a:ext cx="6617970" cy="7418578"/>
            </a:xfrm>
            <a:custGeom>
              <a:avLst/>
              <a:gdLst/>
              <a:ahLst/>
              <a:cxnLst/>
              <a:rect l="l" t="t" r="r" b="b"/>
              <a:pathLst>
                <a:path w="6617970" h="7418578">
                  <a:moveTo>
                    <a:pt x="0" y="7418578"/>
                  </a:moveTo>
                  <a:lnTo>
                    <a:pt x="6617970" y="7418578"/>
                  </a:lnTo>
                  <a:lnTo>
                    <a:pt x="6617970" y="0"/>
                  </a:lnTo>
                  <a:lnTo>
                    <a:pt x="0" y="0"/>
                  </a:lnTo>
                  <a:close/>
                </a:path>
              </a:pathLst>
            </a:custGeom>
            <a:solidFill>
              <a:srgbClr val="FFFFFF"/>
            </a:solidFill>
          </p:spPr>
        </p:sp>
        <p:sp>
          <p:nvSpPr>
            <p:cNvPr id="6" name="Freeform 6"/>
            <p:cNvSpPr/>
            <p:nvPr/>
          </p:nvSpPr>
          <p:spPr>
            <a:xfrm>
              <a:off x="63500" y="63500"/>
              <a:ext cx="6627622" cy="7428230"/>
            </a:xfrm>
            <a:custGeom>
              <a:avLst/>
              <a:gdLst/>
              <a:ahLst/>
              <a:cxnLst/>
              <a:rect l="l" t="t" r="r" b="b"/>
              <a:pathLst>
                <a:path w="6627622" h="7428230">
                  <a:moveTo>
                    <a:pt x="4826" y="0"/>
                  </a:moveTo>
                  <a:lnTo>
                    <a:pt x="6622796" y="0"/>
                  </a:lnTo>
                  <a:lnTo>
                    <a:pt x="6627622" y="0"/>
                  </a:lnTo>
                  <a:lnTo>
                    <a:pt x="6627622" y="4826"/>
                  </a:lnTo>
                  <a:lnTo>
                    <a:pt x="6627622" y="7423404"/>
                  </a:lnTo>
                  <a:lnTo>
                    <a:pt x="6627622" y="7428230"/>
                  </a:lnTo>
                  <a:lnTo>
                    <a:pt x="6622796" y="7428230"/>
                  </a:lnTo>
                  <a:lnTo>
                    <a:pt x="4826" y="7428230"/>
                  </a:lnTo>
                  <a:lnTo>
                    <a:pt x="0" y="7428230"/>
                  </a:lnTo>
                  <a:lnTo>
                    <a:pt x="0" y="7423404"/>
                  </a:lnTo>
                  <a:lnTo>
                    <a:pt x="0" y="4826"/>
                  </a:lnTo>
                  <a:lnTo>
                    <a:pt x="0" y="0"/>
                  </a:lnTo>
                  <a:lnTo>
                    <a:pt x="4826" y="0"/>
                  </a:lnTo>
                  <a:moveTo>
                    <a:pt x="4826" y="9525"/>
                  </a:moveTo>
                  <a:lnTo>
                    <a:pt x="4826" y="4826"/>
                  </a:lnTo>
                  <a:lnTo>
                    <a:pt x="9652" y="4826"/>
                  </a:lnTo>
                  <a:lnTo>
                    <a:pt x="9652" y="7423404"/>
                  </a:lnTo>
                  <a:lnTo>
                    <a:pt x="4826" y="7423404"/>
                  </a:lnTo>
                  <a:lnTo>
                    <a:pt x="4826" y="7418578"/>
                  </a:lnTo>
                  <a:lnTo>
                    <a:pt x="6622796" y="7418578"/>
                  </a:lnTo>
                  <a:lnTo>
                    <a:pt x="6622796" y="7423404"/>
                  </a:lnTo>
                  <a:lnTo>
                    <a:pt x="6617970" y="7423404"/>
                  </a:lnTo>
                  <a:lnTo>
                    <a:pt x="6617970" y="4826"/>
                  </a:lnTo>
                  <a:lnTo>
                    <a:pt x="6622796" y="4826"/>
                  </a:lnTo>
                  <a:lnTo>
                    <a:pt x="6622796" y="9652"/>
                  </a:lnTo>
                  <a:lnTo>
                    <a:pt x="4826" y="9652"/>
                  </a:lnTo>
                  <a:close/>
                </a:path>
              </a:pathLst>
            </a:custGeom>
            <a:solidFill>
              <a:srgbClr val="000000"/>
            </a:solidFill>
          </p:spPr>
        </p:sp>
        <p:sp>
          <p:nvSpPr>
            <p:cNvPr id="7" name="Freeform 7"/>
            <p:cNvSpPr/>
            <p:nvPr/>
          </p:nvSpPr>
          <p:spPr>
            <a:xfrm>
              <a:off x="6803644" y="207010"/>
              <a:ext cx="5175886" cy="2457450"/>
            </a:xfrm>
            <a:custGeom>
              <a:avLst/>
              <a:gdLst/>
              <a:ahLst/>
              <a:cxnLst/>
              <a:rect l="l" t="t" r="r" b="b"/>
              <a:pathLst>
                <a:path w="5175886" h="2457450">
                  <a:moveTo>
                    <a:pt x="0" y="2457450"/>
                  </a:moveTo>
                  <a:lnTo>
                    <a:pt x="5175885" y="2457450"/>
                  </a:lnTo>
                  <a:lnTo>
                    <a:pt x="5175885" y="0"/>
                  </a:lnTo>
                  <a:lnTo>
                    <a:pt x="0" y="0"/>
                  </a:lnTo>
                  <a:close/>
                </a:path>
              </a:pathLst>
            </a:custGeom>
            <a:solidFill>
              <a:srgbClr val="FFFFFF"/>
            </a:solidFill>
          </p:spPr>
        </p:sp>
        <p:sp>
          <p:nvSpPr>
            <p:cNvPr id="8" name="Freeform 8"/>
            <p:cNvSpPr/>
            <p:nvPr/>
          </p:nvSpPr>
          <p:spPr>
            <a:xfrm>
              <a:off x="6798818" y="202184"/>
              <a:ext cx="5185538" cy="2467102"/>
            </a:xfrm>
            <a:custGeom>
              <a:avLst/>
              <a:gdLst/>
              <a:ahLst/>
              <a:cxnLst/>
              <a:rect l="l" t="t" r="r" b="b"/>
              <a:pathLst>
                <a:path w="5185538" h="2467102">
                  <a:moveTo>
                    <a:pt x="4826" y="127"/>
                  </a:moveTo>
                  <a:lnTo>
                    <a:pt x="5180711" y="127"/>
                  </a:lnTo>
                  <a:lnTo>
                    <a:pt x="5185537" y="127"/>
                  </a:lnTo>
                  <a:lnTo>
                    <a:pt x="5185537" y="4953"/>
                  </a:lnTo>
                  <a:lnTo>
                    <a:pt x="5185537" y="2462276"/>
                  </a:lnTo>
                  <a:lnTo>
                    <a:pt x="5185537" y="2467102"/>
                  </a:lnTo>
                  <a:lnTo>
                    <a:pt x="5180711"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5180711" y="2457450"/>
                  </a:lnTo>
                  <a:lnTo>
                    <a:pt x="5180711" y="2462276"/>
                  </a:lnTo>
                  <a:lnTo>
                    <a:pt x="5175885" y="2462276"/>
                  </a:lnTo>
                  <a:lnTo>
                    <a:pt x="5175885" y="4826"/>
                  </a:lnTo>
                  <a:lnTo>
                    <a:pt x="5180711" y="4826"/>
                  </a:lnTo>
                  <a:lnTo>
                    <a:pt x="5180711" y="9652"/>
                  </a:lnTo>
                  <a:lnTo>
                    <a:pt x="4826" y="9652"/>
                  </a:lnTo>
                  <a:close/>
                </a:path>
              </a:pathLst>
            </a:custGeom>
            <a:solidFill>
              <a:srgbClr val="000000"/>
            </a:solidFill>
          </p:spPr>
        </p:sp>
        <p:sp>
          <p:nvSpPr>
            <p:cNvPr id="9" name="Freeform 9"/>
            <p:cNvSpPr/>
            <p:nvPr/>
          </p:nvSpPr>
          <p:spPr>
            <a:xfrm>
              <a:off x="6862064" y="415544"/>
              <a:ext cx="1499362" cy="11557"/>
            </a:xfrm>
            <a:custGeom>
              <a:avLst/>
              <a:gdLst/>
              <a:ahLst/>
              <a:cxnLst/>
              <a:rect l="l" t="t" r="r" b="b"/>
              <a:pathLst>
                <a:path w="1499362" h="11557">
                  <a:moveTo>
                    <a:pt x="0" y="0"/>
                  </a:moveTo>
                  <a:lnTo>
                    <a:pt x="1499362" y="0"/>
                  </a:lnTo>
                  <a:lnTo>
                    <a:pt x="1499362" y="11557"/>
                  </a:lnTo>
                  <a:lnTo>
                    <a:pt x="0" y="11557"/>
                  </a:lnTo>
                  <a:close/>
                </a:path>
              </a:pathLst>
            </a:custGeom>
            <a:solidFill>
              <a:srgbClr val="000000"/>
            </a:solidFill>
          </p:spPr>
        </p:sp>
        <p:sp>
          <p:nvSpPr>
            <p:cNvPr id="10" name="Freeform 10"/>
            <p:cNvSpPr/>
            <p:nvPr/>
          </p:nvSpPr>
          <p:spPr>
            <a:xfrm>
              <a:off x="6803644" y="2742184"/>
              <a:ext cx="7465695" cy="1118302"/>
            </a:xfrm>
            <a:custGeom>
              <a:avLst/>
              <a:gdLst/>
              <a:ahLst/>
              <a:cxnLst/>
              <a:rect l="l" t="t" r="r" b="b"/>
              <a:pathLst>
                <a:path w="7465695" h="1576070">
                  <a:moveTo>
                    <a:pt x="0" y="1576070"/>
                  </a:moveTo>
                  <a:lnTo>
                    <a:pt x="7465694" y="1576070"/>
                  </a:lnTo>
                  <a:lnTo>
                    <a:pt x="7465694" y="0"/>
                  </a:lnTo>
                  <a:lnTo>
                    <a:pt x="0" y="0"/>
                  </a:lnTo>
                  <a:close/>
                </a:path>
              </a:pathLst>
            </a:custGeom>
            <a:solidFill>
              <a:srgbClr val="FFFFFF"/>
            </a:solidFill>
          </p:spPr>
        </p:sp>
        <p:sp>
          <p:nvSpPr>
            <p:cNvPr id="11" name="Freeform 11"/>
            <p:cNvSpPr/>
            <p:nvPr/>
          </p:nvSpPr>
          <p:spPr>
            <a:xfrm>
              <a:off x="6798818" y="2737485"/>
              <a:ext cx="7475347" cy="1980256"/>
            </a:xfrm>
            <a:custGeom>
              <a:avLst/>
              <a:gdLst/>
              <a:ahLst/>
              <a:cxnLst/>
              <a:rect l="l" t="t" r="r" b="b"/>
              <a:pathLst>
                <a:path w="7475347" h="1585722">
                  <a:moveTo>
                    <a:pt x="4826" y="0"/>
                  </a:moveTo>
                  <a:lnTo>
                    <a:pt x="7470520" y="0"/>
                  </a:lnTo>
                  <a:lnTo>
                    <a:pt x="7475346" y="0"/>
                  </a:lnTo>
                  <a:lnTo>
                    <a:pt x="7475346" y="4826"/>
                  </a:lnTo>
                  <a:lnTo>
                    <a:pt x="7475346" y="1580896"/>
                  </a:lnTo>
                  <a:lnTo>
                    <a:pt x="7475346" y="1585722"/>
                  </a:lnTo>
                  <a:lnTo>
                    <a:pt x="7470520" y="1585722"/>
                  </a:lnTo>
                  <a:lnTo>
                    <a:pt x="4826" y="1585722"/>
                  </a:lnTo>
                  <a:lnTo>
                    <a:pt x="0" y="1585722"/>
                  </a:lnTo>
                  <a:lnTo>
                    <a:pt x="0" y="1580896"/>
                  </a:lnTo>
                  <a:lnTo>
                    <a:pt x="0" y="4826"/>
                  </a:lnTo>
                  <a:lnTo>
                    <a:pt x="0" y="0"/>
                  </a:lnTo>
                  <a:lnTo>
                    <a:pt x="4826" y="0"/>
                  </a:lnTo>
                  <a:moveTo>
                    <a:pt x="4826" y="9525"/>
                  </a:moveTo>
                  <a:lnTo>
                    <a:pt x="4826" y="4699"/>
                  </a:lnTo>
                  <a:lnTo>
                    <a:pt x="9652" y="4699"/>
                  </a:lnTo>
                  <a:lnTo>
                    <a:pt x="9652" y="1580769"/>
                  </a:lnTo>
                  <a:lnTo>
                    <a:pt x="4826" y="1580769"/>
                  </a:lnTo>
                  <a:lnTo>
                    <a:pt x="4826" y="1575943"/>
                  </a:lnTo>
                  <a:lnTo>
                    <a:pt x="7470520" y="1575943"/>
                  </a:lnTo>
                  <a:lnTo>
                    <a:pt x="7470520" y="1580769"/>
                  </a:lnTo>
                  <a:lnTo>
                    <a:pt x="7465694" y="1580769"/>
                  </a:lnTo>
                  <a:lnTo>
                    <a:pt x="7465694" y="4699"/>
                  </a:lnTo>
                  <a:lnTo>
                    <a:pt x="7470520" y="4699"/>
                  </a:lnTo>
                  <a:lnTo>
                    <a:pt x="7470520" y="9525"/>
                  </a:lnTo>
                  <a:lnTo>
                    <a:pt x="4826" y="9525"/>
                  </a:lnTo>
                  <a:close/>
                </a:path>
              </a:pathLst>
            </a:custGeom>
            <a:solidFill>
              <a:srgbClr val="000000"/>
            </a:solidFill>
          </p:spPr>
        </p:sp>
        <p:sp>
          <p:nvSpPr>
            <p:cNvPr id="12" name="Freeform 12"/>
            <p:cNvSpPr/>
            <p:nvPr/>
          </p:nvSpPr>
          <p:spPr>
            <a:xfrm>
              <a:off x="6862064" y="2950718"/>
              <a:ext cx="604774" cy="11557"/>
            </a:xfrm>
            <a:custGeom>
              <a:avLst/>
              <a:gdLst/>
              <a:ahLst/>
              <a:cxnLst/>
              <a:rect l="l" t="t" r="r" b="b"/>
              <a:pathLst>
                <a:path w="604774" h="11557">
                  <a:moveTo>
                    <a:pt x="0" y="0"/>
                  </a:moveTo>
                  <a:lnTo>
                    <a:pt x="604774" y="0"/>
                  </a:lnTo>
                  <a:lnTo>
                    <a:pt x="604774" y="11557"/>
                  </a:lnTo>
                  <a:lnTo>
                    <a:pt x="0" y="11557"/>
                  </a:lnTo>
                  <a:close/>
                </a:path>
              </a:pathLst>
            </a:custGeom>
            <a:solidFill>
              <a:srgbClr val="000000"/>
            </a:solidFill>
          </p:spPr>
        </p:sp>
        <p:sp>
          <p:nvSpPr>
            <p:cNvPr id="13" name="Freeform 13"/>
            <p:cNvSpPr/>
            <p:nvPr/>
          </p:nvSpPr>
          <p:spPr>
            <a:xfrm>
              <a:off x="6838951" y="6503691"/>
              <a:ext cx="7465695" cy="1257935"/>
            </a:xfrm>
            <a:custGeom>
              <a:avLst/>
              <a:gdLst/>
              <a:ahLst/>
              <a:cxnLst/>
              <a:rect l="l" t="t" r="r" b="b"/>
              <a:pathLst>
                <a:path w="7465695" h="1257935">
                  <a:moveTo>
                    <a:pt x="0" y="1257935"/>
                  </a:moveTo>
                  <a:lnTo>
                    <a:pt x="7465694" y="1257935"/>
                  </a:lnTo>
                  <a:lnTo>
                    <a:pt x="7465694" y="0"/>
                  </a:lnTo>
                  <a:lnTo>
                    <a:pt x="0" y="0"/>
                  </a:lnTo>
                  <a:close/>
                </a:path>
              </a:pathLst>
            </a:custGeom>
            <a:solidFill>
              <a:srgbClr val="FFFFFF"/>
            </a:solidFill>
          </p:spPr>
        </p:sp>
        <p:sp>
          <p:nvSpPr>
            <p:cNvPr id="14" name="Freeform 14"/>
            <p:cNvSpPr/>
            <p:nvPr/>
          </p:nvSpPr>
          <p:spPr>
            <a:xfrm>
              <a:off x="6798818" y="4860617"/>
              <a:ext cx="7475347" cy="1285884"/>
            </a:xfrm>
            <a:custGeom>
              <a:avLst/>
              <a:gdLst/>
              <a:ahLst/>
              <a:cxnLst/>
              <a:rect l="l" t="t" r="r" b="b"/>
              <a:pathLst>
                <a:path w="7475347" h="1267587">
                  <a:moveTo>
                    <a:pt x="4826" y="0"/>
                  </a:moveTo>
                  <a:lnTo>
                    <a:pt x="7470520" y="0"/>
                  </a:lnTo>
                  <a:lnTo>
                    <a:pt x="7475346" y="0"/>
                  </a:lnTo>
                  <a:lnTo>
                    <a:pt x="7475346" y="4826"/>
                  </a:lnTo>
                  <a:lnTo>
                    <a:pt x="7475346" y="1262761"/>
                  </a:lnTo>
                  <a:lnTo>
                    <a:pt x="7475346" y="1267587"/>
                  </a:lnTo>
                  <a:lnTo>
                    <a:pt x="7470520" y="1267587"/>
                  </a:lnTo>
                  <a:lnTo>
                    <a:pt x="4826" y="1267587"/>
                  </a:lnTo>
                  <a:lnTo>
                    <a:pt x="0" y="1267587"/>
                  </a:lnTo>
                  <a:lnTo>
                    <a:pt x="0" y="1262761"/>
                  </a:lnTo>
                  <a:lnTo>
                    <a:pt x="0" y="4826"/>
                  </a:lnTo>
                  <a:lnTo>
                    <a:pt x="0" y="0"/>
                  </a:lnTo>
                  <a:lnTo>
                    <a:pt x="4826" y="0"/>
                  </a:lnTo>
                  <a:moveTo>
                    <a:pt x="4826" y="9525"/>
                  </a:moveTo>
                  <a:lnTo>
                    <a:pt x="4826" y="4699"/>
                  </a:lnTo>
                  <a:lnTo>
                    <a:pt x="9652" y="4699"/>
                  </a:lnTo>
                  <a:lnTo>
                    <a:pt x="9652" y="1262634"/>
                  </a:lnTo>
                  <a:lnTo>
                    <a:pt x="4826" y="1262634"/>
                  </a:lnTo>
                  <a:lnTo>
                    <a:pt x="4826" y="1257808"/>
                  </a:lnTo>
                  <a:lnTo>
                    <a:pt x="7470520" y="1257808"/>
                  </a:lnTo>
                  <a:lnTo>
                    <a:pt x="7470520" y="1262634"/>
                  </a:lnTo>
                  <a:lnTo>
                    <a:pt x="7465694" y="1262634"/>
                  </a:lnTo>
                  <a:lnTo>
                    <a:pt x="7465694" y="4699"/>
                  </a:lnTo>
                  <a:lnTo>
                    <a:pt x="7470520" y="4699"/>
                  </a:lnTo>
                  <a:lnTo>
                    <a:pt x="7470520" y="9525"/>
                  </a:lnTo>
                  <a:lnTo>
                    <a:pt x="4826" y="9525"/>
                  </a:lnTo>
                  <a:close/>
                </a:path>
              </a:pathLst>
            </a:custGeom>
            <a:solidFill>
              <a:srgbClr val="000000"/>
            </a:solidFill>
          </p:spPr>
        </p:sp>
        <p:sp>
          <p:nvSpPr>
            <p:cNvPr id="16" name="Freeform 16"/>
            <p:cNvSpPr/>
            <p:nvPr/>
          </p:nvSpPr>
          <p:spPr>
            <a:xfrm>
              <a:off x="6838951" y="6575129"/>
              <a:ext cx="7456805" cy="1816511"/>
            </a:xfrm>
            <a:custGeom>
              <a:avLst/>
              <a:gdLst/>
              <a:ahLst/>
              <a:cxnLst/>
              <a:rect l="l" t="t" r="r" b="b"/>
              <a:pathLst>
                <a:path w="7456805" h="1400175">
                  <a:moveTo>
                    <a:pt x="0" y="1400175"/>
                  </a:moveTo>
                  <a:lnTo>
                    <a:pt x="7456805" y="1400175"/>
                  </a:lnTo>
                  <a:lnTo>
                    <a:pt x="7456805" y="0"/>
                  </a:lnTo>
                  <a:lnTo>
                    <a:pt x="0" y="0"/>
                  </a:lnTo>
                  <a:close/>
                </a:path>
              </a:pathLst>
            </a:custGeom>
            <a:solidFill>
              <a:srgbClr val="FFFFFF"/>
            </a:solidFill>
          </p:spPr>
        </p:sp>
        <p:sp>
          <p:nvSpPr>
            <p:cNvPr id="17" name="Freeform 17"/>
            <p:cNvSpPr/>
            <p:nvPr/>
          </p:nvSpPr>
          <p:spPr>
            <a:xfrm>
              <a:off x="6807200" y="6217939"/>
              <a:ext cx="7466330" cy="1714512"/>
            </a:xfrm>
            <a:custGeom>
              <a:avLst/>
              <a:gdLst/>
              <a:ahLst/>
              <a:cxnLst/>
              <a:rect l="l" t="t" r="r" b="b"/>
              <a:pathLst>
                <a:path w="7466330" h="1409827">
                  <a:moveTo>
                    <a:pt x="4699" y="0"/>
                  </a:moveTo>
                  <a:lnTo>
                    <a:pt x="7461504" y="0"/>
                  </a:lnTo>
                  <a:lnTo>
                    <a:pt x="7466330" y="0"/>
                  </a:lnTo>
                  <a:lnTo>
                    <a:pt x="7466330" y="4826"/>
                  </a:lnTo>
                  <a:lnTo>
                    <a:pt x="7466330" y="1405001"/>
                  </a:lnTo>
                  <a:lnTo>
                    <a:pt x="7466330" y="1409827"/>
                  </a:lnTo>
                  <a:lnTo>
                    <a:pt x="7461504" y="1409827"/>
                  </a:lnTo>
                  <a:lnTo>
                    <a:pt x="4699" y="1409827"/>
                  </a:lnTo>
                  <a:lnTo>
                    <a:pt x="0" y="1409827"/>
                  </a:lnTo>
                  <a:lnTo>
                    <a:pt x="0" y="1405001"/>
                  </a:lnTo>
                  <a:lnTo>
                    <a:pt x="0" y="4826"/>
                  </a:lnTo>
                  <a:lnTo>
                    <a:pt x="0" y="0"/>
                  </a:lnTo>
                  <a:lnTo>
                    <a:pt x="4826" y="0"/>
                  </a:lnTo>
                  <a:moveTo>
                    <a:pt x="4826" y="9525"/>
                  </a:moveTo>
                  <a:lnTo>
                    <a:pt x="4826" y="4699"/>
                  </a:lnTo>
                  <a:lnTo>
                    <a:pt x="9652" y="4699"/>
                  </a:lnTo>
                  <a:lnTo>
                    <a:pt x="9652" y="1405001"/>
                  </a:lnTo>
                  <a:lnTo>
                    <a:pt x="4826" y="1405001"/>
                  </a:lnTo>
                  <a:lnTo>
                    <a:pt x="4826" y="1400175"/>
                  </a:lnTo>
                  <a:lnTo>
                    <a:pt x="7461631" y="1400175"/>
                  </a:lnTo>
                  <a:lnTo>
                    <a:pt x="7461631" y="1405001"/>
                  </a:lnTo>
                  <a:lnTo>
                    <a:pt x="7456805" y="1405001"/>
                  </a:lnTo>
                  <a:lnTo>
                    <a:pt x="7456805" y="4826"/>
                  </a:lnTo>
                  <a:lnTo>
                    <a:pt x="7461631" y="4826"/>
                  </a:lnTo>
                  <a:lnTo>
                    <a:pt x="7461631" y="9652"/>
                  </a:lnTo>
                  <a:lnTo>
                    <a:pt x="4699" y="9652"/>
                  </a:lnTo>
                  <a:close/>
                </a:path>
              </a:pathLst>
            </a:custGeom>
            <a:solidFill>
              <a:srgbClr val="000000"/>
            </a:solidFill>
          </p:spPr>
        </p:sp>
        <p:sp>
          <p:nvSpPr>
            <p:cNvPr id="19" name="Freeform 19"/>
            <p:cNvSpPr/>
            <p:nvPr/>
          </p:nvSpPr>
          <p:spPr>
            <a:xfrm>
              <a:off x="12146534" y="204470"/>
              <a:ext cx="2164080" cy="2457450"/>
            </a:xfrm>
            <a:custGeom>
              <a:avLst/>
              <a:gdLst/>
              <a:ahLst/>
              <a:cxnLst/>
              <a:rect l="l" t="t" r="r" b="b"/>
              <a:pathLst>
                <a:path w="2164080" h="2457450">
                  <a:moveTo>
                    <a:pt x="0" y="2457450"/>
                  </a:moveTo>
                  <a:lnTo>
                    <a:pt x="2164079" y="2457450"/>
                  </a:lnTo>
                  <a:lnTo>
                    <a:pt x="2164079" y="0"/>
                  </a:lnTo>
                  <a:lnTo>
                    <a:pt x="0" y="0"/>
                  </a:lnTo>
                  <a:close/>
                </a:path>
              </a:pathLst>
            </a:custGeom>
            <a:solidFill>
              <a:srgbClr val="FFFFFF"/>
            </a:solidFill>
          </p:spPr>
        </p:sp>
        <p:sp>
          <p:nvSpPr>
            <p:cNvPr id="20" name="Freeform 20"/>
            <p:cNvSpPr/>
            <p:nvPr/>
          </p:nvSpPr>
          <p:spPr>
            <a:xfrm>
              <a:off x="12141707" y="199644"/>
              <a:ext cx="2173732" cy="2467102"/>
            </a:xfrm>
            <a:custGeom>
              <a:avLst/>
              <a:gdLst/>
              <a:ahLst/>
              <a:cxnLst/>
              <a:rect l="l" t="t" r="r" b="b"/>
              <a:pathLst>
                <a:path w="2173732" h="2467102">
                  <a:moveTo>
                    <a:pt x="4827" y="127"/>
                  </a:moveTo>
                  <a:lnTo>
                    <a:pt x="2168906" y="127"/>
                  </a:lnTo>
                  <a:lnTo>
                    <a:pt x="2173732" y="127"/>
                  </a:lnTo>
                  <a:lnTo>
                    <a:pt x="2173732" y="4953"/>
                  </a:lnTo>
                  <a:lnTo>
                    <a:pt x="2173732" y="2462276"/>
                  </a:lnTo>
                  <a:lnTo>
                    <a:pt x="2173732" y="2467102"/>
                  </a:lnTo>
                  <a:lnTo>
                    <a:pt x="2168906" y="2467102"/>
                  </a:lnTo>
                  <a:lnTo>
                    <a:pt x="4826" y="2467102"/>
                  </a:lnTo>
                  <a:lnTo>
                    <a:pt x="0" y="2467102"/>
                  </a:lnTo>
                  <a:lnTo>
                    <a:pt x="0" y="2462276"/>
                  </a:lnTo>
                  <a:lnTo>
                    <a:pt x="0" y="4826"/>
                  </a:lnTo>
                  <a:lnTo>
                    <a:pt x="0" y="0"/>
                  </a:lnTo>
                  <a:lnTo>
                    <a:pt x="4826" y="0"/>
                  </a:lnTo>
                  <a:moveTo>
                    <a:pt x="4826" y="9525"/>
                  </a:moveTo>
                  <a:lnTo>
                    <a:pt x="4826" y="4826"/>
                  </a:lnTo>
                  <a:lnTo>
                    <a:pt x="9652" y="4826"/>
                  </a:lnTo>
                  <a:lnTo>
                    <a:pt x="9652" y="2462276"/>
                  </a:lnTo>
                  <a:lnTo>
                    <a:pt x="4826" y="2462276"/>
                  </a:lnTo>
                  <a:lnTo>
                    <a:pt x="4826" y="2457450"/>
                  </a:lnTo>
                  <a:lnTo>
                    <a:pt x="2168906" y="2457450"/>
                  </a:lnTo>
                  <a:lnTo>
                    <a:pt x="2168906" y="2462276"/>
                  </a:lnTo>
                  <a:lnTo>
                    <a:pt x="2164080" y="2462276"/>
                  </a:lnTo>
                  <a:lnTo>
                    <a:pt x="2164080" y="4826"/>
                  </a:lnTo>
                  <a:lnTo>
                    <a:pt x="2168906" y="4826"/>
                  </a:lnTo>
                  <a:lnTo>
                    <a:pt x="2168906" y="9652"/>
                  </a:lnTo>
                  <a:lnTo>
                    <a:pt x="4827" y="9652"/>
                  </a:lnTo>
                  <a:close/>
                </a:path>
              </a:pathLst>
            </a:custGeom>
            <a:solidFill>
              <a:srgbClr val="000000"/>
            </a:solidFill>
          </p:spPr>
        </p:sp>
      </p:grpSp>
      <p:sp>
        <p:nvSpPr>
          <p:cNvPr id="22" name="TextBox 22"/>
          <p:cNvSpPr txBox="1"/>
          <p:nvPr/>
        </p:nvSpPr>
        <p:spPr>
          <a:xfrm>
            <a:off x="381000" y="9550946"/>
            <a:ext cx="204340" cy="192360"/>
          </a:xfrm>
          <a:prstGeom prst="rect">
            <a:avLst/>
          </a:prstGeom>
        </p:spPr>
        <p:txBody>
          <a:bodyPr lIns="0" tIns="0" rIns="0" bIns="0" rtlCol="0" anchor="t">
            <a:spAutoFit/>
          </a:bodyPr>
          <a:lstStyle/>
          <a:p>
            <a:pPr algn="l">
              <a:lnSpc>
                <a:spcPts val="1539"/>
              </a:lnSpc>
            </a:pPr>
            <a:r>
              <a:rPr lang="en-US" sz="1100" b="1" dirty="0">
                <a:solidFill>
                  <a:srgbClr val="808080"/>
                </a:solidFill>
                <a:latin typeface="Calibri (MS) Bold"/>
                <a:ea typeface="Calibri (MS) Bold"/>
                <a:cs typeface="Calibri (MS) Bold"/>
                <a:sym typeface="Calibri (MS) Bold"/>
              </a:rPr>
              <a:t>3</a:t>
            </a:r>
            <a:r>
              <a:rPr lang="en-US" sz="1100" b="1" dirty="0" smtClean="0">
                <a:solidFill>
                  <a:srgbClr val="808080"/>
                </a:solidFill>
                <a:latin typeface="Calibri (MS) Bold"/>
                <a:ea typeface="Calibri (MS) Bold"/>
                <a:cs typeface="Calibri (MS) Bold"/>
                <a:sym typeface="Calibri (MS) Bold"/>
              </a:rPr>
              <a:t> </a:t>
            </a:r>
            <a:r>
              <a:rPr lang="en-US" sz="1100" b="1" dirty="0">
                <a:solidFill>
                  <a:srgbClr val="808080"/>
                </a:solidFill>
                <a:latin typeface="Calibri (MS) Bold"/>
                <a:ea typeface="Calibri (MS) Bold"/>
                <a:cs typeface="Calibri (MS) Bold"/>
                <a:sym typeface="Calibri (MS) Bold"/>
              </a:rPr>
              <a:t>| </a:t>
            </a:r>
          </a:p>
        </p:txBody>
      </p:sp>
      <p:sp>
        <p:nvSpPr>
          <p:cNvPr id="23" name="TextBox 23"/>
          <p:cNvSpPr txBox="1"/>
          <p:nvPr/>
        </p:nvSpPr>
        <p:spPr>
          <a:xfrm>
            <a:off x="912766" y="417478"/>
            <a:ext cx="2286000"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Student Name: </a:t>
            </a:r>
            <a:r>
              <a:rPr lang="en-US" sz="1100" b="1" dirty="0" smtClean="0">
                <a:solidFill>
                  <a:srgbClr val="000000"/>
                </a:solidFill>
                <a:latin typeface="Calibri (MS) Bold"/>
                <a:ea typeface="Calibri (MS) Bold"/>
                <a:cs typeface="Calibri (MS) Bold"/>
                <a:sym typeface="Calibri (MS) Bold"/>
              </a:rPr>
              <a:t>BALARAM.S</a:t>
            </a:r>
            <a:endParaRPr lang="en-US" sz="1100" b="1" dirty="0">
              <a:solidFill>
                <a:srgbClr val="000000"/>
              </a:solidFill>
              <a:latin typeface="Calibri (MS) Bold"/>
              <a:ea typeface="Calibri (MS) Bold"/>
              <a:cs typeface="Calibri (MS) Bold"/>
              <a:sym typeface="Calibri (MS) Bold"/>
            </a:endParaRPr>
          </a:p>
        </p:txBody>
      </p:sp>
      <p:sp>
        <p:nvSpPr>
          <p:cNvPr id="25" name="TextBox 25"/>
          <p:cNvSpPr txBox="1"/>
          <p:nvPr/>
        </p:nvSpPr>
        <p:spPr>
          <a:xfrm>
            <a:off x="12344400" y="400507"/>
            <a:ext cx="1195149" cy="192360"/>
          </a:xfrm>
          <a:prstGeom prst="rect">
            <a:avLst/>
          </a:prstGeom>
        </p:spPr>
        <p:txBody>
          <a:bodyPr lIns="0" tIns="0" rIns="0" bIns="0" rtlCol="0" anchor="t">
            <a:spAutoFit/>
          </a:bodyPr>
          <a:lstStyle/>
          <a:p>
            <a:pPr algn="l">
              <a:lnSpc>
                <a:spcPts val="1539"/>
              </a:lnSpc>
            </a:pPr>
            <a:r>
              <a:rPr lang="en-US" sz="1100" b="1" dirty="0">
                <a:solidFill>
                  <a:srgbClr val="000000"/>
                </a:solidFill>
                <a:latin typeface="Calibri (MS) Bold"/>
                <a:ea typeface="Calibri (MS) Bold"/>
                <a:cs typeface="Calibri (MS) Bold"/>
                <a:sym typeface="Calibri (MS) Bold"/>
              </a:rPr>
              <a:t>Reg. no: </a:t>
            </a:r>
            <a:r>
              <a:rPr lang="en-US" sz="1100" b="1" dirty="0" smtClean="0">
                <a:solidFill>
                  <a:srgbClr val="000000"/>
                </a:solidFill>
                <a:latin typeface="Calibri (MS) Bold"/>
                <a:ea typeface="Calibri (MS) Bold"/>
                <a:cs typeface="Calibri (MS) Bold"/>
                <a:sym typeface="Calibri (MS) Bold"/>
              </a:rPr>
              <a:t>112001035 </a:t>
            </a:r>
            <a:endParaRPr lang="en-US" sz="1100" b="1" dirty="0">
              <a:solidFill>
                <a:srgbClr val="000000"/>
              </a:solidFill>
              <a:latin typeface="Calibri (MS) Bold"/>
              <a:ea typeface="Calibri (MS) Bold"/>
              <a:cs typeface="Calibri (MS) Bold"/>
              <a:sym typeface="Calibri (MS) Bold"/>
            </a:endParaRPr>
          </a:p>
        </p:txBody>
      </p:sp>
      <p:sp>
        <p:nvSpPr>
          <p:cNvPr id="26" name="TextBox 26"/>
          <p:cNvSpPr txBox="1"/>
          <p:nvPr/>
        </p:nvSpPr>
        <p:spPr>
          <a:xfrm>
            <a:off x="677320" y="953995"/>
            <a:ext cx="2893648" cy="256480"/>
          </a:xfrm>
          <a:prstGeom prst="rect">
            <a:avLst/>
          </a:prstGeom>
        </p:spPr>
        <p:txBody>
          <a:bodyPr lIns="0" tIns="0" rIns="0" bIns="0" rtlCol="0" anchor="t">
            <a:spAutoFit/>
          </a:bodyPr>
          <a:lstStyle/>
          <a:p>
            <a:pPr>
              <a:lnSpc>
                <a:spcPts val="1959"/>
              </a:lnSpc>
            </a:pPr>
            <a:r>
              <a:rPr lang="en-US" sz="1399" b="1" dirty="0">
                <a:solidFill>
                  <a:srgbClr val="000000"/>
                </a:solidFill>
                <a:latin typeface="Cambria Bold"/>
                <a:ea typeface="Cambria Bold"/>
                <a:cs typeface="Cambria Bold"/>
                <a:sym typeface="Cambria Bold"/>
              </a:rPr>
              <a:t>     </a:t>
            </a:r>
            <a:r>
              <a:rPr lang="en-US" sz="1399" b="1" dirty="0" err="1">
                <a:solidFill>
                  <a:srgbClr val="000000"/>
                </a:solidFill>
                <a:latin typeface="Cambria Bold"/>
                <a:ea typeface="Cambria Bold"/>
                <a:cs typeface="Cambria Bold"/>
                <a:sym typeface="Cambria Bold"/>
              </a:rPr>
              <a:t>S.no</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12 </a:t>
            </a:r>
            <a:r>
              <a:rPr lang="en-US" sz="1399" b="1" dirty="0">
                <a:solidFill>
                  <a:srgbClr val="000000"/>
                </a:solidFill>
                <a:latin typeface="Cambria Bold"/>
                <a:ea typeface="Cambria Bold"/>
                <a:cs typeface="Cambria Bold"/>
                <a:sym typeface="Cambria Bold"/>
              </a:rPr>
              <a:t>         </a:t>
            </a:r>
            <a:r>
              <a:rPr lang="en-US" sz="1399" b="1" dirty="0" smtClean="0">
                <a:solidFill>
                  <a:srgbClr val="000000"/>
                </a:solidFill>
                <a:latin typeface="Cambria Bold"/>
                <a:ea typeface="Cambria Bold"/>
                <a:cs typeface="Cambria Bold"/>
                <a:sym typeface="Cambria Bold"/>
              </a:rPr>
              <a:t>PID:  </a:t>
            </a:r>
            <a:r>
              <a:rPr lang="en-US" sz="1400" dirty="0" smtClean="0"/>
              <a:t> 231114150538</a:t>
            </a:r>
            <a:endParaRPr lang="en-US" sz="1399" b="1" dirty="0">
              <a:solidFill>
                <a:srgbClr val="000000"/>
              </a:solidFill>
              <a:latin typeface="Cambria Bold"/>
              <a:ea typeface="Cambria Bold"/>
              <a:cs typeface="Cambria Bold"/>
              <a:sym typeface="Cambria Bold"/>
            </a:endParaRPr>
          </a:p>
        </p:txBody>
      </p:sp>
      <p:sp>
        <p:nvSpPr>
          <p:cNvPr id="27" name="TextBox 27"/>
          <p:cNvSpPr txBox="1"/>
          <p:nvPr/>
        </p:nvSpPr>
        <p:spPr>
          <a:xfrm>
            <a:off x="2743257" y="953995"/>
            <a:ext cx="39900" cy="240706"/>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28" name="TextBox 28"/>
          <p:cNvSpPr txBox="1"/>
          <p:nvPr/>
        </p:nvSpPr>
        <p:spPr>
          <a:xfrm>
            <a:off x="6858000" y="8899150"/>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29" name="TextBox 29"/>
          <p:cNvSpPr txBox="1"/>
          <p:nvPr/>
        </p:nvSpPr>
        <p:spPr>
          <a:xfrm>
            <a:off x="3886200" y="410032"/>
            <a:ext cx="32204" cy="198758"/>
          </a:xfrm>
          <a:prstGeom prst="rect">
            <a:avLst/>
          </a:prstGeom>
        </p:spPr>
        <p:txBody>
          <a:bodyPr lIns="0" tIns="0" rIns="0" bIns="0" rtlCol="0" anchor="t">
            <a:spAutoFit/>
          </a:bodyPr>
          <a:lstStyle/>
          <a:p>
            <a:pPr algn="l">
              <a:lnSpc>
                <a:spcPts val="1460"/>
              </a:lnSpc>
            </a:pPr>
            <a:r>
              <a:rPr lang="en-US" sz="1100" b="1">
                <a:solidFill>
                  <a:srgbClr val="000000"/>
                </a:solidFill>
                <a:latin typeface="Calibri (MS) Bold"/>
                <a:ea typeface="Calibri (MS) Bold"/>
                <a:cs typeface="Calibri (MS) Bold"/>
                <a:sym typeface="Calibri (MS) Bold"/>
              </a:rPr>
              <a:t> </a:t>
            </a:r>
          </a:p>
        </p:txBody>
      </p:sp>
      <p:sp>
        <p:nvSpPr>
          <p:cNvPr id="30" name="TextBox 30"/>
          <p:cNvSpPr txBox="1"/>
          <p:nvPr/>
        </p:nvSpPr>
        <p:spPr>
          <a:xfrm>
            <a:off x="2555840" y="274602"/>
            <a:ext cx="10144196" cy="371897"/>
          </a:xfrm>
          <a:prstGeom prst="rect">
            <a:avLst/>
          </a:prstGeom>
        </p:spPr>
        <p:txBody>
          <a:bodyPr wrap="square" lIns="0" tIns="0" rIns="0" bIns="0" rtlCol="0" anchor="t">
            <a:spAutoFit/>
          </a:bodyPr>
          <a:lstStyle/>
          <a:p>
            <a:pPr algn="ctr">
              <a:lnSpc>
                <a:spcPts val="2921"/>
              </a:lnSpc>
            </a:pPr>
            <a:r>
              <a:rPr lang="en-US" sz="2199" b="1" i="1" dirty="0">
                <a:solidFill>
                  <a:srgbClr val="000000"/>
                </a:solidFill>
                <a:latin typeface="Cambria Bold Italics"/>
                <a:ea typeface="Cambria Bold Italics"/>
                <a:cs typeface="Cambria Bold Italics"/>
                <a:sym typeface="Cambria Bold Italics"/>
              </a:rPr>
              <a:t>A case </a:t>
            </a:r>
            <a:r>
              <a:rPr lang="en-US" sz="2199" b="1" i="1" dirty="0" smtClean="0">
                <a:solidFill>
                  <a:srgbClr val="000000"/>
                </a:solidFill>
                <a:latin typeface="Cambria Bold Italics"/>
                <a:ea typeface="Cambria Bold Italics"/>
                <a:cs typeface="Cambria Bold Italics"/>
                <a:sym typeface="Cambria Bold Italics"/>
              </a:rPr>
              <a:t>of amenorrhea</a:t>
            </a:r>
            <a:endParaRPr lang="en-US" sz="2199" b="1" i="1" dirty="0">
              <a:solidFill>
                <a:srgbClr val="000000"/>
              </a:solidFill>
              <a:latin typeface="Cambria Bold" charset="0"/>
              <a:ea typeface="Cambria Bold Italics"/>
              <a:cs typeface="Cambria Bold Italics"/>
              <a:sym typeface="Cambria Bold Italics"/>
            </a:endParaRPr>
          </a:p>
        </p:txBody>
      </p:sp>
      <p:sp>
        <p:nvSpPr>
          <p:cNvPr id="31" name="TextBox 31"/>
          <p:cNvSpPr txBox="1"/>
          <p:nvPr/>
        </p:nvSpPr>
        <p:spPr>
          <a:xfrm>
            <a:off x="3200400" y="811120"/>
            <a:ext cx="11163835" cy="448841"/>
          </a:xfrm>
          <a:prstGeom prst="rect">
            <a:avLst/>
          </a:prstGeom>
        </p:spPr>
        <p:txBody>
          <a:bodyPr lIns="0" tIns="0" rIns="0" bIns="0" rtlCol="0" anchor="t">
            <a:spAutoFit/>
          </a:bodyPr>
          <a:lstStyle/>
          <a:p>
            <a:pPr>
              <a:lnSpc>
                <a:spcPts val="3499"/>
              </a:lnSpc>
            </a:pPr>
            <a:r>
              <a:rPr lang="en-US" sz="1399" b="1" dirty="0">
                <a:solidFill>
                  <a:srgbClr val="000000"/>
                </a:solidFill>
                <a:latin typeface="Cambria Bold"/>
                <a:ea typeface="Cambria Bold"/>
                <a:cs typeface="Cambria Bold"/>
                <a:sym typeface="Cambria Bold"/>
              </a:rPr>
              <a:t>                                                Name</a:t>
            </a:r>
            <a:r>
              <a:rPr lang="en-US" sz="1399" b="1" dirty="0" smtClean="0">
                <a:solidFill>
                  <a:srgbClr val="000000"/>
                </a:solidFill>
                <a:latin typeface="Cambria Bold"/>
                <a:ea typeface="Cambria Bold"/>
                <a:cs typeface="Cambria Bold"/>
                <a:sym typeface="Cambria Bold"/>
              </a:rPr>
              <a:t>: </a:t>
            </a:r>
            <a:r>
              <a:rPr lang="en-US" sz="1600" b="1" dirty="0">
                <a:solidFill>
                  <a:srgbClr val="000000"/>
                </a:solidFill>
                <a:latin typeface="Cambria Bold"/>
                <a:ea typeface="Cambria Bold"/>
                <a:cs typeface="Cambria Bold"/>
                <a:sym typeface="Cambria Bold"/>
              </a:rPr>
              <a:t>  </a:t>
            </a:r>
            <a:r>
              <a:rPr lang="en-US" sz="1600" b="1" dirty="0" err="1" smtClean="0">
                <a:solidFill>
                  <a:srgbClr val="000000"/>
                </a:solidFill>
                <a:latin typeface="Cambria Bold"/>
                <a:ea typeface="Cambria Bold"/>
                <a:cs typeface="Cambria Bold"/>
                <a:sym typeface="Cambria Bold"/>
              </a:rPr>
              <a:t>Visalakshi</a:t>
            </a:r>
            <a:r>
              <a:rPr lang="en-US" sz="1600" b="1" dirty="0" smtClean="0">
                <a:solidFill>
                  <a:srgbClr val="000000"/>
                </a:solidFill>
                <a:latin typeface="Cambria Bold"/>
                <a:ea typeface="Cambria Bold"/>
                <a:cs typeface="Cambria Bold"/>
                <a:sym typeface="Cambria Bold"/>
              </a:rPr>
              <a:t> A</a:t>
            </a:r>
            <a:r>
              <a:rPr lang="en-US" sz="1399" b="1" dirty="0">
                <a:solidFill>
                  <a:srgbClr val="000000"/>
                </a:solidFill>
                <a:latin typeface="Cambria Bold"/>
                <a:ea typeface="Cambria Bold"/>
                <a:cs typeface="Cambria Bold"/>
                <a:sym typeface="Cambria Bold"/>
              </a:rPr>
              <a:t>                                                                     Age</a:t>
            </a:r>
            <a:r>
              <a:rPr lang="en-US" sz="1399" b="1" dirty="0" smtClean="0">
                <a:solidFill>
                  <a:srgbClr val="000000"/>
                </a:solidFill>
                <a:latin typeface="Cambria Bold"/>
                <a:ea typeface="Cambria Bold"/>
                <a:cs typeface="Cambria Bold"/>
                <a:sym typeface="Cambria Bold"/>
              </a:rPr>
              <a:t>: 20  </a:t>
            </a:r>
            <a:r>
              <a:rPr lang="en-US" sz="1399" b="1" dirty="0">
                <a:solidFill>
                  <a:srgbClr val="000000"/>
                </a:solidFill>
                <a:latin typeface="Cambria Bold"/>
                <a:ea typeface="Cambria Bold"/>
                <a:cs typeface="Cambria Bold"/>
                <a:sym typeface="Cambria Bold"/>
              </a:rPr>
              <a:t>                      Gender: </a:t>
            </a:r>
            <a:r>
              <a:rPr lang="en-US" sz="1399" b="1" dirty="0" smtClean="0">
                <a:solidFill>
                  <a:srgbClr val="000000"/>
                </a:solidFill>
                <a:latin typeface="Cambria Bold"/>
                <a:ea typeface="Cambria Bold"/>
                <a:cs typeface="Cambria Bold"/>
                <a:sym typeface="Cambria Bold"/>
              </a:rPr>
              <a:t>Female</a:t>
            </a:r>
            <a:endParaRPr lang="en-US" sz="1399" b="1" dirty="0">
              <a:solidFill>
                <a:srgbClr val="000000"/>
              </a:solidFill>
              <a:latin typeface="Cambria Bold"/>
              <a:ea typeface="Cambria Bold"/>
              <a:cs typeface="Cambria Bold"/>
              <a:sym typeface="Cambria Bold"/>
            </a:endParaRPr>
          </a:p>
        </p:txBody>
      </p:sp>
      <p:sp>
        <p:nvSpPr>
          <p:cNvPr id="32" name="TextBox 32"/>
          <p:cNvSpPr txBox="1"/>
          <p:nvPr/>
        </p:nvSpPr>
        <p:spPr>
          <a:xfrm>
            <a:off x="12801600" y="953995"/>
            <a:ext cx="514379" cy="240735"/>
          </a:xfrm>
          <a:prstGeom prst="rect">
            <a:avLst/>
          </a:prstGeom>
        </p:spPr>
        <p:txBody>
          <a:bodyPr lIns="0" tIns="0" rIns="0" bIns="0" rtlCol="0" anchor="t">
            <a:spAutoFit/>
          </a:bodyPr>
          <a:lstStyle/>
          <a:p>
            <a:pPr algn="l">
              <a:lnSpc>
                <a:spcPts val="1959"/>
              </a:lnSpc>
            </a:pPr>
            <a:r>
              <a:rPr lang="en-US" sz="1399" b="1">
                <a:solidFill>
                  <a:srgbClr val="000000"/>
                </a:solidFill>
                <a:latin typeface="Cambria Bold"/>
                <a:ea typeface="Cambria Bold"/>
                <a:cs typeface="Cambria Bold"/>
                <a:sym typeface="Cambria Bold"/>
              </a:rPr>
              <a:t>             </a:t>
            </a:r>
          </a:p>
        </p:txBody>
      </p:sp>
      <p:sp>
        <p:nvSpPr>
          <p:cNvPr id="33" name="TextBox 33"/>
          <p:cNvSpPr txBox="1"/>
          <p:nvPr/>
        </p:nvSpPr>
        <p:spPr>
          <a:xfrm>
            <a:off x="581339" y="9551251"/>
            <a:ext cx="341862"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Page </a:t>
            </a:r>
          </a:p>
        </p:txBody>
      </p:sp>
      <p:sp>
        <p:nvSpPr>
          <p:cNvPr id="34" name="TextBox 34"/>
          <p:cNvSpPr txBox="1"/>
          <p:nvPr/>
        </p:nvSpPr>
        <p:spPr>
          <a:xfrm>
            <a:off x="5809498" y="9551251"/>
            <a:ext cx="2592638" cy="213360"/>
          </a:xfrm>
          <a:prstGeom prst="rect">
            <a:avLst/>
          </a:prstGeom>
        </p:spPr>
        <p:txBody>
          <a:bodyPr lIns="0" tIns="0" rIns="0" bIns="0" rtlCol="0" anchor="t">
            <a:spAutoFit/>
          </a:bodyPr>
          <a:lstStyle/>
          <a:p>
            <a:pPr algn="l">
              <a:lnSpc>
                <a:spcPts val="1679"/>
              </a:lnSpc>
            </a:pPr>
            <a:r>
              <a:rPr lang="en-US" sz="1200" b="1">
                <a:solidFill>
                  <a:srgbClr val="808080"/>
                </a:solidFill>
                <a:latin typeface="Calibri (MS) Bold"/>
                <a:ea typeface="Calibri (MS) Bold"/>
                <a:cs typeface="Calibri (MS) Bold"/>
                <a:sym typeface="Calibri (MS) Bold"/>
              </a:rPr>
              <a:t>SAVEETHA MEDICAL COLLEGE HOSPITAL </a:t>
            </a:r>
          </a:p>
        </p:txBody>
      </p:sp>
      <p:sp>
        <p:nvSpPr>
          <p:cNvPr id="35" name="TextBox 35"/>
          <p:cNvSpPr txBox="1"/>
          <p:nvPr/>
        </p:nvSpPr>
        <p:spPr>
          <a:xfrm>
            <a:off x="914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6" name="TextBox 36"/>
          <p:cNvSpPr txBox="1"/>
          <p:nvPr/>
        </p:nvSpPr>
        <p:spPr>
          <a:xfrm>
            <a:off x="1371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7" name="TextBox 37"/>
          <p:cNvSpPr txBox="1"/>
          <p:nvPr/>
        </p:nvSpPr>
        <p:spPr>
          <a:xfrm>
            <a:off x="1828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8" name="TextBox 38"/>
          <p:cNvSpPr txBox="1"/>
          <p:nvPr/>
        </p:nvSpPr>
        <p:spPr>
          <a:xfrm>
            <a:off x="2286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39" name="TextBox 39"/>
          <p:cNvSpPr txBox="1"/>
          <p:nvPr/>
        </p:nvSpPr>
        <p:spPr>
          <a:xfrm>
            <a:off x="2743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0" name="TextBox 40"/>
          <p:cNvSpPr txBox="1"/>
          <p:nvPr/>
        </p:nvSpPr>
        <p:spPr>
          <a:xfrm>
            <a:off x="3200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1" name="TextBox 41"/>
          <p:cNvSpPr txBox="1"/>
          <p:nvPr/>
        </p:nvSpPr>
        <p:spPr>
          <a:xfrm>
            <a:off x="3657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2" name="TextBox 42"/>
          <p:cNvSpPr txBox="1"/>
          <p:nvPr/>
        </p:nvSpPr>
        <p:spPr>
          <a:xfrm>
            <a:off x="41148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3" name="TextBox 43"/>
          <p:cNvSpPr txBox="1"/>
          <p:nvPr/>
        </p:nvSpPr>
        <p:spPr>
          <a:xfrm>
            <a:off x="45720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4" name="TextBox 44"/>
          <p:cNvSpPr txBox="1"/>
          <p:nvPr/>
        </p:nvSpPr>
        <p:spPr>
          <a:xfrm>
            <a:off x="50292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5" name="TextBox 45"/>
          <p:cNvSpPr txBox="1"/>
          <p:nvPr/>
        </p:nvSpPr>
        <p:spPr>
          <a:xfrm>
            <a:off x="54864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6" name="TextBox 46"/>
          <p:cNvSpPr txBox="1"/>
          <p:nvPr/>
        </p:nvSpPr>
        <p:spPr>
          <a:xfrm>
            <a:off x="5943600" y="9104881"/>
            <a:ext cx="34195" cy="210398"/>
          </a:xfrm>
          <a:prstGeom prst="rect">
            <a:avLst/>
          </a:prstGeom>
        </p:spPr>
        <p:txBody>
          <a:bodyPr lIns="0" tIns="0" rIns="0" bIns="0" rtlCol="0" anchor="t">
            <a:spAutoFit/>
          </a:bodyPr>
          <a:lstStyle/>
          <a:p>
            <a:pPr algn="l">
              <a:lnSpc>
                <a:spcPts val="1679"/>
              </a:lnSpc>
            </a:pPr>
            <a:r>
              <a:rPr lang="en-US" sz="1200" b="1">
                <a:solidFill>
                  <a:srgbClr val="000000"/>
                </a:solidFill>
                <a:latin typeface="Cambria Bold"/>
                <a:ea typeface="Cambria Bold"/>
                <a:cs typeface="Cambria Bold"/>
                <a:sym typeface="Cambria Bold"/>
              </a:rPr>
              <a:t> </a:t>
            </a:r>
          </a:p>
        </p:txBody>
      </p:sp>
      <p:sp>
        <p:nvSpPr>
          <p:cNvPr id="47" name="TextBox 47"/>
          <p:cNvSpPr txBox="1"/>
          <p:nvPr/>
        </p:nvSpPr>
        <p:spPr>
          <a:xfrm>
            <a:off x="7270748" y="4132254"/>
            <a:ext cx="7334837" cy="3077766"/>
          </a:xfrm>
          <a:prstGeom prst="rect">
            <a:avLst/>
          </a:prstGeom>
        </p:spPr>
        <p:txBody>
          <a:bodyPr lIns="0" tIns="0" rIns="0" bIns="0" rtlCol="0" anchor="t">
            <a:spAutoFit/>
          </a:bodyPr>
          <a:lstStyle/>
          <a:p>
            <a:pPr algn="l">
              <a:lnSpc>
                <a:spcPts val="1679"/>
              </a:lnSpc>
            </a:pPr>
            <a:r>
              <a:rPr lang="en-US" sz="1000" b="1" dirty="0" smtClean="0">
                <a:solidFill>
                  <a:srgbClr val="000000"/>
                </a:solidFill>
                <a:latin typeface="Cambria Bold"/>
                <a:ea typeface="Cambria Bold"/>
                <a:cs typeface="Cambria Bold"/>
                <a:sym typeface="Cambria Bold"/>
              </a:rPr>
              <a:t>Workup:</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BP-116/82mmHg,RR-16/min,Sp02-97%, pulse=78/min,,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General examination: Normal</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Patient was </a:t>
            </a:r>
            <a:r>
              <a:rPr lang="en-US" sz="1000" b="1" dirty="0" err="1" smtClean="0">
                <a:solidFill>
                  <a:srgbClr val="000000"/>
                </a:solidFill>
                <a:latin typeface="Cambria Bold"/>
                <a:ea typeface="Cambria Bold"/>
                <a:cs typeface="Cambria Bold"/>
                <a:sym typeface="Cambria Bold"/>
              </a:rPr>
              <a:t>consciouss</a:t>
            </a:r>
            <a:r>
              <a:rPr lang="en-US" sz="1000" b="1" dirty="0" smtClean="0">
                <a:solidFill>
                  <a:srgbClr val="000000"/>
                </a:solidFill>
                <a:latin typeface="Cambria Bold"/>
                <a:ea typeface="Cambria Bold"/>
                <a:cs typeface="Cambria Bold"/>
                <a:sym typeface="Cambria Bold"/>
              </a:rPr>
              <a:t> and oriented to time, place and person</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CVS EXAMINATION: S1S2 heard</a:t>
            </a:r>
          </a:p>
          <a:p>
            <a:pPr>
              <a:lnSpc>
                <a:spcPts val="1679"/>
              </a:lnSpc>
              <a:buFont typeface="Arial" pitchFamily="34" charset="0"/>
              <a:buChar char="•"/>
            </a:pPr>
            <a:r>
              <a:rPr lang="en-US" sz="1000" b="1" dirty="0" smtClean="0">
                <a:solidFill>
                  <a:srgbClr val="000000"/>
                </a:solidFill>
                <a:latin typeface="Cambria Bold"/>
                <a:ea typeface="Cambria Bold"/>
                <a:cs typeface="Cambria Bold"/>
                <a:sym typeface="Cambria Bold"/>
              </a:rPr>
              <a:t>RS EXAMINATION: NVBS, trachea appears to be in midline</a:t>
            </a:r>
          </a:p>
          <a:p>
            <a:pPr>
              <a:lnSpc>
                <a:spcPts val="1679"/>
              </a:lnSpc>
              <a:buFont typeface="Arial" pitchFamily="34" charset="0"/>
              <a:buChar char="•"/>
            </a:pPr>
            <a:r>
              <a:rPr lang="en-IN" sz="1000" b="1" dirty="0" smtClean="0">
                <a:solidFill>
                  <a:srgbClr val="000000"/>
                </a:solidFill>
                <a:latin typeface="Cambria Bold"/>
                <a:ea typeface="Cambria Bold"/>
                <a:cs typeface="Cambria Bold"/>
                <a:sym typeface="Cambria Bold"/>
              </a:rPr>
              <a:t>CNS examination: NFND, no loss of sensation</a:t>
            </a:r>
          </a:p>
          <a:p>
            <a:pPr>
              <a:buFont typeface="Arial" pitchFamily="34" charset="0"/>
              <a:buChar char="•"/>
            </a:pPr>
            <a:r>
              <a:rPr lang="en-US" sz="1000" b="1" dirty="0" smtClean="0"/>
              <a:t>PER ABDOMEN-  </a:t>
            </a:r>
          </a:p>
          <a:p>
            <a:pPr>
              <a:buFont typeface="Arial" pitchFamily="34" charset="0"/>
              <a:buChar char="•"/>
            </a:pPr>
            <a:r>
              <a:rPr lang="en-IN" sz="1000" b="1" dirty="0" smtClean="0"/>
              <a:t>INSPECTION: flat shape, no scar, sinuses</a:t>
            </a:r>
            <a:endParaRPr lang="en-US" sz="1000" b="1" dirty="0" smtClean="0"/>
          </a:p>
          <a:p>
            <a:pPr>
              <a:buFont typeface="Arial" pitchFamily="34" charset="0"/>
              <a:buChar char="•"/>
            </a:pPr>
            <a:r>
              <a:rPr lang="en-US" sz="1000" b="1" dirty="0" smtClean="0"/>
              <a:t>PALPATION: Soft, Non tender</a:t>
            </a:r>
            <a:endParaRPr lang="en-US" sz="1000" dirty="0" smtClean="0"/>
          </a:p>
          <a:p>
            <a:pPr>
              <a:lnSpc>
                <a:spcPts val="1679"/>
              </a:lnSpc>
              <a:buFont typeface="Arial" pitchFamily="34" charset="0"/>
              <a:buChar char="•"/>
            </a:pPr>
            <a:endParaRPr lang="en-IN" sz="1000" b="1" dirty="0" smtClean="0">
              <a:solidFill>
                <a:srgbClr val="000000"/>
              </a:solidFill>
              <a:latin typeface="Cambria Bold"/>
              <a:ea typeface="Cambria Bold"/>
              <a:cs typeface="Cambria Bold"/>
              <a:sym typeface="Cambria Bold"/>
            </a:endParaRPr>
          </a:p>
          <a:p>
            <a:pPr>
              <a:lnSpc>
                <a:spcPts val="1679"/>
              </a:lnSpc>
            </a:pPr>
            <a:endParaRPr lang="en-IN" sz="1000" b="1" dirty="0" smtClean="0">
              <a:solidFill>
                <a:srgbClr val="000000"/>
              </a:solidFill>
              <a:latin typeface="Cambria Bold"/>
              <a:ea typeface="Cambria Bold"/>
              <a:cs typeface="Cambria Bold"/>
              <a:sym typeface="Cambria Bold"/>
            </a:endParaRPr>
          </a:p>
          <a:p>
            <a:pPr>
              <a:lnSpc>
                <a:spcPts val="1679"/>
              </a:lnSpc>
              <a:buFont typeface="Wingdings" pitchFamily="2" charset="2"/>
              <a:buChar char="Ø"/>
            </a:pPr>
            <a:endParaRPr lang="en-IN" sz="1000" b="1" dirty="0" smtClean="0">
              <a:solidFill>
                <a:srgbClr val="000000"/>
              </a:solidFill>
              <a:latin typeface="Cambria Bold"/>
              <a:ea typeface="Cambria Bold"/>
              <a:cs typeface="Cambria Bold"/>
              <a:sym typeface="Cambria Bold"/>
            </a:endParaRPr>
          </a:p>
          <a:p>
            <a:pPr algn="l">
              <a:lnSpc>
                <a:spcPts val="1679"/>
              </a:lnSpc>
            </a:pPr>
            <a:r>
              <a:rPr lang="en-US" sz="1000" dirty="0" smtClean="0">
                <a:solidFill>
                  <a:srgbClr val="000000"/>
                </a:solidFill>
                <a:latin typeface="Cambria"/>
                <a:ea typeface="Cambria"/>
                <a:cs typeface="Cambria"/>
                <a:sym typeface="Cambria"/>
              </a:rPr>
              <a:t> </a:t>
            </a:r>
          </a:p>
          <a:p>
            <a:pPr algn="l">
              <a:lnSpc>
                <a:spcPts val="1679"/>
              </a:lnSpc>
            </a:pPr>
            <a:r>
              <a:rPr lang="en-IN" sz="1000" dirty="0" smtClean="0">
                <a:solidFill>
                  <a:srgbClr val="000000"/>
                </a:solidFill>
                <a:latin typeface="Cambria"/>
                <a:ea typeface="Cambria"/>
                <a:cs typeface="Cambria"/>
                <a:sym typeface="Cambria"/>
              </a:rPr>
              <a:t> </a:t>
            </a:r>
            <a:endParaRPr lang="en-US" sz="1000" dirty="0">
              <a:solidFill>
                <a:srgbClr val="000000"/>
              </a:solidFill>
              <a:latin typeface="Cambria"/>
              <a:ea typeface="Cambria"/>
              <a:cs typeface="Cambria"/>
              <a:sym typeface="Cambria"/>
            </a:endParaRPr>
          </a:p>
        </p:txBody>
      </p:sp>
      <p:sp>
        <p:nvSpPr>
          <p:cNvPr id="48" name="TextBox 48"/>
          <p:cNvSpPr txBox="1"/>
          <p:nvPr/>
        </p:nvSpPr>
        <p:spPr>
          <a:xfrm>
            <a:off x="7199310" y="1631924"/>
            <a:ext cx="1563557" cy="210398"/>
          </a:xfrm>
          <a:prstGeom prst="rect">
            <a:avLst/>
          </a:prstGeom>
        </p:spPr>
        <p:txBody>
          <a:bodyPr lIns="0" tIns="0" rIns="0" bIns="0" rtlCol="0" anchor="t">
            <a:spAutoFit/>
          </a:bodyPr>
          <a:lstStyle/>
          <a:p>
            <a:pPr algn="l">
              <a:lnSpc>
                <a:spcPts val="1679"/>
              </a:lnSpc>
            </a:pPr>
            <a:r>
              <a:rPr lang="en-US" sz="1200" b="1" dirty="0">
                <a:solidFill>
                  <a:srgbClr val="000000"/>
                </a:solidFill>
                <a:latin typeface="Cambria Bold"/>
                <a:ea typeface="Cambria Bold"/>
                <a:cs typeface="Cambria Bold"/>
                <a:sym typeface="Cambria Bold"/>
              </a:rPr>
              <a:t>Brief Clinical History: </a:t>
            </a:r>
          </a:p>
        </p:txBody>
      </p:sp>
      <p:sp>
        <p:nvSpPr>
          <p:cNvPr id="49" name="TextBox 49"/>
          <p:cNvSpPr txBox="1"/>
          <p:nvPr/>
        </p:nvSpPr>
        <p:spPr>
          <a:xfrm>
            <a:off x="7270748" y="7632716"/>
            <a:ext cx="7217960" cy="198516"/>
          </a:xfrm>
          <a:prstGeom prst="rect">
            <a:avLst/>
          </a:prstGeom>
        </p:spPr>
        <p:txBody>
          <a:bodyPr lIns="0" tIns="0" rIns="0" bIns="0" rtlCol="0" anchor="t">
            <a:spAutoFit/>
          </a:bodyPr>
          <a:lstStyle/>
          <a:p>
            <a:pPr>
              <a:lnSpc>
                <a:spcPts val="1679"/>
              </a:lnSpc>
            </a:pPr>
            <a:r>
              <a:rPr lang="en-US" sz="1200" b="1" u="sng" dirty="0">
                <a:solidFill>
                  <a:srgbClr val="000000"/>
                </a:solidFill>
                <a:latin typeface="Cambria Bold"/>
                <a:ea typeface="Cambria Bold"/>
                <a:cs typeface="Cambria Bold"/>
                <a:sym typeface="Cambria Bold"/>
              </a:rPr>
              <a:t>Management / Procedure done:</a:t>
            </a:r>
            <a:r>
              <a:rPr lang="en-US" sz="1200" u="sng" dirty="0">
                <a:solidFill>
                  <a:srgbClr val="000000"/>
                </a:solidFill>
                <a:latin typeface="Cambria"/>
                <a:ea typeface="Cambria"/>
                <a:cs typeface="Cambria"/>
                <a:sym typeface="Cambria"/>
              </a:rPr>
              <a:t> </a:t>
            </a:r>
            <a:endParaRPr lang="en-US" sz="1200" u="sng" dirty="0" smtClean="0">
              <a:solidFill>
                <a:srgbClr val="000000"/>
              </a:solidFill>
              <a:latin typeface="Cambria"/>
              <a:ea typeface="Cambria"/>
              <a:cs typeface="Cambria"/>
              <a:sym typeface="Cambria"/>
            </a:endParaRPr>
          </a:p>
        </p:txBody>
      </p:sp>
      <p:sp>
        <p:nvSpPr>
          <p:cNvPr id="50" name="TextBox 50"/>
          <p:cNvSpPr txBox="1"/>
          <p:nvPr/>
        </p:nvSpPr>
        <p:spPr>
          <a:xfrm>
            <a:off x="7270748" y="6275394"/>
            <a:ext cx="2948172" cy="198516"/>
          </a:xfrm>
          <a:prstGeom prst="rect">
            <a:avLst/>
          </a:prstGeom>
        </p:spPr>
        <p:txBody>
          <a:bodyPr lIns="0" tIns="0" rIns="0" bIns="0" rtlCol="0" anchor="t">
            <a:spAutoFit/>
          </a:bodyPr>
          <a:lstStyle/>
          <a:p>
            <a:pPr algn="l">
              <a:lnSpc>
                <a:spcPts val="1679"/>
              </a:lnSpc>
            </a:pPr>
            <a:r>
              <a:rPr lang="en-US" sz="1200" b="1" u="sng" dirty="0" smtClean="0">
                <a:solidFill>
                  <a:srgbClr val="000000"/>
                </a:solidFill>
                <a:latin typeface="Cambria Bold"/>
                <a:ea typeface="Cambria Bold"/>
                <a:cs typeface="Cambria Bold"/>
                <a:sym typeface="Cambria Bold"/>
              </a:rPr>
              <a:t>Differential diagnosis / Clinical insights :</a:t>
            </a:r>
            <a:r>
              <a:rPr lang="en-US" sz="1200" u="sng" dirty="0" smtClean="0">
                <a:solidFill>
                  <a:srgbClr val="000000"/>
                </a:solidFill>
                <a:latin typeface="Cambria"/>
                <a:ea typeface="Cambria"/>
                <a:cs typeface="Cambria"/>
                <a:sym typeface="Cambria"/>
              </a:rPr>
              <a:t> </a:t>
            </a:r>
            <a:endParaRPr lang="en-US" sz="1200" u="sng" dirty="0">
              <a:solidFill>
                <a:srgbClr val="000000"/>
              </a:solidFill>
              <a:latin typeface="Cambria"/>
              <a:ea typeface="Cambria"/>
              <a:cs typeface="Cambria"/>
              <a:sym typeface="Cambria"/>
            </a:endParaRPr>
          </a:p>
        </p:txBody>
      </p:sp>
      <p:sp>
        <p:nvSpPr>
          <p:cNvPr id="51" name="TextBox 50"/>
          <p:cNvSpPr txBox="1"/>
          <p:nvPr/>
        </p:nvSpPr>
        <p:spPr>
          <a:xfrm>
            <a:off x="7199310" y="1846238"/>
            <a:ext cx="5143536" cy="3970318"/>
          </a:xfrm>
          <a:prstGeom prst="rect">
            <a:avLst/>
          </a:prstGeom>
          <a:noFill/>
        </p:spPr>
        <p:txBody>
          <a:bodyPr wrap="square" rtlCol="0">
            <a:spAutoFit/>
          </a:bodyPr>
          <a:lstStyle/>
          <a:p>
            <a:r>
              <a:rPr lang="en-US" sz="1400" b="1" dirty="0" smtClean="0"/>
              <a:t>Chief Complaint: </a:t>
            </a:r>
            <a:r>
              <a:rPr lang="en-US" sz="1400" dirty="0" err="1" smtClean="0"/>
              <a:t>Ammenorhea</a:t>
            </a:r>
            <a:r>
              <a:rPr lang="en-US" sz="1400" dirty="0" smtClean="0"/>
              <a:t> for past 40 days LMP= 17/8/24</a:t>
            </a:r>
          </a:p>
          <a:p>
            <a:r>
              <a:rPr lang="en-US" sz="1400" b="1" dirty="0" smtClean="0"/>
              <a:t>History of Presenting Illness</a:t>
            </a:r>
            <a:r>
              <a:rPr lang="en-US" sz="1400" dirty="0" smtClean="0"/>
              <a:t>: </a:t>
            </a:r>
            <a:r>
              <a:rPr lang="en-US" sz="1400" dirty="0" err="1" smtClean="0"/>
              <a:t>Ammenorhea</a:t>
            </a:r>
            <a:r>
              <a:rPr lang="en-US" sz="1400" dirty="0" smtClean="0"/>
              <a:t> for past 40 days. UPT negative, no h/o tiredness, dizziness, weakness, pain, weight loss,</a:t>
            </a:r>
            <a:r>
              <a:rPr lang="en-IN" sz="1400" dirty="0" smtClean="0"/>
              <a:t> fever, nausea, vomiting,</a:t>
            </a:r>
            <a:r>
              <a:rPr lang="en-US" sz="1400" dirty="0" smtClean="0"/>
              <a:t> burning </a:t>
            </a:r>
            <a:r>
              <a:rPr lang="en-US" sz="1400" dirty="0" err="1" smtClean="0"/>
              <a:t>micturition</a:t>
            </a:r>
            <a:r>
              <a:rPr lang="en-US" sz="1400" dirty="0" smtClean="0"/>
              <a:t>, white discharge </a:t>
            </a:r>
            <a:r>
              <a:rPr lang="en-US" sz="1400" dirty="0" err="1" smtClean="0"/>
              <a:t>pv,decreased</a:t>
            </a:r>
            <a:r>
              <a:rPr lang="en-US" sz="1400" dirty="0" smtClean="0"/>
              <a:t> urine output.</a:t>
            </a:r>
          </a:p>
          <a:p>
            <a:r>
              <a:rPr lang="en-US" sz="1400" b="1" dirty="0" smtClean="0"/>
              <a:t>Past Medical History: </a:t>
            </a:r>
            <a:r>
              <a:rPr lang="en-US" sz="1400" dirty="0" smtClean="0"/>
              <a:t>Similar complaints were seen in 4months back</a:t>
            </a:r>
          </a:p>
          <a:p>
            <a:r>
              <a:rPr lang="en-US" sz="1400" b="1" dirty="0" smtClean="0"/>
              <a:t>MENSTRUAL </a:t>
            </a:r>
            <a:r>
              <a:rPr lang="en-US" sz="1400" dirty="0" smtClean="0"/>
              <a:t>HISTORY:Regular,3/30,3pads/</a:t>
            </a:r>
            <a:r>
              <a:rPr lang="en-US" sz="1400" dirty="0" err="1" smtClean="0"/>
              <a:t>day,no</a:t>
            </a:r>
            <a:r>
              <a:rPr lang="en-US" sz="1400" dirty="0" smtClean="0"/>
              <a:t> clots no </a:t>
            </a:r>
            <a:r>
              <a:rPr lang="en-US" sz="1400" dirty="0" err="1" smtClean="0"/>
              <a:t>dysmenorrhea</a:t>
            </a:r>
            <a:endParaRPr lang="en-US" sz="1400" dirty="0" smtClean="0"/>
          </a:p>
          <a:p>
            <a:r>
              <a:rPr lang="en-US" sz="1400" b="1" dirty="0" smtClean="0"/>
              <a:t>Family History: </a:t>
            </a:r>
            <a:r>
              <a:rPr lang="en-US" sz="1400" dirty="0" smtClean="0"/>
              <a:t>No significant history.</a:t>
            </a:r>
          </a:p>
          <a:p>
            <a:endParaRPr lang="en-US" sz="1400" dirty="0" smtClean="0"/>
          </a:p>
          <a:p>
            <a:endParaRPr lang="en-US" sz="1400" dirty="0" smtClean="0"/>
          </a:p>
          <a:p>
            <a:endParaRPr lang="en-US" sz="1400" dirty="0" smtClean="0"/>
          </a:p>
          <a:p>
            <a:endParaRPr lang="en-US" sz="1400" b="1" dirty="0" smtClean="0"/>
          </a:p>
          <a:p>
            <a:endParaRPr lang="en-US" sz="1400" dirty="0" smtClean="0"/>
          </a:p>
          <a:p>
            <a:endParaRPr lang="en-US" sz="1400" dirty="0" smtClean="0"/>
          </a:p>
          <a:p>
            <a:endParaRPr lang="en-US" sz="1400" dirty="0" smtClean="0"/>
          </a:p>
          <a:p>
            <a:endParaRPr lang="en-US" sz="1400" dirty="0" smtClean="0"/>
          </a:p>
          <a:p>
            <a:endParaRPr lang="en-US" sz="1400" b="1" dirty="0"/>
          </a:p>
        </p:txBody>
      </p:sp>
      <p:sp>
        <p:nvSpPr>
          <p:cNvPr id="53" name="TextBox 50"/>
          <p:cNvSpPr txBox="1"/>
          <p:nvPr/>
        </p:nvSpPr>
        <p:spPr>
          <a:xfrm>
            <a:off x="7270748" y="6489708"/>
            <a:ext cx="3000396" cy="1090042"/>
          </a:xfrm>
          <a:prstGeom prst="rect">
            <a:avLst/>
          </a:prstGeom>
        </p:spPr>
        <p:txBody>
          <a:bodyPr wrap="square" lIns="0" tIns="0" rIns="0" bIns="0" rtlCol="0" anchor="t">
            <a:spAutoFit/>
          </a:bodyPr>
          <a:lstStyle/>
          <a:p>
            <a:pPr>
              <a:lnSpc>
                <a:spcPts val="1679"/>
              </a:lnSpc>
              <a:buFont typeface="Arial" pitchFamily="34" charset="0"/>
              <a:buChar char="•"/>
            </a:pPr>
            <a:r>
              <a:rPr lang="en-US" sz="1200" dirty="0" smtClean="0"/>
              <a:t>Pregnancy</a:t>
            </a:r>
          </a:p>
          <a:p>
            <a:pPr>
              <a:lnSpc>
                <a:spcPts val="1679"/>
              </a:lnSpc>
              <a:buFont typeface="Arial" pitchFamily="34" charset="0"/>
              <a:buChar char="•"/>
            </a:pPr>
            <a:r>
              <a:rPr lang="en-US" sz="1200" dirty="0" err="1" smtClean="0"/>
              <a:t>Hyperprolactinemia</a:t>
            </a:r>
            <a:endParaRPr lang="en-US" sz="1200" dirty="0" smtClean="0"/>
          </a:p>
          <a:p>
            <a:pPr>
              <a:lnSpc>
                <a:spcPts val="1679"/>
              </a:lnSpc>
              <a:buFont typeface="Arial" pitchFamily="34" charset="0"/>
              <a:buChar char="•"/>
            </a:pPr>
            <a:r>
              <a:rPr lang="en-US" sz="1200" dirty="0" smtClean="0"/>
              <a:t>Polycystic ovary syndrome (PCOS) </a:t>
            </a:r>
          </a:p>
          <a:p>
            <a:pPr>
              <a:lnSpc>
                <a:spcPts val="1679"/>
              </a:lnSpc>
              <a:buFont typeface="Arial" pitchFamily="34" charset="0"/>
              <a:buChar char="•"/>
            </a:pPr>
            <a:r>
              <a:rPr lang="en-US" sz="1200" dirty="0" smtClean="0"/>
              <a:t>Thyroid disease</a:t>
            </a:r>
          </a:p>
          <a:p>
            <a:pPr>
              <a:lnSpc>
                <a:spcPts val="1679"/>
              </a:lnSpc>
              <a:buFont typeface="Arial" pitchFamily="34" charset="0"/>
              <a:buChar char="•"/>
            </a:pPr>
            <a:r>
              <a:rPr lang="en-US" sz="1200" dirty="0" smtClean="0"/>
              <a:t>Premature ovarian insufficiency (POI)</a:t>
            </a:r>
            <a:endParaRPr lang="en-US" sz="1200" dirty="0">
              <a:solidFill>
                <a:srgbClr val="000000"/>
              </a:solidFill>
              <a:latin typeface="Cambria"/>
              <a:ea typeface="Cambria"/>
              <a:cs typeface="Cambria"/>
              <a:sym typeface="Cambria"/>
            </a:endParaRPr>
          </a:p>
        </p:txBody>
      </p:sp>
      <p:sp>
        <p:nvSpPr>
          <p:cNvPr id="55" name="TextBox 49"/>
          <p:cNvSpPr txBox="1"/>
          <p:nvPr/>
        </p:nvSpPr>
        <p:spPr>
          <a:xfrm>
            <a:off x="7270748" y="7847030"/>
            <a:ext cx="7217960" cy="1308050"/>
          </a:xfrm>
          <a:prstGeom prst="rect">
            <a:avLst/>
          </a:prstGeom>
        </p:spPr>
        <p:txBody>
          <a:bodyPr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Patient was advised to take USG abdomen and serum beta </a:t>
            </a:r>
            <a:r>
              <a:rPr lang="en-IN" sz="1200" dirty="0" err="1" smtClean="0">
                <a:solidFill>
                  <a:srgbClr val="000000"/>
                </a:solidFill>
                <a:latin typeface="Cambria"/>
                <a:ea typeface="Cambria"/>
                <a:cs typeface="Cambria"/>
                <a:sym typeface="Cambria"/>
              </a:rPr>
              <a:t>hcg</a:t>
            </a:r>
            <a:r>
              <a:rPr lang="en-IN" sz="1200" dirty="0" smtClean="0">
                <a:solidFill>
                  <a:srgbClr val="000000"/>
                </a:solidFill>
                <a:latin typeface="Cambria"/>
                <a:ea typeface="Cambria"/>
                <a:cs typeface="Cambria"/>
                <a:sym typeface="Cambria"/>
              </a:rPr>
              <a:t> levels</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Beta </a:t>
            </a:r>
            <a:r>
              <a:rPr lang="en-IN" sz="1200" dirty="0" err="1" smtClean="0">
                <a:solidFill>
                  <a:srgbClr val="000000"/>
                </a:solidFill>
                <a:latin typeface="Cambria"/>
                <a:ea typeface="Cambria"/>
                <a:cs typeface="Cambria"/>
                <a:sym typeface="Cambria"/>
              </a:rPr>
              <a:t>hcg</a:t>
            </a:r>
            <a:r>
              <a:rPr lang="en-IN" sz="1200" dirty="0" smtClean="0">
                <a:solidFill>
                  <a:srgbClr val="000000"/>
                </a:solidFill>
                <a:latin typeface="Cambria"/>
                <a:ea typeface="Cambria"/>
                <a:cs typeface="Cambria"/>
                <a:sym typeface="Cambria"/>
              </a:rPr>
              <a:t> shows normal (</a:t>
            </a:r>
            <a:r>
              <a:rPr lang="en-US" sz="1200" dirty="0" smtClean="0"/>
              <a:t>&lt;2.39)</a:t>
            </a:r>
          </a:p>
          <a:p>
            <a:pPr>
              <a:lnSpc>
                <a:spcPts val="1679"/>
              </a:lnSpc>
              <a:buFont typeface="Arial" pitchFamily="34" charset="0"/>
              <a:buChar char="•"/>
            </a:pPr>
            <a:r>
              <a:rPr lang="en-IN" sz="1200" dirty="0" smtClean="0"/>
              <a:t>USG shows </a:t>
            </a:r>
            <a:r>
              <a:rPr lang="en-US" sz="1200" dirty="0" smtClean="0"/>
              <a:t>no significant </a:t>
            </a:r>
            <a:r>
              <a:rPr lang="en-US" sz="1200" dirty="0" err="1" smtClean="0"/>
              <a:t>sonological</a:t>
            </a:r>
            <a:r>
              <a:rPr lang="en-US" sz="1200" dirty="0" smtClean="0"/>
              <a:t> abnormalities</a:t>
            </a:r>
          </a:p>
          <a:p>
            <a:pPr>
              <a:lnSpc>
                <a:spcPts val="1679"/>
              </a:lnSpc>
              <a:buFont typeface="Arial" pitchFamily="34" charset="0"/>
              <a:buChar char="•"/>
            </a:pPr>
            <a:r>
              <a:rPr lang="en-US" sz="1200" dirty="0" smtClean="0"/>
              <a:t>Tab. </a:t>
            </a:r>
            <a:r>
              <a:rPr lang="en-US" sz="1200" dirty="0" err="1" smtClean="0"/>
              <a:t>medroxy</a:t>
            </a:r>
            <a:r>
              <a:rPr lang="en-US" sz="1200" dirty="0" smtClean="0"/>
              <a:t> progesterone acetate 5mg BD 5 days</a:t>
            </a:r>
          </a:p>
          <a:p>
            <a:pPr>
              <a:lnSpc>
                <a:spcPts val="1679"/>
              </a:lnSpc>
              <a:buFont typeface="Arial" pitchFamily="34" charset="0"/>
              <a:buChar char="•"/>
            </a:pPr>
            <a:endParaRPr lang="en-US" sz="1200" dirty="0" smtClean="0"/>
          </a:p>
          <a:p>
            <a:pPr>
              <a:lnSpc>
                <a:spcPts val="1679"/>
              </a:lnSpc>
              <a:buFont typeface="Arial" pitchFamily="34" charset="0"/>
              <a:buChar char="•"/>
            </a:pPr>
            <a:endParaRPr lang="en-US" sz="1200" dirty="0" smtClean="0">
              <a:solidFill>
                <a:srgbClr val="000000"/>
              </a:solidFill>
              <a:latin typeface="Cambria"/>
              <a:ea typeface="Cambria"/>
              <a:cs typeface="Cambria"/>
              <a:sym typeface="Cambria"/>
            </a:endParaRPr>
          </a:p>
        </p:txBody>
      </p:sp>
      <p:pic>
        <p:nvPicPr>
          <p:cNvPr id="5124" name="Picture 4"/>
          <p:cNvPicPr>
            <a:picLocks noChangeAspect="1" noChangeArrowheads="1"/>
          </p:cNvPicPr>
          <p:nvPr/>
        </p:nvPicPr>
        <p:blipFill>
          <a:blip r:embed="rId3"/>
          <a:srcRect/>
          <a:stretch>
            <a:fillRect/>
          </a:stretch>
        </p:blipFill>
        <p:spPr bwMode="auto">
          <a:xfrm>
            <a:off x="12485722" y="1631924"/>
            <a:ext cx="2214578" cy="2500330"/>
          </a:xfrm>
          <a:prstGeom prst="rect">
            <a:avLst/>
          </a:prstGeom>
          <a:noFill/>
          <a:ln w="9525">
            <a:noFill/>
            <a:miter lim="800000"/>
            <a:headEnd/>
            <a:tailEnd/>
          </a:ln>
          <a:effectLst/>
        </p:spPr>
      </p:pic>
      <p:sp>
        <p:nvSpPr>
          <p:cNvPr id="56" name="TextBox 50"/>
          <p:cNvSpPr txBox="1"/>
          <p:nvPr/>
        </p:nvSpPr>
        <p:spPr>
          <a:xfrm>
            <a:off x="11557028" y="4418006"/>
            <a:ext cx="3000396" cy="436017"/>
          </a:xfrm>
          <a:prstGeom prst="rect">
            <a:avLst/>
          </a:prstGeom>
        </p:spPr>
        <p:txBody>
          <a:bodyPr wrap="square" lIns="0" tIns="0" rIns="0" bIns="0" rtlCol="0" anchor="t">
            <a:spAutoFit/>
          </a:bodyPr>
          <a:lstStyle/>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thyroid: Normal</a:t>
            </a:r>
          </a:p>
          <a:p>
            <a:pPr>
              <a:lnSpc>
                <a:spcPts val="1679"/>
              </a:lnSpc>
              <a:buFont typeface="Arial" pitchFamily="34" charset="0"/>
              <a:buChar char="•"/>
            </a:pPr>
            <a:r>
              <a:rPr lang="en-IN" sz="1200" dirty="0" smtClean="0">
                <a:solidFill>
                  <a:srgbClr val="000000"/>
                </a:solidFill>
                <a:latin typeface="Cambria"/>
                <a:ea typeface="Cambria"/>
                <a:cs typeface="Cambria"/>
                <a:sym typeface="Cambria"/>
              </a:rPr>
              <a:t>Examination of  breast : Normal</a:t>
            </a:r>
            <a:endParaRPr lang="en-US" sz="1200" dirty="0">
              <a:solidFill>
                <a:srgbClr val="000000"/>
              </a:solidFill>
              <a:latin typeface="Cambria"/>
              <a:ea typeface="Cambria"/>
              <a:cs typeface="Cambria"/>
              <a:sym typeface="Cambria"/>
            </a:endParaRPr>
          </a:p>
        </p:txBody>
      </p:sp>
      <p:pic>
        <p:nvPicPr>
          <p:cNvPr id="5125" name="Picture 5"/>
          <p:cNvPicPr>
            <a:picLocks noChangeAspect="1" noChangeArrowheads="1"/>
          </p:cNvPicPr>
          <p:nvPr/>
        </p:nvPicPr>
        <p:blipFill>
          <a:blip r:embed="rId4"/>
          <a:srcRect/>
          <a:stretch>
            <a:fillRect/>
          </a:stretch>
        </p:blipFill>
        <p:spPr bwMode="auto">
          <a:xfrm>
            <a:off x="484138" y="1489048"/>
            <a:ext cx="6500858" cy="5735638"/>
          </a:xfrm>
          <a:prstGeom prst="rect">
            <a:avLst/>
          </a:prstGeom>
          <a:noFill/>
          <a:ln w="9525">
            <a:noFill/>
            <a:miter lim="800000"/>
            <a:headEnd/>
            <a:tailEnd/>
          </a:ln>
          <a:effectLst/>
        </p:spPr>
      </p:pic>
      <p:pic>
        <p:nvPicPr>
          <p:cNvPr id="5126" name="Picture 6"/>
          <p:cNvPicPr>
            <a:picLocks noChangeAspect="1" noChangeArrowheads="1"/>
          </p:cNvPicPr>
          <p:nvPr/>
        </p:nvPicPr>
        <p:blipFill>
          <a:blip r:embed="rId5"/>
          <a:srcRect/>
          <a:stretch>
            <a:fillRect/>
          </a:stretch>
        </p:blipFill>
        <p:spPr bwMode="auto">
          <a:xfrm>
            <a:off x="484138" y="7275526"/>
            <a:ext cx="6429420" cy="15716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696</TotalTime>
  <Words>3135</Words>
  <Application>Microsoft Office PowerPoint</Application>
  <PresentationFormat>Custom</PresentationFormat>
  <Paragraphs>798</Paragraphs>
  <Slides>15</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Arial</vt:lpstr>
      <vt:lpstr>IBM Plex Sans Bold</vt:lpstr>
      <vt:lpstr>IBM Plex Sans</vt:lpstr>
      <vt:lpstr>Calibri (MS) Bold</vt:lpstr>
      <vt:lpstr>Calibri (MS)</vt:lpstr>
      <vt:lpstr>Cambria Bold</vt:lpstr>
      <vt:lpstr>Calibri</vt:lpstr>
      <vt:lpstr>Cambria Bold Italics</vt:lpstr>
      <vt:lpstr>Cambria</vt:lpstr>
      <vt:lpstr>Wingdings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Bhuvan Ophthal Logbook</dc:title>
  <dc:creator>SARAVANAN</dc:creator>
  <cp:lastModifiedBy>Windows User</cp:lastModifiedBy>
  <cp:revision>81</cp:revision>
  <dcterms:created xsi:type="dcterms:W3CDTF">2006-08-16T00:00:00Z</dcterms:created>
  <dcterms:modified xsi:type="dcterms:W3CDTF">2025-01-19T11:18:12Z</dcterms:modified>
  <dc:identifier>DAGZhNZM21c</dc:identifier>
</cp:coreProperties>
</file>