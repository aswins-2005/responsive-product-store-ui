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handoutMasterIdLst>
    <p:handoutMasterId r:id="rId9"/>
  </p:handoutMasterIdLst>
  <p:sldIdLst>
    <p:sldId id="262" r:id="rId2"/>
    <p:sldId id="263" r:id="rId3"/>
    <p:sldId id="258" r:id="rId4"/>
    <p:sldId id="260" r:id="rId5"/>
    <p:sldId id="265" r:id="rId6"/>
    <p:sldId id="264" r:id="rId7"/>
    <p:sldId id="261" r:id="rId8"/>
  </p:sldIdLst>
  <p:sldSz cx="15113000" cy="10680700"/>
  <p:notesSz cx="15113000" cy="10680700"/>
  <p:embeddedFontLst>
    <p:embeddedFont>
      <p:font typeface="Calibri" panose="020F0502020204030204" pitchFamily="34" charset="0"/>
      <p:regular r:id="rId10"/>
      <p:bold r:id="rId11"/>
      <p:italic r:id="rId12"/>
      <p:boldItalic r:id="rId13"/>
    </p:embeddedFont>
    <p:embeddedFont>
      <p:font typeface="Cambria" panose="02040503050406030204" pitchFamily="18" charset="0"/>
      <p:regular r:id="rId14"/>
      <p:bold r:id="rId15"/>
      <p:italic r:id="rId16"/>
      <p:boldItalic r:id="rId17"/>
    </p:embeddedFont>
    <p:embeddedFont>
      <p:font typeface="CNDNTA+FuturaPT-Demi" panose="02000500000000000000" pitchFamily="2"/>
      <p:regular r:id="rId18"/>
    </p:embeddedFont>
    <p:embeddedFont>
      <p:font typeface="TOPSIG+FuturaPT-Demi" panose="02000500000000000000" pitchFamily="2"/>
      <p:regular r:id="rId19"/>
    </p:embeddedFont>
    <p:embeddedFont>
      <p:font typeface="VGMJUH+FuturaBT-Medium" panose="02000500000000000000" pitchFamily="2"/>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49" d="100"/>
          <a:sy n="49" d="100"/>
        </p:scale>
        <p:origin x="-984" y="336"/>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4.fntdata" /><Relationship Id="rId18" Type="http://schemas.openxmlformats.org/officeDocument/2006/relationships/font" Target="fonts/font9.fntdata"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font" Target="fonts/font3.fntdata" /><Relationship Id="rId17" Type="http://schemas.openxmlformats.org/officeDocument/2006/relationships/font" Target="fonts/font8.fntdata" /><Relationship Id="rId2" Type="http://schemas.openxmlformats.org/officeDocument/2006/relationships/slide" Target="slides/slide1.xml" /><Relationship Id="rId16" Type="http://schemas.openxmlformats.org/officeDocument/2006/relationships/font" Target="fonts/font7.fntdata" /><Relationship Id="rId20" Type="http://schemas.openxmlformats.org/officeDocument/2006/relationships/font" Target="fonts/font11.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font" Target="fonts/font6.fntdata" /><Relationship Id="rId23" Type="http://schemas.openxmlformats.org/officeDocument/2006/relationships/theme" Target="theme/theme1.xml" /><Relationship Id="rId10" Type="http://schemas.openxmlformats.org/officeDocument/2006/relationships/font" Target="fonts/font1.fntdata" /><Relationship Id="rId19" Type="http://schemas.openxmlformats.org/officeDocument/2006/relationships/font" Target="fonts/font10.fntdata" /><Relationship Id="rId4" Type="http://schemas.openxmlformats.org/officeDocument/2006/relationships/slide" Target="slides/slide3.xml" /><Relationship Id="rId9" Type="http://schemas.openxmlformats.org/officeDocument/2006/relationships/handoutMaster" Target="handoutMasters/handoutMaster1.xml" /><Relationship Id="rId14" Type="http://schemas.openxmlformats.org/officeDocument/2006/relationships/font" Target="fonts/font5.fntdata" /><Relationship Id="rId22" Type="http://schemas.openxmlformats.org/officeDocument/2006/relationships/viewProps" Target="viewProp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548438" cy="5334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8559800" y="0"/>
            <a:ext cx="6550025" cy="533400"/>
          </a:xfrm>
          <a:prstGeom prst="rect">
            <a:avLst/>
          </a:prstGeom>
        </p:spPr>
        <p:txBody>
          <a:bodyPr vert="horz" lIns="91440" tIns="45720" rIns="91440" bIns="45720" rtlCol="0"/>
          <a:lstStyle>
            <a:lvl1pPr algn="r">
              <a:defRPr sz="1200"/>
            </a:lvl1pPr>
          </a:lstStyle>
          <a:p>
            <a:fld id="{2B115F30-13DD-44BC-9930-935225DDB4E7}" type="datetimeFigureOut">
              <a:rPr lang="en-US" smtClean="0"/>
              <a:t>9/11/2025</a:t>
            </a:fld>
            <a:endParaRPr lang="en-US"/>
          </a:p>
        </p:txBody>
      </p:sp>
      <p:sp>
        <p:nvSpPr>
          <p:cNvPr id="4" name="Footer Placeholder 3"/>
          <p:cNvSpPr>
            <a:spLocks noGrp="1"/>
          </p:cNvSpPr>
          <p:nvPr>
            <p:ph type="ftr" sz="quarter" idx="2"/>
          </p:nvPr>
        </p:nvSpPr>
        <p:spPr>
          <a:xfrm>
            <a:off x="0" y="10144125"/>
            <a:ext cx="6548438" cy="5349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8559800" y="10144125"/>
            <a:ext cx="6550025" cy="534988"/>
          </a:xfrm>
          <a:prstGeom prst="rect">
            <a:avLst/>
          </a:prstGeom>
        </p:spPr>
        <p:txBody>
          <a:bodyPr vert="horz" lIns="91440" tIns="45720" rIns="91440" bIns="45720" rtlCol="0" anchor="b"/>
          <a:lstStyle>
            <a:lvl1pPr algn="r">
              <a:defRPr sz="1200"/>
            </a:lvl1pPr>
          </a:lstStyle>
          <a:p>
            <a:fld id="{0A5E8F6B-EF53-4506-91B8-2A099970D4B9}" type="slidenum">
              <a:rPr lang="en-US" smtClean="0"/>
              <a:t>‹#›</a:t>
            </a:fld>
            <a:endParaRPr lang="en-US"/>
          </a:p>
        </p:txBody>
      </p:sp>
    </p:spTree>
    <p:extLst>
      <p:ext uri="{BB962C8B-B14F-4D97-AF65-F5344CB8AC3E}">
        <p14:creationId xmlns:p14="http://schemas.microsoft.com/office/powerpoint/2010/main" val="15416381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9/11/2025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1684" y="1307902"/>
            <a:ext cx="14689632" cy="8125301"/>
          </a:xfrm>
        </p:spPr>
        <p:txBody>
          <a:bodyPr/>
          <a:lstStyle/>
          <a:p>
            <a:pPr algn="just">
              <a:lnSpc>
                <a:spcPct val="150000"/>
              </a:lnSpc>
            </a:pPr>
            <a:r>
              <a:rPr lang="en-US" sz="2200" dirty="0"/>
              <a:t>1. The template must remain unchanged. </a:t>
            </a:r>
          </a:p>
          <a:p>
            <a:pPr algn="just">
              <a:lnSpc>
                <a:spcPct val="150000"/>
              </a:lnSpc>
            </a:pPr>
            <a:r>
              <a:rPr lang="en-US" sz="2200" dirty="0"/>
              <a:t>2. Dimensions/ Slide size - </a:t>
            </a:r>
            <a:r>
              <a:rPr lang="en-US" sz="2200" b="1" dirty="0"/>
              <a:t>A3 format </a:t>
            </a:r>
            <a:r>
              <a:rPr lang="en-US" sz="2200" dirty="0"/>
              <a:t>only. </a:t>
            </a:r>
          </a:p>
          <a:p>
            <a:pPr marL="273050" indent="-273050" algn="just">
              <a:lnSpc>
                <a:spcPct val="150000"/>
              </a:lnSpc>
            </a:pPr>
            <a:r>
              <a:rPr lang="en-US" sz="2200" dirty="0"/>
              <a:t>3. The patient's eyes should be </a:t>
            </a:r>
            <a:r>
              <a:rPr lang="en-US" sz="2200" b="1" dirty="0"/>
              <a:t>masked, as shown in the sample slide</a:t>
            </a:r>
            <a:r>
              <a:rPr lang="en-US" sz="2200" dirty="0"/>
              <a:t>.[ Black bar with </a:t>
            </a:r>
            <a:r>
              <a:rPr lang="en-US" sz="2200" b="1" dirty="0"/>
              <a:t>40% transparency</a:t>
            </a:r>
            <a:r>
              <a:rPr lang="en-US" sz="2200" dirty="0"/>
              <a:t>, covering the entire     image.] </a:t>
            </a:r>
          </a:p>
          <a:p>
            <a:pPr marL="350838" indent="-350838" algn="just">
              <a:lnSpc>
                <a:spcPct val="150000"/>
              </a:lnSpc>
            </a:pPr>
            <a:r>
              <a:rPr lang="en-US" sz="2200" dirty="0"/>
              <a:t>4. Font style Calibri heading: 16 bold for the heading, 14 bold for subheadings, and Calibri body, 13 non-bold characters for the body  of contents. </a:t>
            </a:r>
          </a:p>
          <a:p>
            <a:pPr marL="273050" indent="-273050" algn="just">
              <a:lnSpc>
                <a:spcPct val="150000"/>
              </a:lnSpc>
            </a:pPr>
            <a:r>
              <a:rPr lang="en-US" sz="2200" dirty="0"/>
              <a:t>5. Images must occupy the entire box and should only be radiographs, lesions or procedural images (before and after). Photos of </a:t>
            </a:r>
            <a:r>
              <a:rPr lang="en-US" sz="2200" b="1" dirty="0"/>
              <a:t>consent forms, lab reports, case logs, or any printed materials are not permitted. </a:t>
            </a:r>
          </a:p>
          <a:p>
            <a:pPr algn="just">
              <a:lnSpc>
                <a:spcPct val="150000"/>
              </a:lnSpc>
            </a:pPr>
            <a:r>
              <a:rPr lang="en-US" sz="2200" dirty="0"/>
              <a:t>6. Only high-resolution images should be used. </a:t>
            </a:r>
          </a:p>
          <a:p>
            <a:pPr marL="273050" indent="-273050" algn="just">
              <a:lnSpc>
                <a:spcPct val="150000"/>
              </a:lnSpc>
            </a:pPr>
            <a:r>
              <a:rPr lang="en-US" sz="2200" dirty="0"/>
              <a:t>7. Slides should be arranged by department wise, with each department's name on a separate slide. The department name should have no borders, and the font should be Calibri, heading (bold), size 96. </a:t>
            </a:r>
          </a:p>
          <a:p>
            <a:pPr algn="just">
              <a:lnSpc>
                <a:spcPct val="150000"/>
              </a:lnSpc>
            </a:pPr>
            <a:r>
              <a:rPr lang="en-US" sz="2200" dirty="0"/>
              <a:t>8. </a:t>
            </a:r>
            <a:r>
              <a:rPr lang="en-US" sz="2200" b="1" dirty="0"/>
              <a:t>Do not include case logs with nil significant findings</a:t>
            </a:r>
            <a:r>
              <a:rPr lang="en-US" sz="2200" dirty="0"/>
              <a:t>. </a:t>
            </a:r>
          </a:p>
          <a:p>
            <a:pPr marL="273050" indent="-273050" algn="just">
              <a:lnSpc>
                <a:spcPct val="150000"/>
              </a:lnSpc>
            </a:pPr>
            <a:r>
              <a:rPr lang="en-US" sz="2200" dirty="0"/>
              <a:t>9. For clinical revenue calculations, include the cost of investigations raised and the cost of minor procedures performed, such as catheterizations, IV fluids, injections, suturing, wound cleaning, and dressing, etc. </a:t>
            </a:r>
          </a:p>
          <a:p>
            <a:pPr algn="just">
              <a:lnSpc>
                <a:spcPct val="150000"/>
              </a:lnSpc>
            </a:pPr>
            <a:r>
              <a:rPr lang="en-US" sz="2200" dirty="0"/>
              <a:t>10. Attach proof of CME participation, conferences attended, publications, citations, and presentations at the end. </a:t>
            </a:r>
          </a:p>
          <a:p>
            <a:pPr algn="just">
              <a:lnSpc>
                <a:spcPct val="150000"/>
              </a:lnSpc>
            </a:pPr>
            <a:r>
              <a:rPr lang="en-US" sz="2200" dirty="0"/>
              <a:t>11</a:t>
            </a:r>
            <a:r>
              <a:rPr lang="en-US" sz="2200" b="1" dirty="0"/>
              <a:t>. The cover page photo should be a casual photo without an apron or scrubs.</a:t>
            </a:r>
          </a:p>
        </p:txBody>
      </p:sp>
      <p:sp>
        <p:nvSpPr>
          <p:cNvPr id="4" name="TextBox 3"/>
          <p:cNvSpPr txBox="1"/>
          <p:nvPr/>
        </p:nvSpPr>
        <p:spPr>
          <a:xfrm>
            <a:off x="6067080" y="515814"/>
            <a:ext cx="2768130" cy="461665"/>
          </a:xfrm>
          <a:prstGeom prst="rect">
            <a:avLst/>
          </a:prstGeom>
          <a:noFill/>
        </p:spPr>
        <p:txBody>
          <a:bodyPr wrap="none" rtlCol="0">
            <a:spAutoFit/>
          </a:bodyPr>
          <a:lstStyle/>
          <a:p>
            <a:pPr algn="ctr"/>
            <a:r>
              <a:rPr lang="en-US" sz="2400" b="1" u="sng" dirty="0"/>
              <a:t>General Instructions</a:t>
            </a:r>
          </a:p>
        </p:txBody>
      </p:sp>
    </p:spTree>
    <p:extLst>
      <p:ext uri="{BB962C8B-B14F-4D97-AF65-F5344CB8AC3E}">
        <p14:creationId xmlns:p14="http://schemas.microsoft.com/office/powerpoint/2010/main" val="4036363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7015" y="1588448"/>
            <a:ext cx="6094410" cy="8034341"/>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r>
              <a:rPr lang="en-US" sz="1100" b="1" dirty="0">
                <a:solidFill>
                  <a:srgbClr val="808080"/>
                </a:solidFill>
                <a:ea typeface="Calibri"/>
              </a:rPr>
              <a:t>Image</a:t>
            </a:r>
          </a:p>
          <a:p>
            <a:pPr algn="ctr">
              <a:lnSpc>
                <a:spcPct val="114000"/>
              </a:lnSpc>
              <a:spcAft>
                <a:spcPts val="1000"/>
              </a:spcAft>
            </a:pPr>
            <a:r>
              <a:rPr lang="en-US" sz="1100" b="1" dirty="0">
                <a:solidFill>
                  <a:srgbClr val="808080"/>
                </a:solidFill>
                <a:ea typeface="Calibri"/>
              </a:rPr>
              <a:t>Radiological/ Specimen</a:t>
            </a:r>
            <a:endParaRPr lang="en-US" sz="1100" dirty="0">
              <a:ea typeface="Calibri"/>
            </a:endParaRPr>
          </a:p>
          <a:p>
            <a:pPr>
              <a:lnSpc>
                <a:spcPct val="114000"/>
              </a:lnSpc>
              <a:spcAft>
                <a:spcPts val="1000"/>
              </a:spcAft>
            </a:pPr>
            <a:r>
              <a:rPr lang="en-US" sz="1100" dirty="0">
                <a:effectLst/>
                <a:latin typeface="Calibri"/>
                <a:ea typeface="Calibri"/>
              </a:rPr>
              <a:t> </a:t>
            </a:r>
          </a:p>
        </p:txBody>
      </p:sp>
      <p:sp>
        <p:nvSpPr>
          <p:cNvPr id="5" name="Rectangle 4"/>
          <p:cNvSpPr/>
          <p:nvPr/>
        </p:nvSpPr>
        <p:spPr>
          <a:xfrm>
            <a:off x="6505785" y="1588449"/>
            <a:ext cx="5659227" cy="252776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400" b="1" dirty="0">
                <a:solidFill>
                  <a:srgbClr val="000000"/>
                </a:solidFill>
                <a:latin typeface="+mj-lt"/>
                <a:ea typeface="Cambria"/>
                <a:cs typeface="Cambria"/>
              </a:rPr>
              <a:t>Brief Clinical History:</a:t>
            </a:r>
          </a:p>
          <a:p>
            <a:pPr algn="just">
              <a:spcAft>
                <a:spcPts val="1000"/>
              </a:spcAft>
            </a:pPr>
            <a:r>
              <a:rPr lang="en-US" sz="1400" dirty="0">
                <a:ea typeface="Calibri"/>
              </a:rPr>
              <a:t>c/o pain and swelling over the right hand x3months</a:t>
            </a:r>
          </a:p>
          <a:p>
            <a:pPr algn="just">
              <a:spcAft>
                <a:spcPts val="1000"/>
              </a:spcAft>
            </a:pPr>
            <a:r>
              <a:rPr lang="en-US" sz="1400" u="sng" dirty="0">
                <a:ea typeface="Calibri"/>
              </a:rPr>
              <a:t>History of presenting illness:</a:t>
            </a:r>
          </a:p>
          <a:p>
            <a:pPr algn="just">
              <a:lnSpc>
                <a:spcPct val="150000"/>
              </a:lnSpc>
              <a:spcAft>
                <a:spcPts val="1000"/>
              </a:spcAft>
            </a:pPr>
            <a:r>
              <a:rPr lang="en-US" sz="1400" dirty="0">
                <a:ea typeface="Calibri"/>
              </a:rPr>
              <a:t>patient had an alleged h/o RTA-Hit by bike handle over the right hand and sustained injury to the right 5th proximal phalanx finger. No h/o trauma, ENT Bleed, LOC, seizure and vomiting</a:t>
            </a:r>
          </a:p>
        </p:txBody>
      </p:sp>
      <p:sp>
        <p:nvSpPr>
          <p:cNvPr id="6" name="Rectangle 5"/>
          <p:cNvSpPr/>
          <p:nvPr/>
        </p:nvSpPr>
        <p:spPr>
          <a:xfrm>
            <a:off x="6505786" y="4260231"/>
            <a:ext cx="7963482" cy="1872208"/>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gn="just">
              <a:spcAft>
                <a:spcPts val="1000"/>
              </a:spcAft>
            </a:pPr>
            <a:r>
              <a:rPr lang="en-US" sz="1400" b="1" dirty="0">
                <a:effectLst/>
                <a:ea typeface="Calibri"/>
              </a:rPr>
              <a:t>Patient’s workup:</a:t>
            </a:r>
          </a:p>
          <a:p>
            <a:pPr algn="just">
              <a:spcAft>
                <a:spcPts val="1000"/>
              </a:spcAft>
            </a:pPr>
            <a:r>
              <a:rPr lang="en-US" sz="1400" dirty="0">
                <a:ea typeface="Calibri"/>
              </a:rPr>
              <a:t>Patient came with above mentioned complaints. Patient evaluated clinically and radio logically all routine investigation were done. Patient was diagnosed as 3month old delayed union of right 5th proximal phalanx displaced fracture. Patient was taken up for open reduction internal fixation with plate osteosynthesis for right proximal phalanx. Intraoperative and postoperative period was uneventful. During the course in hospital patient was treated with antibiotics and analgesics. Patient improved symptomatically and better hence been discharged with following medical advice.</a:t>
            </a:r>
            <a:endParaRPr lang="en-US" sz="1400" dirty="0">
              <a:effectLst/>
              <a:ea typeface="Calibri"/>
            </a:endParaRPr>
          </a:p>
        </p:txBody>
      </p:sp>
      <p:sp>
        <p:nvSpPr>
          <p:cNvPr id="8" name="Rectangle 7"/>
          <p:cNvSpPr/>
          <p:nvPr/>
        </p:nvSpPr>
        <p:spPr>
          <a:xfrm>
            <a:off x="6505785" y="7932638"/>
            <a:ext cx="7963482" cy="1690152"/>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400" b="1" dirty="0">
                <a:solidFill>
                  <a:srgbClr val="000000"/>
                </a:solidFill>
                <a:latin typeface="Cambria"/>
                <a:ea typeface="Cambria"/>
                <a:cs typeface="Cambria"/>
              </a:rPr>
              <a:t>Management</a:t>
            </a:r>
            <a:r>
              <a:rPr lang="en-US" sz="1200" b="1" dirty="0">
                <a:solidFill>
                  <a:srgbClr val="000000"/>
                </a:solidFill>
                <a:effectLst/>
                <a:latin typeface="Cambria"/>
                <a:ea typeface="Cambria"/>
                <a:cs typeface="Cambria"/>
              </a:rPr>
              <a:t>:</a:t>
            </a:r>
          </a:p>
          <a:p>
            <a:pPr>
              <a:lnSpc>
                <a:spcPct val="114000"/>
              </a:lnSpc>
              <a:spcAft>
                <a:spcPts val="1000"/>
              </a:spcAft>
            </a:pPr>
            <a:r>
              <a:rPr lang="en-US" sz="1400" dirty="0">
                <a:ea typeface="Calibri"/>
              </a:rPr>
              <a:t>Procedure done : open reduction internal fixation with plate osteosynthesis for the right 5th proximal phalanx</a:t>
            </a:r>
            <a:endParaRPr lang="en-US" sz="1400" dirty="0">
              <a:effectLst/>
              <a:ea typeface="Calibri"/>
            </a:endParaRPr>
          </a:p>
        </p:txBody>
      </p:sp>
      <p:sp>
        <p:nvSpPr>
          <p:cNvPr id="9" name="Rectangle 6"/>
          <p:cNvSpPr>
            <a:spLocks noChangeArrowheads="1"/>
          </p:cNvSpPr>
          <p:nvPr/>
        </p:nvSpPr>
        <p:spPr bwMode="auto">
          <a:xfrm>
            <a:off x="152400" y="299593"/>
            <a:ext cx="1772793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fontAlgn="base">
              <a:lnSpc>
                <a:spcPct val="200000"/>
              </a:lnSpc>
              <a:spcBef>
                <a:spcPct val="0"/>
              </a:spcBef>
              <a:spcAft>
                <a:spcPct val="0"/>
              </a:spcAft>
            </a:pPr>
            <a:r>
              <a:rPr kumimoji="0" lang="en-US" sz="1600" b="1" i="1" u="none" strike="noStrike" cap="none" normalizeH="0" baseline="0" dirty="0">
                <a:ln>
                  <a:noFill/>
                </a:ln>
                <a:solidFill>
                  <a:schemeClr val="tx1"/>
                </a:solidFill>
                <a:effectLst/>
                <a:latin typeface="Cambria" pitchFamily="18" charset="0"/>
                <a:ea typeface="Times New Roman" pitchFamily="18" charset="0"/>
                <a:cs typeface="Times New Roman" pitchFamily="18" charset="0"/>
              </a:rPr>
              <a:t>				A case </a:t>
            </a:r>
            <a:r>
              <a:rPr lang="en-US" sz="1600" b="1" i="1" dirty="0">
                <a:latin typeface="Cambria" pitchFamily="18" charset="0"/>
                <a:ea typeface="Times New Roman" pitchFamily="18" charset="0"/>
                <a:cs typeface="Times New Roman" pitchFamily="18" charset="0"/>
              </a:rPr>
              <a:t>of Delayed Union Of Right 5th Proximal Phalanx Displaced Fracture</a:t>
            </a:r>
            <a:r>
              <a:rPr kumimoji="0" lang="en-US" sz="1600" b="1" i="0" u="none" strike="noStrike" cap="none" normalizeH="0" baseline="0" dirty="0">
                <a:ln>
                  <a:noFill/>
                </a:ln>
                <a:solidFill>
                  <a:schemeClr val="tx1"/>
                </a:solidFill>
                <a:effectLst/>
                <a:latin typeface="Cambria" pitchFamily="18" charset="0"/>
                <a:ea typeface="Calibri" pitchFamily="34" charset="0"/>
                <a:cs typeface="Arial" pitchFamily="34" charset="0"/>
              </a:rPr>
              <a:t>     </a:t>
            </a:r>
          </a:p>
          <a:p>
            <a:pPr lvl="0" fontAlgn="base">
              <a:lnSpc>
                <a:spcPct val="200000"/>
              </a:lnSpc>
              <a:spcBef>
                <a:spcPct val="0"/>
              </a:spcBef>
              <a:spcAft>
                <a:spcPct val="0"/>
              </a:spcAft>
            </a:pPr>
            <a:r>
              <a:rPr kumimoji="0" lang="en-US" sz="1600" b="1" i="0" u="none" strike="noStrike" cap="none" normalizeH="0" baseline="0" dirty="0">
                <a:ln>
                  <a:noFill/>
                </a:ln>
                <a:solidFill>
                  <a:schemeClr val="tx1"/>
                </a:solidFill>
                <a:effectLst/>
                <a:latin typeface="Cambria" pitchFamily="18" charset="0"/>
                <a:ea typeface="Calibri" pitchFamily="34" charset="0"/>
                <a:cs typeface="Arial" pitchFamily="34" charset="0"/>
              </a:rPr>
              <a:t> S.no:     01                              PID:	2315xxxxxxxxxx		Age: 25			Gender:	Female	     </a:t>
            </a:r>
            <a:r>
              <a:rPr kumimoji="0" lang="en-US" sz="1400" b="1" i="0" u="none" strike="noStrike" cap="none" normalizeH="0" baseline="0" dirty="0">
                <a:ln>
                  <a:noFill/>
                </a:ln>
                <a:solidFill>
                  <a:schemeClr val="tx1"/>
                </a:solidFill>
                <a:effectLst/>
                <a:latin typeface="Cambria" pitchFamily="18" charset="0"/>
                <a:ea typeface="Calibri" pitchFamily="34" charset="0"/>
                <a:cs typeface="Arial" pitchFamily="34" charset="0"/>
              </a:rPr>
              <a:t>								</a:t>
            </a: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0" name="Rectangle 7"/>
          <p:cNvSpPr>
            <a:spLocks noChangeArrowheads="1"/>
          </p:cNvSpPr>
          <p:nvPr/>
        </p:nvSpPr>
        <p:spPr bwMode="auto">
          <a:xfrm>
            <a:off x="152400" y="609600"/>
            <a:ext cx="151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3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1" name="Rectangle 8"/>
          <p:cNvSpPr>
            <a:spLocks noChangeArrowheads="1"/>
          </p:cNvSpPr>
          <p:nvPr/>
        </p:nvSpPr>
        <p:spPr bwMode="auto">
          <a:xfrm>
            <a:off x="152400" y="782107"/>
            <a:ext cx="184731"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952625" algn="l"/>
              </a:tabLst>
            </a:pP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2" name="Rectangle 9"/>
          <p:cNvSpPr>
            <a:spLocks noChangeArrowheads="1"/>
          </p:cNvSpPr>
          <p:nvPr/>
        </p:nvSpPr>
        <p:spPr bwMode="auto">
          <a:xfrm>
            <a:off x="152400" y="1066800"/>
            <a:ext cx="15113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4" name="TextBox 13"/>
          <p:cNvSpPr txBox="1"/>
          <p:nvPr/>
        </p:nvSpPr>
        <p:spPr>
          <a:xfrm>
            <a:off x="227015" y="9866982"/>
            <a:ext cx="14242253" cy="400110"/>
          </a:xfrm>
          <a:prstGeom prst="rect">
            <a:avLst/>
          </a:prstGeom>
          <a:noFill/>
        </p:spPr>
        <p:txBody>
          <a:bodyPr wrap="square" rtlCol="0">
            <a:spAutoFit/>
          </a:bodyPr>
          <a:lstStyle/>
          <a:p>
            <a:r>
              <a:rPr lang="en-US" sz="2000" b="1" dirty="0"/>
              <a:t>       Approved by:- Name:	</a:t>
            </a:r>
            <a:r>
              <a:rPr lang="en-US" sz="2000" b="1" dirty="0" err="1"/>
              <a:t>Dr.xxxxyyyyy</a:t>
            </a:r>
            <a:r>
              <a:rPr lang="en-US" sz="2000" b="1" dirty="0"/>
              <a:t>               Designation: 	Assistant Professor	                                  Signature:</a:t>
            </a:r>
          </a:p>
        </p:txBody>
      </p:sp>
      <p:sp>
        <p:nvSpPr>
          <p:cNvPr id="15" name="Rectangle 14"/>
          <p:cNvSpPr/>
          <p:nvPr/>
        </p:nvSpPr>
        <p:spPr>
          <a:xfrm>
            <a:off x="12309028" y="1588449"/>
            <a:ext cx="2160240" cy="252776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r>
              <a:rPr lang="en-US" sz="1100" b="1" dirty="0">
                <a:solidFill>
                  <a:srgbClr val="808080"/>
                </a:solidFill>
                <a:effectLst/>
                <a:latin typeface="Calibri"/>
                <a:ea typeface="Calibri"/>
              </a:rPr>
              <a:t>Patient Image </a:t>
            </a:r>
            <a:endParaRPr lang="en-US" sz="1100" dirty="0">
              <a:effectLst/>
              <a:latin typeface="Calibri"/>
              <a:ea typeface="Calibri"/>
            </a:endParaRPr>
          </a:p>
          <a:p>
            <a:pPr>
              <a:lnSpc>
                <a:spcPct val="114000"/>
              </a:lnSpc>
              <a:spcAft>
                <a:spcPts val="1000"/>
              </a:spcAft>
            </a:pPr>
            <a:r>
              <a:rPr lang="en-US" sz="1100" dirty="0">
                <a:effectLst/>
                <a:latin typeface="Calibri"/>
                <a:ea typeface="Calibri"/>
              </a:rPr>
              <a:t> </a:t>
            </a:r>
          </a:p>
        </p:txBody>
      </p:sp>
      <p:sp>
        <p:nvSpPr>
          <p:cNvPr id="2" name="TextBox 1"/>
          <p:cNvSpPr txBox="1"/>
          <p:nvPr/>
        </p:nvSpPr>
        <p:spPr>
          <a:xfrm>
            <a:off x="337131" y="299592"/>
            <a:ext cx="1962785" cy="276999"/>
          </a:xfrm>
          <a:prstGeom prst="rect">
            <a:avLst/>
          </a:prstGeom>
          <a:noFill/>
        </p:spPr>
        <p:txBody>
          <a:bodyPr wrap="square" rtlCol="0">
            <a:spAutoFit/>
          </a:bodyPr>
          <a:lstStyle/>
          <a:p>
            <a:r>
              <a:rPr lang="en-US" sz="1200" dirty="0"/>
              <a:t>Student Name: Full name</a:t>
            </a:r>
          </a:p>
        </p:txBody>
      </p:sp>
      <p:sp>
        <p:nvSpPr>
          <p:cNvPr id="17" name="TextBox 16"/>
          <p:cNvSpPr txBox="1"/>
          <p:nvPr/>
        </p:nvSpPr>
        <p:spPr>
          <a:xfrm>
            <a:off x="12506483" y="290670"/>
            <a:ext cx="1962785" cy="276999"/>
          </a:xfrm>
          <a:prstGeom prst="rect">
            <a:avLst/>
          </a:prstGeom>
          <a:noFill/>
        </p:spPr>
        <p:txBody>
          <a:bodyPr wrap="square" rtlCol="0">
            <a:spAutoFit/>
          </a:bodyPr>
          <a:lstStyle/>
          <a:p>
            <a:r>
              <a:rPr lang="en-US" sz="1200" dirty="0"/>
              <a:t>Reg no: </a:t>
            </a:r>
            <a:r>
              <a:rPr lang="en-US" sz="1200" b="1" dirty="0"/>
              <a:t>111901074</a:t>
            </a:r>
          </a:p>
        </p:txBody>
      </p:sp>
      <p:sp>
        <p:nvSpPr>
          <p:cNvPr id="16" name="Rectangle 15"/>
          <p:cNvSpPr/>
          <p:nvPr/>
        </p:nvSpPr>
        <p:spPr>
          <a:xfrm>
            <a:off x="6505786" y="6315058"/>
            <a:ext cx="7963482" cy="1440159"/>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400" b="1" dirty="0">
                <a:effectLst/>
                <a:latin typeface="Calibri"/>
                <a:ea typeface="Calibri"/>
              </a:rPr>
              <a:t>Clinical insights/ Differential Diagnosis:</a:t>
            </a:r>
          </a:p>
          <a:p>
            <a:pPr marL="285750" indent="-285750">
              <a:spcAft>
                <a:spcPts val="1000"/>
              </a:spcAft>
              <a:buFont typeface="Arial" pitchFamily="34" charset="0"/>
              <a:buChar char="•"/>
            </a:pPr>
            <a:r>
              <a:rPr lang="en-US" sz="1400" dirty="0">
                <a:ea typeface="Calibri"/>
              </a:rPr>
              <a:t>Skin – normal ,minimal swelling present, no scar/sinus</a:t>
            </a:r>
          </a:p>
          <a:p>
            <a:pPr marL="285750" indent="-285750">
              <a:spcAft>
                <a:spcPts val="1000"/>
              </a:spcAft>
              <a:buFont typeface="Arial" pitchFamily="34" charset="0"/>
              <a:buChar char="•"/>
            </a:pPr>
            <a:r>
              <a:rPr lang="en-US" sz="1400" dirty="0">
                <a:ea typeface="Calibri"/>
              </a:rPr>
              <a:t>Tenderness present over to the right 5th proximal phalanx</a:t>
            </a:r>
          </a:p>
          <a:p>
            <a:pPr marL="285750" indent="-285750">
              <a:spcAft>
                <a:spcPts val="1000"/>
              </a:spcAft>
              <a:buFont typeface="Arial" pitchFamily="34" charset="0"/>
              <a:buChar char="•"/>
            </a:pPr>
            <a:r>
              <a:rPr lang="en-US" sz="1400" dirty="0">
                <a:ea typeface="Calibri"/>
              </a:rPr>
              <a:t>No warmth ,sensation intact, no DVND, rom- restricted and painful</a:t>
            </a:r>
            <a:endParaRPr lang="en-US" sz="1400" dirty="0">
              <a:effectLst/>
              <a:latin typeface="Calibri"/>
              <a:ea typeface="Calibri"/>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594" y="2060866"/>
            <a:ext cx="6005429" cy="7089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6319" y="1588449"/>
            <a:ext cx="2132948" cy="264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2336319" y="2532038"/>
            <a:ext cx="2132948" cy="144016"/>
          </a:xfrm>
          <a:prstGeom prst="rect">
            <a:avLst/>
          </a:prstGeom>
          <a:solidFill>
            <a:schemeClr val="tx1">
              <a:alpha val="63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0140442">
            <a:off x="2618648" y="4756827"/>
            <a:ext cx="9544280" cy="1569660"/>
          </a:xfrm>
          <a:prstGeom prst="rect">
            <a:avLst/>
          </a:prstGeom>
          <a:noFill/>
        </p:spPr>
        <p:txBody>
          <a:bodyPr wrap="square" lIns="91440" tIns="45720" rIns="91440" bIns="45720">
            <a:spAutoFit/>
          </a:bodyPr>
          <a:lstStyle/>
          <a:p>
            <a:pPr algn="ctr"/>
            <a:r>
              <a:rPr lang="en-US" sz="9600" b="1"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rPr>
              <a:t>SAMPLE</a:t>
            </a:r>
            <a:endParaRPr lang="en-US" sz="9600" b="1" cap="none" spc="0" dirty="0">
              <a:ln w="18000">
                <a:solidFill>
                  <a:schemeClr val="accent2">
                    <a:satMod val="140000"/>
                  </a:schemeClr>
                </a:solidFill>
                <a:prstDash val="solid"/>
                <a:miter lim="800000"/>
              </a:ln>
              <a:solidFill>
                <a:srgbClr val="FF0000"/>
              </a:solid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556611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5113000" cy="106807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324664" y="3018368"/>
            <a:ext cx="1227084" cy="776828"/>
          </a:xfrm>
          <a:prstGeom prst="rect">
            <a:avLst/>
          </a:prstGeom>
        </p:spPr>
        <p:txBody>
          <a:bodyPr vert="horz" wrap="square" lIns="0" tIns="0" rIns="0" bIns="0" rtlCol="0">
            <a:spAutoFit/>
          </a:bodyPr>
          <a:lstStyle/>
          <a:p>
            <a:pPr marL="45694" marR="0">
              <a:lnSpc>
                <a:spcPts val="4260"/>
              </a:lnSpc>
              <a:spcBef>
                <a:spcPts val="0"/>
              </a:spcBef>
              <a:spcAft>
                <a:spcPts val="0"/>
              </a:spcAft>
            </a:pPr>
            <a:r>
              <a:rPr sz="3450" spc="-32" dirty="0">
                <a:solidFill>
                  <a:srgbClr val="221E1F"/>
                </a:solidFill>
                <a:latin typeface="TOPSIG+FuturaPT-Demi"/>
                <a:cs typeface="TOPSIG+FuturaPT-Demi"/>
              </a:rPr>
              <a:t>359</a:t>
            </a:r>
            <a:r>
              <a:rPr sz="3450" spc="-734" dirty="0">
                <a:solidFill>
                  <a:srgbClr val="221E1F"/>
                </a:solidFill>
                <a:latin typeface="TOPSIG+FuturaPT-Demi"/>
                <a:cs typeface="TOPSIG+FuturaPT-Demi"/>
              </a:rPr>
              <a:t> </a:t>
            </a:r>
            <a:r>
              <a:rPr sz="3450" dirty="0">
                <a:solidFill>
                  <a:srgbClr val="221E1F"/>
                </a:solidFill>
                <a:latin typeface="TOPSIG+FuturaPT-Demi"/>
                <a:cs typeface="TOPSIG+FuturaPT-Demi"/>
              </a:rPr>
              <a:t>0</a:t>
            </a:r>
          </a:p>
          <a:p>
            <a:pPr marL="0" marR="0">
              <a:lnSpc>
                <a:spcPts val="1758"/>
              </a:lnSpc>
              <a:spcBef>
                <a:spcPts val="0"/>
              </a:spcBef>
              <a:spcAft>
                <a:spcPts val="0"/>
              </a:spcAft>
            </a:pPr>
            <a:r>
              <a:rPr sz="1450" spc="-20" dirty="0">
                <a:solidFill>
                  <a:srgbClr val="221E1F"/>
                </a:solidFill>
                <a:latin typeface="TOPSIG+FuturaPT-Demi"/>
                <a:cs typeface="TOPSIG+FuturaPT-Demi"/>
              </a:rPr>
              <a:t>PROCEDURES</a:t>
            </a:r>
          </a:p>
        </p:txBody>
      </p:sp>
      <p:sp>
        <p:nvSpPr>
          <p:cNvPr id="4" name="object 4"/>
          <p:cNvSpPr txBox="1"/>
          <p:nvPr/>
        </p:nvSpPr>
        <p:spPr>
          <a:xfrm>
            <a:off x="12144777" y="3021881"/>
            <a:ext cx="392900" cy="563378"/>
          </a:xfrm>
          <a:prstGeom prst="rect">
            <a:avLst/>
          </a:prstGeom>
        </p:spPr>
        <p:txBody>
          <a:bodyPr vert="horz" wrap="square" lIns="0" tIns="0" rIns="0" bIns="0" rtlCol="0">
            <a:spAutoFit/>
          </a:bodyPr>
          <a:lstStyle/>
          <a:p>
            <a:pPr marL="0" marR="0">
              <a:lnSpc>
                <a:spcPts val="4136"/>
              </a:lnSpc>
              <a:spcBef>
                <a:spcPts val="0"/>
              </a:spcBef>
              <a:spcAft>
                <a:spcPts val="0"/>
              </a:spcAft>
            </a:pPr>
            <a:r>
              <a:rPr sz="3350" dirty="0">
                <a:solidFill>
                  <a:srgbClr val="221E1F"/>
                </a:solidFill>
                <a:latin typeface="TOPSIG+FuturaPT-Demi"/>
                <a:cs typeface="TOPSIG+FuturaPT-Demi"/>
              </a:rPr>
              <a:t>9</a:t>
            </a:r>
          </a:p>
        </p:txBody>
      </p:sp>
      <p:sp>
        <p:nvSpPr>
          <p:cNvPr id="5" name="object 5"/>
          <p:cNvSpPr txBox="1"/>
          <p:nvPr/>
        </p:nvSpPr>
        <p:spPr>
          <a:xfrm>
            <a:off x="8527006" y="3192490"/>
            <a:ext cx="1477663" cy="496157"/>
          </a:xfrm>
          <a:prstGeom prst="rect">
            <a:avLst/>
          </a:prstGeom>
        </p:spPr>
        <p:txBody>
          <a:bodyPr vert="horz" wrap="square" lIns="0" tIns="0" rIns="0" bIns="0" rtlCol="0">
            <a:spAutoFit/>
          </a:bodyPr>
          <a:lstStyle/>
          <a:p>
            <a:pPr marL="408528" marR="0">
              <a:lnSpc>
                <a:spcPts val="1758"/>
              </a:lnSpc>
              <a:spcBef>
                <a:spcPts val="0"/>
              </a:spcBef>
              <a:spcAft>
                <a:spcPts val="0"/>
              </a:spcAft>
            </a:pPr>
            <a:r>
              <a:rPr sz="1450" spc="-39" dirty="0">
                <a:solidFill>
                  <a:srgbClr val="221E1F"/>
                </a:solidFill>
                <a:latin typeface="TOPSIG+FuturaPT-Demi"/>
                <a:cs typeface="TOPSIG+FuturaPT-Demi"/>
              </a:rPr>
              <a:t>PAPER</a:t>
            </a:r>
          </a:p>
          <a:p>
            <a:pPr marL="0" marR="0">
              <a:lnSpc>
                <a:spcPts val="1758"/>
              </a:lnSpc>
              <a:spcBef>
                <a:spcPts val="39"/>
              </a:spcBef>
              <a:spcAft>
                <a:spcPts val="0"/>
              </a:spcAft>
            </a:pPr>
            <a:r>
              <a:rPr sz="1450" spc="-27" dirty="0">
                <a:solidFill>
                  <a:srgbClr val="221E1F"/>
                </a:solidFill>
                <a:latin typeface="TOPSIG+FuturaPT-Demi"/>
                <a:cs typeface="TOPSIG+FuturaPT-Demi"/>
              </a:rPr>
              <a:t>PRESENTATIONS</a:t>
            </a:r>
          </a:p>
        </p:txBody>
      </p:sp>
      <p:sp>
        <p:nvSpPr>
          <p:cNvPr id="6" name="object 6"/>
          <p:cNvSpPr txBox="1"/>
          <p:nvPr/>
        </p:nvSpPr>
        <p:spPr>
          <a:xfrm>
            <a:off x="5269834" y="3311236"/>
            <a:ext cx="1435167"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17" dirty="0">
                <a:solidFill>
                  <a:srgbClr val="221E1F"/>
                </a:solidFill>
                <a:latin typeface="TOPSIG+FuturaPT-Demi"/>
                <a:cs typeface="TOPSIG+FuturaPT-Demi"/>
              </a:rPr>
              <a:t>CLINICAL</a:t>
            </a:r>
            <a:r>
              <a:rPr sz="1450" dirty="0">
                <a:solidFill>
                  <a:srgbClr val="221E1F"/>
                </a:solidFill>
                <a:latin typeface="TOPSIG+FuturaPT-Demi"/>
                <a:cs typeface="TOPSIG+FuturaPT-Demi"/>
              </a:rPr>
              <a:t> </a:t>
            </a:r>
            <a:r>
              <a:rPr sz="1450" spc="-26" dirty="0">
                <a:solidFill>
                  <a:srgbClr val="221E1F"/>
                </a:solidFill>
                <a:latin typeface="TOPSIG+FuturaPT-Demi"/>
                <a:cs typeface="TOPSIG+FuturaPT-Demi"/>
              </a:rPr>
              <a:t>CASES</a:t>
            </a:r>
          </a:p>
        </p:txBody>
      </p:sp>
      <p:sp>
        <p:nvSpPr>
          <p:cNvPr id="7" name="object 7"/>
          <p:cNvSpPr txBox="1"/>
          <p:nvPr/>
        </p:nvSpPr>
        <p:spPr>
          <a:xfrm>
            <a:off x="11608341" y="3533777"/>
            <a:ext cx="1477663"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27" dirty="0">
                <a:solidFill>
                  <a:srgbClr val="221E1F"/>
                </a:solidFill>
                <a:latin typeface="TOPSIG+FuturaPT-Demi"/>
                <a:cs typeface="TOPSIG+FuturaPT-Demi"/>
              </a:rPr>
              <a:t>PRESENTATIONS</a:t>
            </a:r>
          </a:p>
        </p:txBody>
      </p:sp>
      <p:sp>
        <p:nvSpPr>
          <p:cNvPr id="8" name="object 8"/>
          <p:cNvSpPr txBox="1"/>
          <p:nvPr/>
        </p:nvSpPr>
        <p:spPr>
          <a:xfrm>
            <a:off x="1855684" y="4429262"/>
            <a:ext cx="2172769" cy="579208"/>
          </a:xfrm>
          <a:prstGeom prst="rect">
            <a:avLst/>
          </a:prstGeom>
        </p:spPr>
        <p:txBody>
          <a:bodyPr vert="horz" wrap="square" lIns="0" tIns="0" rIns="0" bIns="0" rtlCol="0">
            <a:spAutoFit/>
          </a:bodyPr>
          <a:lstStyle/>
          <a:p>
            <a:pPr marL="0" marR="0">
              <a:lnSpc>
                <a:spcPts val="4260"/>
              </a:lnSpc>
              <a:spcBef>
                <a:spcPts val="0"/>
              </a:spcBef>
              <a:spcAft>
                <a:spcPts val="0"/>
              </a:spcAft>
            </a:pPr>
            <a:r>
              <a:rPr sz="3450" dirty="0">
                <a:solidFill>
                  <a:srgbClr val="221E1F"/>
                </a:solidFill>
                <a:latin typeface="TOPSIG+FuturaPT-Demi"/>
                <a:cs typeface="TOPSIG+FuturaPT-Demi"/>
              </a:rPr>
              <a:t>36,30,300</a:t>
            </a:r>
          </a:p>
        </p:txBody>
      </p:sp>
      <p:sp>
        <p:nvSpPr>
          <p:cNvPr id="9" name="object 9"/>
          <p:cNvSpPr txBox="1"/>
          <p:nvPr/>
        </p:nvSpPr>
        <p:spPr>
          <a:xfrm>
            <a:off x="11608341" y="4426626"/>
            <a:ext cx="1477663" cy="779464"/>
          </a:xfrm>
          <a:prstGeom prst="rect">
            <a:avLst/>
          </a:prstGeom>
        </p:spPr>
        <p:txBody>
          <a:bodyPr vert="horz" wrap="square" lIns="0" tIns="0" rIns="0" bIns="0" rtlCol="0">
            <a:spAutoFit/>
          </a:bodyPr>
          <a:lstStyle/>
          <a:p>
            <a:pPr marL="410658" marR="0">
              <a:lnSpc>
                <a:spcPts val="4260"/>
              </a:lnSpc>
              <a:spcBef>
                <a:spcPts val="0"/>
              </a:spcBef>
              <a:spcAft>
                <a:spcPts val="0"/>
              </a:spcAft>
            </a:pPr>
            <a:r>
              <a:rPr sz="3450" dirty="0">
                <a:solidFill>
                  <a:srgbClr val="221E1F"/>
                </a:solidFill>
                <a:latin typeface="TOPSIG+FuturaPT-Demi"/>
                <a:cs typeface="TOPSIG+FuturaPT-Demi"/>
              </a:rPr>
              <a:t>30</a:t>
            </a:r>
          </a:p>
          <a:p>
            <a:pPr marL="0" marR="0">
              <a:lnSpc>
                <a:spcPts val="1758"/>
              </a:lnSpc>
              <a:spcBef>
                <a:spcPts val="0"/>
              </a:spcBef>
              <a:spcAft>
                <a:spcPts val="0"/>
              </a:spcAft>
            </a:pPr>
            <a:r>
              <a:rPr sz="1450" spc="-27" dirty="0">
                <a:solidFill>
                  <a:srgbClr val="221E1F"/>
                </a:solidFill>
                <a:latin typeface="TOPSIG+FuturaPT-Demi"/>
                <a:cs typeface="TOPSIG+FuturaPT-Demi"/>
              </a:rPr>
              <a:t>PRESENTATIONS</a:t>
            </a:r>
          </a:p>
        </p:txBody>
      </p:sp>
      <p:sp>
        <p:nvSpPr>
          <p:cNvPr id="10" name="object 10"/>
          <p:cNvSpPr txBox="1"/>
          <p:nvPr/>
        </p:nvSpPr>
        <p:spPr>
          <a:xfrm>
            <a:off x="8527002" y="4603383"/>
            <a:ext cx="1477663" cy="496158"/>
          </a:xfrm>
          <a:prstGeom prst="rect">
            <a:avLst/>
          </a:prstGeom>
        </p:spPr>
        <p:txBody>
          <a:bodyPr vert="horz" wrap="square" lIns="0" tIns="0" rIns="0" bIns="0" rtlCol="0">
            <a:spAutoFit/>
          </a:bodyPr>
          <a:lstStyle/>
          <a:p>
            <a:pPr marL="352732" marR="0">
              <a:lnSpc>
                <a:spcPts val="1758"/>
              </a:lnSpc>
              <a:spcBef>
                <a:spcPts val="0"/>
              </a:spcBef>
              <a:spcAft>
                <a:spcPts val="0"/>
              </a:spcAft>
            </a:pPr>
            <a:r>
              <a:rPr sz="1450" spc="-21" dirty="0">
                <a:solidFill>
                  <a:srgbClr val="221E1F"/>
                </a:solidFill>
                <a:latin typeface="TOPSIG+FuturaPT-Demi"/>
                <a:cs typeface="TOPSIG+FuturaPT-Demi"/>
              </a:rPr>
              <a:t>POSTER</a:t>
            </a:r>
          </a:p>
          <a:p>
            <a:pPr marL="0" marR="0">
              <a:lnSpc>
                <a:spcPts val="1758"/>
              </a:lnSpc>
              <a:spcBef>
                <a:spcPts val="39"/>
              </a:spcBef>
              <a:spcAft>
                <a:spcPts val="0"/>
              </a:spcAft>
            </a:pPr>
            <a:r>
              <a:rPr sz="1450" spc="-27" dirty="0">
                <a:solidFill>
                  <a:srgbClr val="221E1F"/>
                </a:solidFill>
                <a:latin typeface="TOPSIG+FuturaPT-Demi"/>
                <a:cs typeface="TOPSIG+FuturaPT-Demi"/>
              </a:rPr>
              <a:t>PRESENTATIONS</a:t>
            </a:r>
          </a:p>
        </p:txBody>
      </p:sp>
      <p:sp>
        <p:nvSpPr>
          <p:cNvPr id="11" name="object 11"/>
          <p:cNvSpPr txBox="1"/>
          <p:nvPr/>
        </p:nvSpPr>
        <p:spPr>
          <a:xfrm>
            <a:off x="5139238" y="4701887"/>
            <a:ext cx="1696369"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49" dirty="0">
                <a:solidFill>
                  <a:srgbClr val="221E1F"/>
                </a:solidFill>
                <a:latin typeface="TOPSIG+FuturaPT-Demi"/>
                <a:cs typeface="TOPSIG+FuturaPT-Demi"/>
              </a:rPr>
              <a:t>VALUE</a:t>
            </a:r>
            <a:r>
              <a:rPr sz="1450" spc="25" dirty="0">
                <a:solidFill>
                  <a:srgbClr val="221E1F"/>
                </a:solidFill>
                <a:latin typeface="TOPSIG+FuturaPT-Demi"/>
                <a:cs typeface="TOPSIG+FuturaPT-Demi"/>
              </a:rPr>
              <a:t> </a:t>
            </a:r>
            <a:r>
              <a:rPr sz="1450" spc="-26" dirty="0">
                <a:solidFill>
                  <a:srgbClr val="221E1F"/>
                </a:solidFill>
                <a:latin typeface="TOPSIG+FuturaPT-Demi"/>
                <a:cs typeface="TOPSIG+FuturaPT-Demi"/>
              </a:rPr>
              <a:t>OF</a:t>
            </a:r>
            <a:r>
              <a:rPr sz="1450" dirty="0">
                <a:solidFill>
                  <a:srgbClr val="221E1F"/>
                </a:solidFill>
                <a:latin typeface="TOPSIG+FuturaPT-Demi"/>
                <a:cs typeface="TOPSIG+FuturaPT-Demi"/>
              </a:rPr>
              <a:t> </a:t>
            </a:r>
            <a:r>
              <a:rPr sz="1450" spc="-19" dirty="0">
                <a:solidFill>
                  <a:srgbClr val="221E1F"/>
                </a:solidFill>
                <a:latin typeface="TOPSIG+FuturaPT-Demi"/>
                <a:cs typeface="TOPSIG+FuturaPT-Demi"/>
              </a:rPr>
              <a:t>THERAPY</a:t>
            </a:r>
          </a:p>
        </p:txBody>
      </p:sp>
      <p:sp>
        <p:nvSpPr>
          <p:cNvPr id="12" name="object 12"/>
          <p:cNvSpPr txBox="1"/>
          <p:nvPr/>
        </p:nvSpPr>
        <p:spPr>
          <a:xfrm>
            <a:off x="2714926" y="4944671"/>
            <a:ext cx="446543"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17" dirty="0">
                <a:solidFill>
                  <a:srgbClr val="221E1F"/>
                </a:solidFill>
                <a:latin typeface="TOPSIG+FuturaPT-Demi"/>
                <a:cs typeface="TOPSIG+FuturaPT-Demi"/>
              </a:rPr>
              <a:t>INR</a:t>
            </a:r>
          </a:p>
        </p:txBody>
      </p:sp>
      <p:sp>
        <p:nvSpPr>
          <p:cNvPr id="13" name="object 13"/>
          <p:cNvSpPr txBox="1"/>
          <p:nvPr/>
        </p:nvSpPr>
        <p:spPr>
          <a:xfrm>
            <a:off x="2449306" y="5840153"/>
            <a:ext cx="985497" cy="579208"/>
          </a:xfrm>
          <a:prstGeom prst="rect">
            <a:avLst/>
          </a:prstGeom>
        </p:spPr>
        <p:txBody>
          <a:bodyPr vert="horz" wrap="square" lIns="0" tIns="0" rIns="0" bIns="0" rtlCol="0">
            <a:spAutoFit/>
          </a:bodyPr>
          <a:lstStyle/>
          <a:p>
            <a:pPr marL="0" marR="0">
              <a:lnSpc>
                <a:spcPts val="4260"/>
              </a:lnSpc>
              <a:spcBef>
                <a:spcPts val="0"/>
              </a:spcBef>
              <a:spcAft>
                <a:spcPts val="0"/>
              </a:spcAft>
            </a:pPr>
            <a:r>
              <a:rPr sz="3450" dirty="0">
                <a:solidFill>
                  <a:srgbClr val="221E1F"/>
                </a:solidFill>
                <a:latin typeface="TOPSIG+FuturaPT-Demi"/>
                <a:cs typeface="TOPSIG+FuturaPT-Demi"/>
              </a:rPr>
              <a:t>82%</a:t>
            </a:r>
          </a:p>
        </p:txBody>
      </p:sp>
      <p:sp>
        <p:nvSpPr>
          <p:cNvPr id="14" name="object 14"/>
          <p:cNvSpPr txBox="1"/>
          <p:nvPr/>
        </p:nvSpPr>
        <p:spPr>
          <a:xfrm>
            <a:off x="12020497" y="5840153"/>
            <a:ext cx="647896" cy="579208"/>
          </a:xfrm>
          <a:prstGeom prst="rect">
            <a:avLst/>
          </a:prstGeom>
        </p:spPr>
        <p:txBody>
          <a:bodyPr vert="horz" wrap="square" lIns="0" tIns="0" rIns="0" bIns="0" rtlCol="0">
            <a:spAutoFit/>
          </a:bodyPr>
          <a:lstStyle/>
          <a:p>
            <a:pPr marL="0" marR="0">
              <a:lnSpc>
                <a:spcPts val="4260"/>
              </a:lnSpc>
              <a:spcBef>
                <a:spcPts val="0"/>
              </a:spcBef>
              <a:spcAft>
                <a:spcPts val="0"/>
              </a:spcAft>
            </a:pPr>
            <a:r>
              <a:rPr sz="3450" dirty="0">
                <a:solidFill>
                  <a:srgbClr val="221E1F"/>
                </a:solidFill>
                <a:latin typeface="TOPSIG+FuturaPT-Demi"/>
                <a:cs typeface="TOPSIG+FuturaPT-Demi"/>
              </a:rPr>
              <a:t>30</a:t>
            </a:r>
          </a:p>
        </p:txBody>
      </p:sp>
      <p:sp>
        <p:nvSpPr>
          <p:cNvPr id="15" name="object 15"/>
          <p:cNvSpPr txBox="1"/>
          <p:nvPr/>
        </p:nvSpPr>
        <p:spPr>
          <a:xfrm>
            <a:off x="8632582" y="6015649"/>
            <a:ext cx="1249045" cy="496162"/>
          </a:xfrm>
          <a:prstGeom prst="rect">
            <a:avLst/>
          </a:prstGeom>
        </p:spPr>
        <p:txBody>
          <a:bodyPr vert="horz" wrap="square" lIns="0" tIns="0" rIns="0" bIns="0" rtlCol="0">
            <a:spAutoFit/>
          </a:bodyPr>
          <a:lstStyle/>
          <a:p>
            <a:pPr marL="114841" marR="0">
              <a:lnSpc>
                <a:spcPts val="1758"/>
              </a:lnSpc>
              <a:spcBef>
                <a:spcPts val="0"/>
              </a:spcBef>
              <a:spcAft>
                <a:spcPts val="0"/>
              </a:spcAft>
            </a:pPr>
            <a:r>
              <a:rPr sz="1450" spc="-27" dirty="0">
                <a:solidFill>
                  <a:srgbClr val="221E1F"/>
                </a:solidFill>
                <a:latin typeface="TOPSIG+FuturaPT-Demi"/>
                <a:cs typeface="TOPSIG+FuturaPT-Demi"/>
              </a:rPr>
              <a:t>NATIONAL</a:t>
            </a:r>
          </a:p>
          <a:p>
            <a:pPr marL="0" marR="0">
              <a:lnSpc>
                <a:spcPts val="1758"/>
              </a:lnSpc>
              <a:spcBef>
                <a:spcPts val="39"/>
              </a:spcBef>
              <a:spcAft>
                <a:spcPts val="0"/>
              </a:spcAft>
            </a:pPr>
            <a:r>
              <a:rPr sz="1450" spc="-20" dirty="0">
                <a:solidFill>
                  <a:srgbClr val="221E1F"/>
                </a:solidFill>
                <a:latin typeface="TOPSIG+FuturaPT-Demi"/>
                <a:cs typeface="TOPSIG+FuturaPT-Demi"/>
              </a:rPr>
              <a:t>CONFERENCE</a:t>
            </a:r>
          </a:p>
        </p:txBody>
      </p:sp>
      <p:sp>
        <p:nvSpPr>
          <p:cNvPr id="16" name="object 16"/>
          <p:cNvSpPr txBox="1"/>
          <p:nvPr/>
        </p:nvSpPr>
        <p:spPr>
          <a:xfrm>
            <a:off x="5092254" y="6133020"/>
            <a:ext cx="1790328" cy="3083201"/>
          </a:xfrm>
          <a:prstGeom prst="rect">
            <a:avLst/>
          </a:prstGeom>
        </p:spPr>
        <p:txBody>
          <a:bodyPr vert="horz" wrap="square" lIns="0" tIns="0" rIns="0" bIns="0" rtlCol="0">
            <a:spAutoFit/>
          </a:bodyPr>
          <a:lstStyle/>
          <a:p>
            <a:pPr marL="334458" marR="0">
              <a:lnSpc>
                <a:spcPts val="1758"/>
              </a:lnSpc>
              <a:spcBef>
                <a:spcPts val="0"/>
              </a:spcBef>
              <a:spcAft>
                <a:spcPts val="0"/>
              </a:spcAft>
            </a:pPr>
            <a:r>
              <a:rPr sz="1450" spc="-24" dirty="0">
                <a:solidFill>
                  <a:srgbClr val="221E1F"/>
                </a:solidFill>
                <a:latin typeface="TOPSIG+FuturaPT-Demi"/>
                <a:cs typeface="TOPSIG+FuturaPT-Demi"/>
              </a:rPr>
              <a:t>ACADEMICS</a:t>
            </a:r>
          </a:p>
          <a:p>
            <a:pPr marL="0" marR="0">
              <a:lnSpc>
                <a:spcPts val="1758"/>
              </a:lnSpc>
              <a:spcBef>
                <a:spcPts val="9300"/>
              </a:spcBef>
              <a:spcAft>
                <a:spcPts val="0"/>
              </a:spcAft>
            </a:pPr>
            <a:r>
              <a:rPr sz="1450" spc="-24" dirty="0">
                <a:solidFill>
                  <a:srgbClr val="221E1F"/>
                </a:solidFill>
                <a:latin typeface="TOPSIG+FuturaPT-Demi"/>
                <a:cs typeface="TOPSIG+FuturaPT-Demi"/>
              </a:rPr>
              <a:t>ACADEMIC</a:t>
            </a:r>
            <a:r>
              <a:rPr sz="1450" dirty="0">
                <a:solidFill>
                  <a:srgbClr val="221E1F"/>
                </a:solidFill>
                <a:latin typeface="TOPSIG+FuturaPT-Demi"/>
                <a:cs typeface="TOPSIG+FuturaPT-Demi"/>
              </a:rPr>
              <a:t> </a:t>
            </a:r>
            <a:r>
              <a:rPr sz="1450" spc="-47" dirty="0">
                <a:solidFill>
                  <a:srgbClr val="221E1F"/>
                </a:solidFill>
                <a:latin typeface="CNDNTA+FuturaPT-Demi"/>
                <a:cs typeface="CNDNTA+FuturaPT-Demi"/>
              </a:rPr>
              <a:t>AWARDS</a:t>
            </a:r>
          </a:p>
          <a:p>
            <a:pPr marL="400970" marR="0">
              <a:lnSpc>
                <a:spcPts val="1758"/>
              </a:lnSpc>
              <a:spcBef>
                <a:spcPts val="9300"/>
              </a:spcBef>
              <a:spcAft>
                <a:spcPts val="0"/>
              </a:spcAft>
            </a:pPr>
            <a:r>
              <a:rPr sz="1450" spc="-18" dirty="0">
                <a:solidFill>
                  <a:srgbClr val="221E1F"/>
                </a:solidFill>
                <a:latin typeface="TOPSIG+FuturaPT-Demi"/>
                <a:cs typeface="TOPSIG+FuturaPT-Demi"/>
              </a:rPr>
              <a:t>RESEARCH</a:t>
            </a:r>
          </a:p>
        </p:txBody>
      </p:sp>
      <p:sp>
        <p:nvSpPr>
          <p:cNvPr id="17" name="object 17"/>
          <p:cNvSpPr txBox="1"/>
          <p:nvPr/>
        </p:nvSpPr>
        <p:spPr>
          <a:xfrm>
            <a:off x="2331417" y="6355561"/>
            <a:ext cx="1213567"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17" dirty="0">
                <a:solidFill>
                  <a:srgbClr val="221E1F"/>
                </a:solidFill>
                <a:latin typeface="TOPSIG+FuturaPT-Demi"/>
                <a:cs typeface="TOPSIG+FuturaPT-Demi"/>
              </a:rPr>
              <a:t>DISTINCTION</a:t>
            </a:r>
          </a:p>
        </p:txBody>
      </p:sp>
      <p:sp>
        <p:nvSpPr>
          <p:cNvPr id="18" name="object 18"/>
          <p:cNvSpPr txBox="1"/>
          <p:nvPr/>
        </p:nvSpPr>
        <p:spPr>
          <a:xfrm>
            <a:off x="11608341" y="6355561"/>
            <a:ext cx="1477663"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27" dirty="0">
                <a:solidFill>
                  <a:srgbClr val="221E1F"/>
                </a:solidFill>
                <a:latin typeface="TOPSIG+FuturaPT-Demi"/>
                <a:cs typeface="TOPSIG+FuturaPT-Demi"/>
              </a:rPr>
              <a:t>PRESENTATIONS</a:t>
            </a:r>
          </a:p>
        </p:txBody>
      </p:sp>
      <p:sp>
        <p:nvSpPr>
          <p:cNvPr id="19" name="object 19"/>
          <p:cNvSpPr txBox="1"/>
          <p:nvPr/>
        </p:nvSpPr>
        <p:spPr>
          <a:xfrm>
            <a:off x="11719858" y="7230800"/>
            <a:ext cx="1269207" cy="776828"/>
          </a:xfrm>
          <a:prstGeom prst="rect">
            <a:avLst/>
          </a:prstGeom>
        </p:spPr>
        <p:txBody>
          <a:bodyPr vert="horz" wrap="square" lIns="0" tIns="0" rIns="0" bIns="0" rtlCol="0">
            <a:spAutoFit/>
          </a:bodyPr>
          <a:lstStyle/>
          <a:p>
            <a:pPr marL="328334" marR="0">
              <a:lnSpc>
                <a:spcPts val="4260"/>
              </a:lnSpc>
              <a:spcBef>
                <a:spcPts val="0"/>
              </a:spcBef>
              <a:spcAft>
                <a:spcPts val="0"/>
              </a:spcAft>
            </a:pPr>
            <a:r>
              <a:rPr sz="3450" spc="-444" dirty="0">
                <a:solidFill>
                  <a:srgbClr val="221E1F"/>
                </a:solidFill>
                <a:latin typeface="TOPSIG+FuturaPT-Demi"/>
                <a:cs typeface="TOPSIG+FuturaPT-Demi"/>
              </a:rPr>
              <a:t>14</a:t>
            </a:r>
          </a:p>
          <a:p>
            <a:pPr marL="0" marR="0">
              <a:lnSpc>
                <a:spcPts val="1758"/>
              </a:lnSpc>
              <a:spcBef>
                <a:spcPts val="0"/>
              </a:spcBef>
              <a:spcAft>
                <a:spcPts val="0"/>
              </a:spcAft>
            </a:pPr>
            <a:r>
              <a:rPr sz="1450" spc="-36" dirty="0">
                <a:solidFill>
                  <a:srgbClr val="221E1F"/>
                </a:solidFill>
                <a:latin typeface="TOPSIG+FuturaPT-Demi"/>
                <a:cs typeface="TOPSIG+FuturaPT-Demi"/>
              </a:rPr>
              <a:t>PARTICIPATED</a:t>
            </a:r>
          </a:p>
        </p:txBody>
      </p:sp>
      <p:sp>
        <p:nvSpPr>
          <p:cNvPr id="20" name="object 20"/>
          <p:cNvSpPr txBox="1"/>
          <p:nvPr/>
        </p:nvSpPr>
        <p:spPr>
          <a:xfrm>
            <a:off x="2500440" y="7251043"/>
            <a:ext cx="890457" cy="776829"/>
          </a:xfrm>
          <a:prstGeom prst="rect">
            <a:avLst/>
          </a:prstGeom>
        </p:spPr>
        <p:txBody>
          <a:bodyPr vert="horz" wrap="square" lIns="0" tIns="0" rIns="0" bIns="0" rtlCol="0">
            <a:spAutoFit/>
          </a:bodyPr>
          <a:lstStyle/>
          <a:p>
            <a:pPr marL="125294" marR="0">
              <a:lnSpc>
                <a:spcPts val="4260"/>
              </a:lnSpc>
              <a:spcBef>
                <a:spcPts val="0"/>
              </a:spcBef>
              <a:spcAft>
                <a:spcPts val="0"/>
              </a:spcAft>
            </a:pPr>
            <a:r>
              <a:rPr sz="3450" spc="-129" dirty="0">
                <a:solidFill>
                  <a:srgbClr val="221E1F"/>
                </a:solidFill>
                <a:latin typeface="TOPSIG+FuturaPT-Demi"/>
                <a:cs typeface="TOPSIG+FuturaPT-Demi"/>
              </a:rPr>
              <a:t>27</a:t>
            </a:r>
          </a:p>
          <a:p>
            <a:pPr marL="0" marR="0">
              <a:lnSpc>
                <a:spcPts val="1758"/>
              </a:lnSpc>
              <a:spcBef>
                <a:spcPts val="0"/>
              </a:spcBef>
              <a:spcAft>
                <a:spcPts val="0"/>
              </a:spcAft>
            </a:pPr>
            <a:r>
              <a:rPr sz="1450" spc="-47" dirty="0">
                <a:solidFill>
                  <a:srgbClr val="221E1F"/>
                </a:solidFill>
                <a:latin typeface="TOPSIG+FuturaPT-Demi"/>
                <a:cs typeface="TOPSIG+FuturaPT-Demi"/>
              </a:rPr>
              <a:t>AWARDS</a:t>
            </a:r>
          </a:p>
        </p:txBody>
      </p:sp>
      <p:sp>
        <p:nvSpPr>
          <p:cNvPr id="21" name="object 21"/>
          <p:cNvSpPr txBox="1"/>
          <p:nvPr/>
        </p:nvSpPr>
        <p:spPr>
          <a:xfrm>
            <a:off x="8518093" y="7425167"/>
            <a:ext cx="1488464" cy="496162"/>
          </a:xfrm>
          <a:prstGeom prst="rect">
            <a:avLst/>
          </a:prstGeom>
        </p:spPr>
        <p:txBody>
          <a:bodyPr vert="horz" wrap="square" lIns="0" tIns="0" rIns="0" bIns="0" rtlCol="0">
            <a:spAutoFit/>
          </a:bodyPr>
          <a:lstStyle/>
          <a:p>
            <a:pPr marL="0" marR="0">
              <a:lnSpc>
                <a:spcPts val="1758"/>
              </a:lnSpc>
              <a:spcBef>
                <a:spcPts val="0"/>
              </a:spcBef>
              <a:spcAft>
                <a:spcPts val="0"/>
              </a:spcAft>
            </a:pPr>
            <a:r>
              <a:rPr sz="1450" spc="-23" dirty="0">
                <a:solidFill>
                  <a:srgbClr val="221E1F"/>
                </a:solidFill>
                <a:latin typeface="TOPSIG+FuturaPT-Demi"/>
                <a:cs typeface="TOPSIG+FuturaPT-Demi"/>
              </a:rPr>
              <a:t>INTERNATIONAL</a:t>
            </a:r>
          </a:p>
          <a:p>
            <a:pPr marL="116651" marR="0">
              <a:lnSpc>
                <a:spcPts val="1758"/>
              </a:lnSpc>
              <a:spcBef>
                <a:spcPts val="39"/>
              </a:spcBef>
              <a:spcAft>
                <a:spcPts val="0"/>
              </a:spcAft>
            </a:pPr>
            <a:r>
              <a:rPr sz="1450" spc="-20" dirty="0">
                <a:solidFill>
                  <a:srgbClr val="221E1F"/>
                </a:solidFill>
                <a:latin typeface="TOPSIG+FuturaPT-Demi"/>
                <a:cs typeface="TOPSIG+FuturaPT-Demi"/>
              </a:rPr>
              <a:t>CONFERENCE</a:t>
            </a:r>
          </a:p>
        </p:txBody>
      </p:sp>
      <p:sp>
        <p:nvSpPr>
          <p:cNvPr id="22" name="object 22"/>
          <p:cNvSpPr txBox="1"/>
          <p:nvPr/>
        </p:nvSpPr>
        <p:spPr>
          <a:xfrm>
            <a:off x="2269941" y="8661933"/>
            <a:ext cx="1342652" cy="776830"/>
          </a:xfrm>
          <a:prstGeom prst="rect">
            <a:avLst/>
          </a:prstGeom>
        </p:spPr>
        <p:txBody>
          <a:bodyPr vert="horz" wrap="square" lIns="0" tIns="0" rIns="0" bIns="0" rtlCol="0">
            <a:spAutoFit/>
          </a:bodyPr>
          <a:lstStyle/>
          <a:p>
            <a:pPr marL="348162" marR="0">
              <a:lnSpc>
                <a:spcPts val="4260"/>
              </a:lnSpc>
              <a:spcBef>
                <a:spcPts val="0"/>
              </a:spcBef>
              <a:spcAft>
                <a:spcPts val="0"/>
              </a:spcAft>
            </a:pPr>
            <a:r>
              <a:rPr sz="3450" dirty="0">
                <a:solidFill>
                  <a:srgbClr val="221E1F"/>
                </a:solidFill>
                <a:latin typeface="TOPSIG+FuturaPT-Demi"/>
                <a:cs typeface="TOPSIG+FuturaPT-Demi"/>
              </a:rPr>
              <a:t>20</a:t>
            </a:r>
          </a:p>
          <a:p>
            <a:pPr marL="0" marR="0">
              <a:lnSpc>
                <a:spcPts val="1758"/>
              </a:lnSpc>
              <a:spcBef>
                <a:spcPts val="0"/>
              </a:spcBef>
              <a:spcAft>
                <a:spcPts val="0"/>
              </a:spcAft>
            </a:pPr>
            <a:r>
              <a:rPr sz="1450" spc="-22" dirty="0">
                <a:solidFill>
                  <a:srgbClr val="221E1F"/>
                </a:solidFill>
                <a:latin typeface="TOPSIG+FuturaPT-Demi"/>
                <a:cs typeface="TOPSIG+FuturaPT-Demi"/>
              </a:rPr>
              <a:t>PUBLICATIONS</a:t>
            </a:r>
          </a:p>
        </p:txBody>
      </p:sp>
      <p:sp>
        <p:nvSpPr>
          <p:cNvPr id="23" name="object 23"/>
          <p:cNvSpPr txBox="1"/>
          <p:nvPr/>
        </p:nvSpPr>
        <p:spPr>
          <a:xfrm>
            <a:off x="11719858" y="8661933"/>
            <a:ext cx="1269207" cy="530145"/>
          </a:xfrm>
          <a:prstGeom prst="rect">
            <a:avLst/>
          </a:prstGeom>
        </p:spPr>
        <p:txBody>
          <a:bodyPr vert="horz" wrap="square" lIns="0" tIns="0" rIns="0" bIns="0" rtlCol="0">
            <a:spAutoFit/>
          </a:bodyPr>
          <a:lstStyle/>
          <a:p>
            <a:pPr marL="315903" marR="0">
              <a:lnSpc>
                <a:spcPts val="4260"/>
              </a:lnSpc>
              <a:spcBef>
                <a:spcPts val="0"/>
              </a:spcBef>
              <a:spcAft>
                <a:spcPts val="0"/>
              </a:spcAft>
            </a:pPr>
            <a:r>
              <a:rPr sz="3450" spc="-249" dirty="0">
                <a:solidFill>
                  <a:srgbClr val="221E1F"/>
                </a:solidFill>
                <a:latin typeface="TOPSIG+FuturaPT-Demi"/>
                <a:cs typeface="TOPSIG+FuturaPT-Demi"/>
              </a:rPr>
              <a:t>1</a:t>
            </a:r>
          </a:p>
        </p:txBody>
      </p:sp>
      <p:sp>
        <p:nvSpPr>
          <p:cNvPr id="24" name="object 24"/>
          <p:cNvSpPr txBox="1"/>
          <p:nvPr/>
        </p:nvSpPr>
        <p:spPr>
          <a:xfrm>
            <a:off x="8754358" y="8836059"/>
            <a:ext cx="1022948" cy="261420"/>
          </a:xfrm>
          <a:prstGeom prst="rect">
            <a:avLst/>
          </a:prstGeom>
        </p:spPr>
        <p:txBody>
          <a:bodyPr vert="horz" wrap="square" lIns="0" tIns="0" rIns="0" bIns="0" rtlCol="0">
            <a:spAutoFit/>
          </a:bodyPr>
          <a:lstStyle/>
          <a:p>
            <a:pPr marL="0" marR="0">
              <a:lnSpc>
                <a:spcPts val="1758"/>
              </a:lnSpc>
              <a:spcBef>
                <a:spcPts val="0"/>
              </a:spcBef>
              <a:spcAft>
                <a:spcPts val="0"/>
              </a:spcAft>
            </a:pPr>
            <a:r>
              <a:rPr sz="1450" spc="-30" dirty="0">
                <a:solidFill>
                  <a:srgbClr val="221E1F"/>
                </a:solidFill>
                <a:latin typeface="TOPSIG+FuturaPT-Demi"/>
                <a:cs typeface="TOPSIG+FuturaPT-Demi"/>
              </a:rPr>
              <a:t>CITATIONS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5113000" cy="106807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13445" y="6947775"/>
            <a:ext cx="5107177" cy="437057"/>
          </a:xfrm>
          <a:prstGeom prst="rect">
            <a:avLst/>
          </a:prstGeom>
        </p:spPr>
        <p:txBody>
          <a:bodyPr vert="horz" wrap="square" lIns="0" tIns="0" rIns="0" bIns="0" rtlCol="0">
            <a:spAutoFit/>
          </a:bodyPr>
          <a:lstStyle/>
          <a:p>
            <a:pPr marL="0" marR="0">
              <a:lnSpc>
                <a:spcPts val="3091"/>
              </a:lnSpc>
              <a:spcBef>
                <a:spcPts val="0"/>
              </a:spcBef>
              <a:spcAft>
                <a:spcPts val="0"/>
              </a:spcAft>
            </a:pPr>
            <a:r>
              <a:rPr sz="2600" spc="-10" dirty="0">
                <a:solidFill>
                  <a:srgbClr val="FFFFFF"/>
                </a:solidFill>
                <a:latin typeface="VGMJUH+FuturaBT-Medium"/>
                <a:cs typeface="VGMJUH+FuturaBT-Medium"/>
              </a:rPr>
              <a:t>Clinical</a:t>
            </a:r>
            <a:r>
              <a:rPr sz="2600" dirty="0">
                <a:solidFill>
                  <a:srgbClr val="FFFFFF"/>
                </a:solidFill>
                <a:latin typeface="VGMJUH+FuturaBT-Medium"/>
                <a:cs typeface="VGMJUH+FuturaBT-Medium"/>
              </a:rPr>
              <a:t> </a:t>
            </a:r>
            <a:r>
              <a:rPr sz="2600" spc="-12" dirty="0">
                <a:solidFill>
                  <a:srgbClr val="FFFFFF"/>
                </a:solidFill>
                <a:latin typeface="VGMJUH+FuturaBT-Medium"/>
                <a:cs typeface="VGMJUH+FuturaBT-Medium"/>
              </a:rPr>
              <a:t>Documentation:</a:t>
            </a:r>
            <a:r>
              <a:rPr sz="2600" spc="3553" dirty="0">
                <a:solidFill>
                  <a:srgbClr val="FFFFFF"/>
                </a:solidFill>
                <a:latin typeface="VGMJUH+FuturaBT-Medium"/>
                <a:cs typeface="VGMJUH+FuturaBT-Medium"/>
              </a:rPr>
              <a:t> </a:t>
            </a:r>
            <a:r>
              <a:rPr sz="2600" spc="-13" dirty="0">
                <a:solidFill>
                  <a:srgbClr val="FFFFFF"/>
                </a:solidFill>
                <a:latin typeface="VGMJUH+FuturaBT-Medium"/>
                <a:cs typeface="VGMJUH+FuturaBT-Medium"/>
              </a:rPr>
              <a:t>3590</a:t>
            </a:r>
          </a:p>
        </p:txBody>
      </p:sp>
      <p:sp>
        <p:nvSpPr>
          <p:cNvPr id="4" name="object 4"/>
          <p:cNvSpPr txBox="1"/>
          <p:nvPr/>
        </p:nvSpPr>
        <p:spPr>
          <a:xfrm>
            <a:off x="7743319" y="7901566"/>
            <a:ext cx="3635807" cy="430675"/>
          </a:xfrm>
          <a:prstGeom prst="rect">
            <a:avLst/>
          </a:prstGeom>
        </p:spPr>
        <p:txBody>
          <a:bodyPr vert="horz" wrap="square" lIns="0" tIns="0" rIns="0" bIns="0" rtlCol="0">
            <a:spAutoFit/>
          </a:bodyPr>
          <a:lstStyle/>
          <a:p>
            <a:pPr marL="0" marR="0">
              <a:lnSpc>
                <a:spcPts val="3091"/>
              </a:lnSpc>
              <a:spcBef>
                <a:spcPts val="0"/>
              </a:spcBef>
              <a:spcAft>
                <a:spcPts val="0"/>
              </a:spcAft>
            </a:pPr>
            <a:r>
              <a:rPr sz="2600" spc="-10" dirty="0">
                <a:solidFill>
                  <a:srgbClr val="FFFFFF"/>
                </a:solidFill>
                <a:latin typeface="VGMJUH+FuturaBT-Medium"/>
                <a:cs typeface="VGMJUH+FuturaBT-Medium"/>
              </a:rPr>
              <a:t>Digital</a:t>
            </a:r>
            <a:r>
              <a:rPr sz="2600" dirty="0">
                <a:solidFill>
                  <a:srgbClr val="FFFFFF"/>
                </a:solidFill>
                <a:latin typeface="VGMJUH+FuturaBT-Medium"/>
                <a:cs typeface="VGMJUH+FuturaBT-Medium"/>
              </a:rPr>
              <a:t> </a:t>
            </a:r>
            <a:r>
              <a:rPr sz="2600" spc="-12" dirty="0">
                <a:solidFill>
                  <a:srgbClr val="FFFFFF"/>
                </a:solidFill>
                <a:latin typeface="VGMJUH+FuturaBT-Medium"/>
                <a:cs typeface="VGMJUH+FuturaBT-Medium"/>
              </a:rPr>
              <a:t>Documentation:</a:t>
            </a:r>
          </a:p>
        </p:txBody>
      </p:sp>
      <p:sp>
        <p:nvSpPr>
          <p:cNvPr id="5" name="object 5"/>
          <p:cNvSpPr txBox="1"/>
          <p:nvPr/>
        </p:nvSpPr>
        <p:spPr>
          <a:xfrm>
            <a:off x="11777180" y="7922846"/>
            <a:ext cx="943443" cy="430675"/>
          </a:xfrm>
          <a:prstGeom prst="rect">
            <a:avLst/>
          </a:prstGeom>
        </p:spPr>
        <p:txBody>
          <a:bodyPr vert="horz" wrap="square" lIns="0" tIns="0" rIns="0" bIns="0" rtlCol="0">
            <a:spAutoFit/>
          </a:bodyPr>
          <a:lstStyle/>
          <a:p>
            <a:pPr marL="0" marR="0">
              <a:lnSpc>
                <a:spcPts val="3091"/>
              </a:lnSpc>
              <a:spcBef>
                <a:spcPts val="0"/>
              </a:spcBef>
              <a:spcAft>
                <a:spcPts val="0"/>
              </a:spcAft>
            </a:pPr>
            <a:r>
              <a:rPr sz="2600" spc="-13" dirty="0">
                <a:solidFill>
                  <a:srgbClr val="FFFFFF"/>
                </a:solidFill>
                <a:latin typeface="VGMJUH+FuturaBT-Medium"/>
                <a:cs typeface="VGMJUH+FuturaBT-Medium"/>
              </a:rPr>
              <a:t>3590</a:t>
            </a:r>
          </a:p>
        </p:txBody>
      </p:sp>
      <p:sp>
        <p:nvSpPr>
          <p:cNvPr id="6" name="object 6"/>
          <p:cNvSpPr txBox="1"/>
          <p:nvPr/>
        </p:nvSpPr>
        <p:spPr>
          <a:xfrm>
            <a:off x="11777180" y="8913898"/>
            <a:ext cx="1734487" cy="430675"/>
          </a:xfrm>
          <a:prstGeom prst="rect">
            <a:avLst/>
          </a:prstGeom>
        </p:spPr>
        <p:txBody>
          <a:bodyPr vert="horz" wrap="square" lIns="0" tIns="0" rIns="0" bIns="0" rtlCol="0">
            <a:spAutoFit/>
          </a:bodyPr>
          <a:lstStyle/>
          <a:p>
            <a:pPr marL="0" marR="0">
              <a:lnSpc>
                <a:spcPts val="3091"/>
              </a:lnSpc>
              <a:spcBef>
                <a:spcPts val="0"/>
              </a:spcBef>
              <a:spcAft>
                <a:spcPts val="0"/>
              </a:spcAft>
            </a:pPr>
            <a:r>
              <a:rPr sz="2600" spc="-12" dirty="0">
                <a:solidFill>
                  <a:srgbClr val="FFFFFF"/>
                </a:solidFill>
                <a:latin typeface="VGMJUH+FuturaBT-Medium"/>
                <a:cs typeface="VGMJUH+FuturaBT-Medium"/>
              </a:rPr>
              <a:t>36,30,500</a:t>
            </a:r>
          </a:p>
        </p:txBody>
      </p:sp>
      <p:sp>
        <p:nvSpPr>
          <p:cNvPr id="7" name="object 7"/>
          <p:cNvSpPr txBox="1"/>
          <p:nvPr/>
        </p:nvSpPr>
        <p:spPr>
          <a:xfrm>
            <a:off x="6744579" y="8942053"/>
            <a:ext cx="4634765" cy="430675"/>
          </a:xfrm>
          <a:prstGeom prst="rect">
            <a:avLst/>
          </a:prstGeom>
        </p:spPr>
        <p:txBody>
          <a:bodyPr vert="horz" wrap="square" lIns="0" tIns="0" rIns="0" bIns="0" rtlCol="0">
            <a:spAutoFit/>
          </a:bodyPr>
          <a:lstStyle/>
          <a:p>
            <a:pPr marL="0" marR="0">
              <a:lnSpc>
                <a:spcPts val="3091"/>
              </a:lnSpc>
              <a:spcBef>
                <a:spcPts val="0"/>
              </a:spcBef>
              <a:spcAft>
                <a:spcPts val="0"/>
              </a:spcAft>
            </a:pPr>
            <a:r>
              <a:rPr sz="2600" spc="-11" dirty="0">
                <a:solidFill>
                  <a:srgbClr val="FFFFFF"/>
                </a:solidFill>
                <a:latin typeface="VGMJUH+FuturaBT-Medium"/>
                <a:cs typeface="VGMJUH+FuturaBT-Medium"/>
              </a:rPr>
              <a:t>Cumulative</a:t>
            </a:r>
            <a:r>
              <a:rPr sz="2600" dirty="0">
                <a:solidFill>
                  <a:srgbClr val="FFFFFF"/>
                </a:solidFill>
                <a:latin typeface="VGMJUH+FuturaBT-Medium"/>
                <a:cs typeface="VGMJUH+FuturaBT-Medium"/>
              </a:rPr>
              <a:t> </a:t>
            </a:r>
            <a:r>
              <a:rPr sz="2600" spc="-10" dirty="0">
                <a:solidFill>
                  <a:srgbClr val="FFFFFF"/>
                </a:solidFill>
                <a:latin typeface="VGMJUH+FuturaBT-Medium"/>
                <a:cs typeface="VGMJUH+FuturaBT-Medium"/>
              </a:rPr>
              <a:t>Clinical</a:t>
            </a:r>
            <a:r>
              <a:rPr sz="2600" dirty="0">
                <a:solidFill>
                  <a:srgbClr val="FFFFFF"/>
                </a:solidFill>
                <a:latin typeface="VGMJUH+FuturaBT-Medium"/>
                <a:cs typeface="VGMJUH+FuturaBT-Medium"/>
              </a:rPr>
              <a:t> </a:t>
            </a:r>
            <a:r>
              <a:rPr sz="2600" spc="-19" dirty="0">
                <a:solidFill>
                  <a:srgbClr val="FFFFFF"/>
                </a:solidFill>
                <a:latin typeface="VGMJUH+FuturaBT-Medium"/>
                <a:cs typeface="VGMJUH+FuturaBT-Medium"/>
              </a:rPr>
              <a:t>Revenue</a:t>
            </a:r>
            <a:r>
              <a:rPr sz="2600" dirty="0">
                <a:solidFill>
                  <a:srgbClr val="FFFFFF"/>
                </a:solidFill>
                <a:latin typeface="VGMJUH+FuturaBT-Medium"/>
                <a:cs typeface="VGMJUH+FuturaBT-Medium"/>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3425" y="1588449"/>
            <a:ext cx="5588000" cy="4137346"/>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r>
              <a:rPr lang="en-US" sz="1100" b="1" dirty="0">
                <a:solidFill>
                  <a:srgbClr val="808080"/>
                </a:solidFill>
                <a:ea typeface="Calibri"/>
              </a:rPr>
              <a:t>Image</a:t>
            </a:r>
          </a:p>
          <a:p>
            <a:pPr algn="ctr">
              <a:lnSpc>
                <a:spcPct val="114000"/>
              </a:lnSpc>
              <a:spcAft>
                <a:spcPts val="1000"/>
              </a:spcAft>
            </a:pPr>
            <a:r>
              <a:rPr lang="en-US" sz="1100" b="1" dirty="0">
                <a:solidFill>
                  <a:srgbClr val="808080"/>
                </a:solidFill>
                <a:ea typeface="Calibri"/>
              </a:rPr>
              <a:t>Radiological/ Specimen</a:t>
            </a:r>
            <a:endParaRPr lang="en-US" sz="1100" dirty="0">
              <a:ea typeface="Calibri"/>
            </a:endParaRPr>
          </a:p>
          <a:p>
            <a:pPr>
              <a:lnSpc>
                <a:spcPct val="114000"/>
              </a:lnSpc>
              <a:spcAft>
                <a:spcPts val="1000"/>
              </a:spcAft>
            </a:pPr>
            <a:r>
              <a:rPr lang="en-US" sz="1100" dirty="0">
                <a:effectLst/>
                <a:latin typeface="Calibri"/>
                <a:ea typeface="Calibri"/>
              </a:rPr>
              <a:t> </a:t>
            </a:r>
          </a:p>
        </p:txBody>
      </p:sp>
      <p:sp>
        <p:nvSpPr>
          <p:cNvPr id="5" name="Rectangle 4"/>
          <p:cNvSpPr/>
          <p:nvPr/>
        </p:nvSpPr>
        <p:spPr>
          <a:xfrm>
            <a:off x="6505785" y="1588449"/>
            <a:ext cx="5659227" cy="252776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200" b="1" dirty="0">
                <a:solidFill>
                  <a:srgbClr val="000000"/>
                </a:solidFill>
                <a:latin typeface="Cambria"/>
                <a:ea typeface="Cambria"/>
                <a:cs typeface="Cambria"/>
              </a:rPr>
              <a:t>Brief Clinical History:</a:t>
            </a:r>
            <a:endParaRPr lang="en-US" sz="1100" dirty="0">
              <a:ea typeface="Calibri"/>
            </a:endParaRPr>
          </a:p>
        </p:txBody>
      </p:sp>
      <p:sp>
        <p:nvSpPr>
          <p:cNvPr id="6" name="Rectangle 5"/>
          <p:cNvSpPr/>
          <p:nvPr/>
        </p:nvSpPr>
        <p:spPr>
          <a:xfrm>
            <a:off x="6505786" y="4260231"/>
            <a:ext cx="7963482" cy="1872208"/>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b="1" dirty="0">
                <a:effectLst/>
                <a:latin typeface="Calibri"/>
                <a:ea typeface="Calibri"/>
              </a:rPr>
              <a:t>Patient’s workup:</a:t>
            </a:r>
          </a:p>
        </p:txBody>
      </p:sp>
      <p:sp>
        <p:nvSpPr>
          <p:cNvPr id="7" name="Rectangle 6"/>
          <p:cNvSpPr/>
          <p:nvPr/>
        </p:nvSpPr>
        <p:spPr>
          <a:xfrm>
            <a:off x="733425" y="5972175"/>
            <a:ext cx="5588000" cy="36576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a typeface="Calibri"/>
              </a:rPr>
              <a:t> </a:t>
            </a:r>
          </a:p>
          <a:p>
            <a:pPr algn="ctr">
              <a:lnSpc>
                <a:spcPct val="114000"/>
              </a:lnSpc>
              <a:spcAft>
                <a:spcPts val="1000"/>
              </a:spcAft>
            </a:pPr>
            <a:r>
              <a:rPr lang="en-US" sz="1100" b="1" dirty="0">
                <a:solidFill>
                  <a:srgbClr val="808080"/>
                </a:solidFill>
                <a:ea typeface="Calibri"/>
              </a:rPr>
              <a:t>USG/ ECHO/Microscopic</a:t>
            </a:r>
            <a:endParaRPr lang="en-US" sz="1100" dirty="0">
              <a:ea typeface="Calibri"/>
            </a:endParaRPr>
          </a:p>
          <a:p>
            <a:pPr>
              <a:lnSpc>
                <a:spcPct val="114000"/>
              </a:lnSpc>
              <a:spcAft>
                <a:spcPts val="1000"/>
              </a:spcAft>
            </a:pPr>
            <a:r>
              <a:rPr lang="en-US" sz="1100" b="1" dirty="0">
                <a:solidFill>
                  <a:srgbClr val="808080"/>
                </a:solidFill>
                <a:effectLst/>
                <a:latin typeface="Calibri"/>
                <a:ea typeface="Calibri"/>
              </a:rPr>
              <a:t>                                    	                   Image</a:t>
            </a:r>
            <a:endParaRPr lang="en-US" sz="1100" dirty="0">
              <a:effectLst/>
              <a:latin typeface="Calibri"/>
              <a:ea typeface="Calibri"/>
            </a:endParaRPr>
          </a:p>
        </p:txBody>
      </p:sp>
      <p:sp>
        <p:nvSpPr>
          <p:cNvPr id="8" name="Rectangle 7"/>
          <p:cNvSpPr/>
          <p:nvPr/>
        </p:nvSpPr>
        <p:spPr>
          <a:xfrm>
            <a:off x="6505785" y="7932638"/>
            <a:ext cx="7963482" cy="1690152"/>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200" b="1" dirty="0">
                <a:solidFill>
                  <a:srgbClr val="000000"/>
                </a:solidFill>
                <a:latin typeface="Cambria"/>
                <a:ea typeface="Cambria"/>
                <a:cs typeface="Cambria"/>
              </a:rPr>
              <a:t>Management</a:t>
            </a:r>
            <a:r>
              <a:rPr lang="en-US" sz="1200" b="1" dirty="0">
                <a:solidFill>
                  <a:srgbClr val="000000"/>
                </a:solidFill>
                <a:effectLst/>
                <a:latin typeface="Cambria"/>
                <a:ea typeface="Cambria"/>
                <a:cs typeface="Cambria"/>
              </a:rPr>
              <a:t>:</a:t>
            </a:r>
            <a:endParaRPr lang="en-US" sz="1100" dirty="0">
              <a:effectLst/>
              <a:latin typeface="Calibri"/>
              <a:ea typeface="Calibri"/>
            </a:endParaRPr>
          </a:p>
        </p:txBody>
      </p:sp>
      <p:sp>
        <p:nvSpPr>
          <p:cNvPr id="9" name="Rectangle 6"/>
          <p:cNvSpPr>
            <a:spLocks noChangeArrowheads="1"/>
          </p:cNvSpPr>
          <p:nvPr/>
        </p:nvSpPr>
        <p:spPr bwMode="auto">
          <a:xfrm>
            <a:off x="152400" y="299592"/>
            <a:ext cx="1957458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2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Cambria" pitchFamily="18" charset="0"/>
                <a:ea typeface="Times New Roman" pitchFamily="18" charset="0"/>
                <a:cs typeface="Times New Roman" pitchFamily="18" charset="0"/>
              </a:rPr>
              <a:t>						A case of </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2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Cambria" pitchFamily="18" charset="0"/>
                <a:ea typeface="Calibri" pitchFamily="34" charset="0"/>
                <a:cs typeface="Arial" pitchFamily="34" charset="0"/>
              </a:rPr>
              <a:t>      S.no:                  PID:					Age:			Gender:		     Diagnosis: </a:t>
            </a:r>
            <a:r>
              <a:rPr kumimoji="0" lang="en-US" sz="1400" b="1" i="0" u="none" strike="noStrike" cap="none" normalizeH="0" baseline="0" dirty="0">
                <a:ln>
                  <a:noFill/>
                </a:ln>
                <a:solidFill>
                  <a:schemeClr val="tx1"/>
                </a:solidFill>
                <a:effectLst/>
                <a:latin typeface="Cambria" pitchFamily="18" charset="0"/>
                <a:ea typeface="Calibri" pitchFamily="34" charset="0"/>
                <a:cs typeface="Arial" pitchFamily="34" charset="0"/>
              </a:rPr>
              <a:t>								</a:t>
            </a: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0" name="Rectangle 7"/>
          <p:cNvSpPr>
            <a:spLocks noChangeArrowheads="1"/>
          </p:cNvSpPr>
          <p:nvPr/>
        </p:nvSpPr>
        <p:spPr bwMode="auto">
          <a:xfrm>
            <a:off x="152400" y="609600"/>
            <a:ext cx="151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3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1" name="Rectangle 8"/>
          <p:cNvSpPr>
            <a:spLocks noChangeArrowheads="1"/>
          </p:cNvSpPr>
          <p:nvPr/>
        </p:nvSpPr>
        <p:spPr bwMode="auto">
          <a:xfrm>
            <a:off x="152400" y="782107"/>
            <a:ext cx="184731"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952625" algn="l"/>
              </a:tabLst>
            </a:pP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2" name="Rectangle 9"/>
          <p:cNvSpPr>
            <a:spLocks noChangeArrowheads="1"/>
          </p:cNvSpPr>
          <p:nvPr/>
        </p:nvSpPr>
        <p:spPr bwMode="auto">
          <a:xfrm>
            <a:off x="152400" y="1066800"/>
            <a:ext cx="15113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4" name="TextBox 13"/>
          <p:cNvSpPr txBox="1"/>
          <p:nvPr/>
        </p:nvSpPr>
        <p:spPr>
          <a:xfrm>
            <a:off x="227015" y="9866982"/>
            <a:ext cx="12557541" cy="400110"/>
          </a:xfrm>
          <a:prstGeom prst="rect">
            <a:avLst/>
          </a:prstGeom>
          <a:noFill/>
        </p:spPr>
        <p:txBody>
          <a:bodyPr wrap="square" rtlCol="0">
            <a:spAutoFit/>
          </a:bodyPr>
          <a:lstStyle/>
          <a:p>
            <a:r>
              <a:rPr lang="en-US" sz="2000" b="1" dirty="0"/>
              <a:t>       Approved by:- Name:			                      	Designation: 		                                  Signature:</a:t>
            </a:r>
          </a:p>
        </p:txBody>
      </p:sp>
      <p:sp>
        <p:nvSpPr>
          <p:cNvPr id="15" name="Rectangle 14"/>
          <p:cNvSpPr/>
          <p:nvPr/>
        </p:nvSpPr>
        <p:spPr>
          <a:xfrm>
            <a:off x="12309028" y="1588449"/>
            <a:ext cx="2160240" cy="252776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r>
              <a:rPr lang="en-US" sz="1100" b="1" dirty="0">
                <a:solidFill>
                  <a:srgbClr val="808080"/>
                </a:solidFill>
                <a:effectLst/>
                <a:latin typeface="Calibri"/>
                <a:ea typeface="Calibri"/>
              </a:rPr>
              <a:t>Patient Image </a:t>
            </a:r>
            <a:endParaRPr lang="en-US" sz="1100" dirty="0">
              <a:effectLst/>
              <a:latin typeface="Calibri"/>
              <a:ea typeface="Calibri"/>
            </a:endParaRPr>
          </a:p>
          <a:p>
            <a:pPr>
              <a:lnSpc>
                <a:spcPct val="114000"/>
              </a:lnSpc>
              <a:spcAft>
                <a:spcPts val="1000"/>
              </a:spcAft>
            </a:pPr>
            <a:r>
              <a:rPr lang="en-US" sz="1100" dirty="0">
                <a:effectLst/>
                <a:latin typeface="Calibri"/>
                <a:ea typeface="Calibri"/>
              </a:rPr>
              <a:t> </a:t>
            </a:r>
          </a:p>
        </p:txBody>
      </p:sp>
      <p:sp>
        <p:nvSpPr>
          <p:cNvPr id="2" name="TextBox 1"/>
          <p:cNvSpPr txBox="1"/>
          <p:nvPr/>
        </p:nvSpPr>
        <p:spPr>
          <a:xfrm>
            <a:off x="337131" y="299592"/>
            <a:ext cx="1962785" cy="276999"/>
          </a:xfrm>
          <a:prstGeom prst="rect">
            <a:avLst/>
          </a:prstGeom>
          <a:noFill/>
        </p:spPr>
        <p:txBody>
          <a:bodyPr wrap="square" rtlCol="0">
            <a:spAutoFit/>
          </a:bodyPr>
          <a:lstStyle/>
          <a:p>
            <a:r>
              <a:rPr lang="en-US" sz="1200" dirty="0"/>
              <a:t>Student Name:</a:t>
            </a:r>
          </a:p>
        </p:txBody>
      </p:sp>
      <p:sp>
        <p:nvSpPr>
          <p:cNvPr id="17" name="TextBox 16"/>
          <p:cNvSpPr txBox="1"/>
          <p:nvPr/>
        </p:nvSpPr>
        <p:spPr>
          <a:xfrm>
            <a:off x="12506483" y="290670"/>
            <a:ext cx="1962785" cy="276999"/>
          </a:xfrm>
          <a:prstGeom prst="rect">
            <a:avLst/>
          </a:prstGeom>
          <a:noFill/>
        </p:spPr>
        <p:txBody>
          <a:bodyPr wrap="square" rtlCol="0">
            <a:spAutoFit/>
          </a:bodyPr>
          <a:lstStyle/>
          <a:p>
            <a:r>
              <a:rPr lang="en-US" sz="1200" dirty="0"/>
              <a:t>Reg no:</a:t>
            </a:r>
          </a:p>
        </p:txBody>
      </p:sp>
      <p:sp>
        <p:nvSpPr>
          <p:cNvPr id="16" name="Rectangle 15"/>
          <p:cNvSpPr/>
          <p:nvPr/>
        </p:nvSpPr>
        <p:spPr>
          <a:xfrm>
            <a:off x="6505786" y="6315058"/>
            <a:ext cx="7963482" cy="1440159"/>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b="1" dirty="0">
                <a:effectLst/>
                <a:latin typeface="Calibri"/>
                <a:ea typeface="Calibri"/>
              </a:rPr>
              <a:t>Clinical insights/ Differential Diagnosis:</a:t>
            </a:r>
          </a:p>
        </p:txBody>
      </p:sp>
    </p:spTree>
    <p:extLst>
      <p:ext uri="{BB962C8B-B14F-4D97-AF65-F5344CB8AC3E}">
        <p14:creationId xmlns:p14="http://schemas.microsoft.com/office/powerpoint/2010/main" val="4174496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3425" y="1588449"/>
            <a:ext cx="5588000" cy="8034342"/>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endParaRPr lang="en-US" sz="1100" b="1" dirty="0">
              <a:solidFill>
                <a:srgbClr val="808080"/>
              </a:solidFill>
              <a:ea typeface="Calibri"/>
            </a:endParaRPr>
          </a:p>
          <a:p>
            <a:pPr algn="ctr">
              <a:lnSpc>
                <a:spcPct val="114000"/>
              </a:lnSpc>
              <a:spcAft>
                <a:spcPts val="1000"/>
              </a:spcAft>
            </a:pPr>
            <a:r>
              <a:rPr lang="en-US" sz="1100" b="1" dirty="0">
                <a:solidFill>
                  <a:srgbClr val="808080"/>
                </a:solidFill>
                <a:ea typeface="Calibri"/>
              </a:rPr>
              <a:t>Image</a:t>
            </a:r>
          </a:p>
          <a:p>
            <a:pPr algn="ctr">
              <a:lnSpc>
                <a:spcPct val="114000"/>
              </a:lnSpc>
              <a:spcAft>
                <a:spcPts val="1000"/>
              </a:spcAft>
            </a:pPr>
            <a:r>
              <a:rPr lang="en-US" sz="1100" b="1" dirty="0">
                <a:solidFill>
                  <a:srgbClr val="808080"/>
                </a:solidFill>
                <a:ea typeface="Calibri"/>
              </a:rPr>
              <a:t>Radiological/ Specimen</a:t>
            </a:r>
            <a:endParaRPr lang="en-US" sz="1100" dirty="0">
              <a:ea typeface="Calibri"/>
            </a:endParaRPr>
          </a:p>
          <a:p>
            <a:pPr>
              <a:lnSpc>
                <a:spcPct val="114000"/>
              </a:lnSpc>
              <a:spcAft>
                <a:spcPts val="1000"/>
              </a:spcAft>
            </a:pPr>
            <a:r>
              <a:rPr lang="en-US" sz="1100" dirty="0">
                <a:effectLst/>
                <a:latin typeface="Calibri"/>
                <a:ea typeface="Calibri"/>
              </a:rPr>
              <a:t> </a:t>
            </a:r>
          </a:p>
        </p:txBody>
      </p:sp>
      <p:sp>
        <p:nvSpPr>
          <p:cNvPr id="5" name="Rectangle 4"/>
          <p:cNvSpPr/>
          <p:nvPr/>
        </p:nvSpPr>
        <p:spPr>
          <a:xfrm>
            <a:off x="6505785" y="1588449"/>
            <a:ext cx="5731235" cy="2239733"/>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200" b="1" dirty="0">
                <a:solidFill>
                  <a:srgbClr val="000000"/>
                </a:solidFill>
                <a:latin typeface="Cambria"/>
                <a:ea typeface="Cambria"/>
                <a:cs typeface="Cambria"/>
              </a:rPr>
              <a:t>Brief Clinical History:</a:t>
            </a:r>
            <a:endParaRPr lang="en-US" sz="1100" dirty="0">
              <a:ea typeface="Calibri"/>
            </a:endParaRPr>
          </a:p>
        </p:txBody>
      </p:sp>
      <p:sp>
        <p:nvSpPr>
          <p:cNvPr id="6" name="Rectangle 5"/>
          <p:cNvSpPr/>
          <p:nvPr/>
        </p:nvSpPr>
        <p:spPr>
          <a:xfrm>
            <a:off x="6505786" y="4044206"/>
            <a:ext cx="7963482" cy="2160239"/>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b="1" dirty="0">
                <a:effectLst/>
                <a:latin typeface="Calibri"/>
                <a:ea typeface="Calibri"/>
              </a:rPr>
              <a:t>Patient’s workup:</a:t>
            </a:r>
          </a:p>
        </p:txBody>
      </p:sp>
      <p:sp>
        <p:nvSpPr>
          <p:cNvPr id="8" name="Rectangle 7"/>
          <p:cNvSpPr/>
          <p:nvPr/>
        </p:nvSpPr>
        <p:spPr>
          <a:xfrm>
            <a:off x="6505786" y="7860631"/>
            <a:ext cx="7963482" cy="176216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200" b="1" dirty="0">
                <a:solidFill>
                  <a:srgbClr val="000000"/>
                </a:solidFill>
                <a:latin typeface="Cambria"/>
                <a:ea typeface="Cambria"/>
                <a:cs typeface="Cambria"/>
              </a:rPr>
              <a:t>Management :</a:t>
            </a:r>
            <a:endParaRPr lang="en-US" sz="1100" dirty="0">
              <a:ea typeface="Calibri"/>
            </a:endParaRPr>
          </a:p>
        </p:txBody>
      </p:sp>
      <p:sp>
        <p:nvSpPr>
          <p:cNvPr id="9" name="Rectangle 6"/>
          <p:cNvSpPr>
            <a:spLocks noChangeArrowheads="1"/>
          </p:cNvSpPr>
          <p:nvPr/>
        </p:nvSpPr>
        <p:spPr bwMode="auto">
          <a:xfrm>
            <a:off x="152400" y="299592"/>
            <a:ext cx="1957458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2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Cambria" pitchFamily="18" charset="0"/>
                <a:ea typeface="Times New Roman" pitchFamily="18" charset="0"/>
                <a:cs typeface="Times New Roman" pitchFamily="18" charset="0"/>
              </a:rPr>
              <a:t>						A case of </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2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Cambria" pitchFamily="18" charset="0"/>
                <a:ea typeface="Calibri" pitchFamily="34" charset="0"/>
                <a:cs typeface="Arial" pitchFamily="34" charset="0"/>
              </a:rPr>
              <a:t>      S.no:                  PID:					Age:			Gender:		     Diagnosis: </a:t>
            </a:r>
            <a:r>
              <a:rPr kumimoji="0" lang="en-US" sz="1400" b="1" i="0" u="none" strike="noStrike" cap="none" normalizeH="0" baseline="0" dirty="0">
                <a:ln>
                  <a:noFill/>
                </a:ln>
                <a:solidFill>
                  <a:schemeClr val="tx1"/>
                </a:solidFill>
                <a:effectLst/>
                <a:latin typeface="Cambria" pitchFamily="18" charset="0"/>
                <a:ea typeface="Calibri" pitchFamily="34" charset="0"/>
                <a:cs typeface="Arial" pitchFamily="34" charset="0"/>
              </a:rPr>
              <a:t>								</a:t>
            </a: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0" name="Rectangle 7"/>
          <p:cNvSpPr>
            <a:spLocks noChangeArrowheads="1"/>
          </p:cNvSpPr>
          <p:nvPr/>
        </p:nvSpPr>
        <p:spPr bwMode="auto">
          <a:xfrm>
            <a:off x="152400" y="609600"/>
            <a:ext cx="151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3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1" name="Rectangle 8"/>
          <p:cNvSpPr>
            <a:spLocks noChangeArrowheads="1"/>
          </p:cNvSpPr>
          <p:nvPr/>
        </p:nvSpPr>
        <p:spPr bwMode="auto">
          <a:xfrm>
            <a:off x="152400" y="782107"/>
            <a:ext cx="184731"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952625" algn="l"/>
              </a:tabLst>
            </a:pPr>
            <a:endParaRPr kumimoji="0" lang="en-US" sz="1300" b="0" i="0" u="none" strike="noStrike" cap="none" normalizeH="0" baseline="0" dirty="0">
              <a:ln>
                <a:noFill/>
              </a:ln>
              <a:solidFill>
                <a:schemeClr val="tx1"/>
              </a:solidFill>
              <a:effectLst/>
              <a:latin typeface="Arial" pitchFamily="34" charset="0"/>
              <a:cs typeface="Arial" pitchFamily="34" charset="0"/>
            </a:endParaRPr>
          </a:p>
        </p:txBody>
      </p:sp>
      <p:sp>
        <p:nvSpPr>
          <p:cNvPr id="12" name="Rectangle 9"/>
          <p:cNvSpPr>
            <a:spLocks noChangeArrowheads="1"/>
          </p:cNvSpPr>
          <p:nvPr/>
        </p:nvSpPr>
        <p:spPr bwMode="auto">
          <a:xfrm>
            <a:off x="152400" y="1066800"/>
            <a:ext cx="15113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95262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4" name="TextBox 13"/>
          <p:cNvSpPr txBox="1"/>
          <p:nvPr/>
        </p:nvSpPr>
        <p:spPr>
          <a:xfrm>
            <a:off x="227015" y="9866982"/>
            <a:ext cx="12557541" cy="400110"/>
          </a:xfrm>
          <a:prstGeom prst="rect">
            <a:avLst/>
          </a:prstGeom>
          <a:noFill/>
        </p:spPr>
        <p:txBody>
          <a:bodyPr wrap="square" rtlCol="0">
            <a:spAutoFit/>
          </a:bodyPr>
          <a:lstStyle/>
          <a:p>
            <a:r>
              <a:rPr lang="en-US" sz="2000" b="1" dirty="0"/>
              <a:t>       Approved by:- Name:			                      	Designation: 		                                  Signature:</a:t>
            </a:r>
          </a:p>
        </p:txBody>
      </p:sp>
      <p:sp>
        <p:nvSpPr>
          <p:cNvPr id="15" name="Rectangle 14"/>
          <p:cNvSpPr/>
          <p:nvPr/>
        </p:nvSpPr>
        <p:spPr>
          <a:xfrm>
            <a:off x="12506483" y="1588449"/>
            <a:ext cx="1962785" cy="2239733"/>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dirty="0">
                <a:effectLst/>
                <a:latin typeface="Calibri"/>
                <a:ea typeface="Calibri"/>
              </a:rPr>
              <a:t> </a:t>
            </a:r>
          </a:p>
          <a:p>
            <a:pPr algn="ctr">
              <a:lnSpc>
                <a:spcPct val="114000"/>
              </a:lnSpc>
              <a:spcAft>
                <a:spcPts val="1000"/>
              </a:spcAft>
            </a:pPr>
            <a:r>
              <a:rPr lang="en-US" sz="1100" dirty="0">
                <a:effectLst/>
                <a:latin typeface="Calibri"/>
                <a:ea typeface="Calibri"/>
              </a:rPr>
              <a:t> </a:t>
            </a: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endParaRPr lang="en-US" sz="1100" b="1" dirty="0">
              <a:solidFill>
                <a:srgbClr val="808080"/>
              </a:solidFill>
              <a:latin typeface="Calibri"/>
              <a:ea typeface="Calibri"/>
            </a:endParaRPr>
          </a:p>
          <a:p>
            <a:pPr algn="ctr">
              <a:lnSpc>
                <a:spcPct val="114000"/>
              </a:lnSpc>
              <a:spcAft>
                <a:spcPts val="1000"/>
              </a:spcAft>
            </a:pPr>
            <a:endParaRPr lang="en-US" sz="1100" b="1" dirty="0">
              <a:solidFill>
                <a:srgbClr val="808080"/>
              </a:solidFill>
              <a:effectLst/>
              <a:latin typeface="Calibri"/>
              <a:ea typeface="Calibri"/>
            </a:endParaRPr>
          </a:p>
          <a:p>
            <a:pPr algn="ctr">
              <a:lnSpc>
                <a:spcPct val="114000"/>
              </a:lnSpc>
              <a:spcAft>
                <a:spcPts val="1000"/>
              </a:spcAft>
            </a:pPr>
            <a:r>
              <a:rPr lang="en-US" sz="1100" b="1" dirty="0">
                <a:solidFill>
                  <a:srgbClr val="808080"/>
                </a:solidFill>
                <a:effectLst/>
                <a:latin typeface="Calibri"/>
                <a:ea typeface="Calibri"/>
              </a:rPr>
              <a:t>Patient Image</a:t>
            </a:r>
            <a:endParaRPr lang="en-US" sz="1100" dirty="0">
              <a:effectLst/>
              <a:latin typeface="Calibri"/>
              <a:ea typeface="Calibri"/>
            </a:endParaRPr>
          </a:p>
          <a:p>
            <a:pPr>
              <a:lnSpc>
                <a:spcPct val="114000"/>
              </a:lnSpc>
              <a:spcAft>
                <a:spcPts val="1000"/>
              </a:spcAft>
            </a:pPr>
            <a:r>
              <a:rPr lang="en-US" sz="1100" dirty="0">
                <a:effectLst/>
                <a:latin typeface="Calibri"/>
                <a:ea typeface="Calibri"/>
              </a:rPr>
              <a:t> </a:t>
            </a:r>
          </a:p>
        </p:txBody>
      </p:sp>
      <p:sp>
        <p:nvSpPr>
          <p:cNvPr id="13" name="TextBox 12"/>
          <p:cNvSpPr txBox="1"/>
          <p:nvPr/>
        </p:nvSpPr>
        <p:spPr>
          <a:xfrm>
            <a:off x="12506483" y="290670"/>
            <a:ext cx="1962785" cy="276999"/>
          </a:xfrm>
          <a:prstGeom prst="rect">
            <a:avLst/>
          </a:prstGeom>
          <a:noFill/>
        </p:spPr>
        <p:txBody>
          <a:bodyPr wrap="square" rtlCol="0">
            <a:spAutoFit/>
          </a:bodyPr>
          <a:lstStyle/>
          <a:p>
            <a:r>
              <a:rPr lang="en-US" sz="1200" dirty="0"/>
              <a:t>Reg no:</a:t>
            </a:r>
          </a:p>
        </p:txBody>
      </p:sp>
      <p:sp>
        <p:nvSpPr>
          <p:cNvPr id="16" name="TextBox 15"/>
          <p:cNvSpPr txBox="1"/>
          <p:nvPr/>
        </p:nvSpPr>
        <p:spPr>
          <a:xfrm>
            <a:off x="337131" y="299592"/>
            <a:ext cx="1962785" cy="276999"/>
          </a:xfrm>
          <a:prstGeom prst="rect">
            <a:avLst/>
          </a:prstGeom>
          <a:noFill/>
        </p:spPr>
        <p:txBody>
          <a:bodyPr wrap="square" rtlCol="0">
            <a:spAutoFit/>
          </a:bodyPr>
          <a:lstStyle/>
          <a:p>
            <a:r>
              <a:rPr lang="en-US" sz="1200" dirty="0"/>
              <a:t>Student Name:</a:t>
            </a:r>
          </a:p>
        </p:txBody>
      </p:sp>
      <p:sp>
        <p:nvSpPr>
          <p:cNvPr id="17" name="Rectangle 16"/>
          <p:cNvSpPr/>
          <p:nvPr/>
        </p:nvSpPr>
        <p:spPr>
          <a:xfrm>
            <a:off x="6505786" y="6315058"/>
            <a:ext cx="7963482" cy="1440159"/>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US" sz="1100" b="1" dirty="0">
                <a:effectLst/>
                <a:latin typeface="Calibri"/>
                <a:ea typeface="Calibri"/>
              </a:rPr>
              <a:t>Clinical insights/ Differential Diagnosis:</a:t>
            </a:r>
          </a:p>
        </p:txBody>
      </p:sp>
    </p:spTree>
    <p:extLst>
      <p:ext uri="{BB962C8B-B14F-4D97-AF65-F5344CB8AC3E}">
        <p14:creationId xmlns:p14="http://schemas.microsoft.com/office/powerpoint/2010/main" val="347637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5113000" cy="106807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TotalTime>
  <Words>582</Words>
  <Application>Microsoft Office PowerPoint</Application>
  <PresentationFormat>Custom</PresentationFormat>
  <Paragraphs>146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sejda</dc:creator>
  <cp:lastModifiedBy>Kavitha Aneesh</cp:lastModifiedBy>
  <cp:revision>11</cp:revision>
  <dcterms:modified xsi:type="dcterms:W3CDTF">2025-09-11T06:08:00Z</dcterms:modified>
</cp:coreProperties>
</file>